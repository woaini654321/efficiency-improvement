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39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开发者 A（刚装完）</c:v>
                </c:pt>
              </c:strCache>
            </c:strRef>
          </c:tx>
          <c:spPr>
            <a:solidFill>
              <a:srgbClr val="5A6472"/>
            </a:solidFill>
            <a:ln>
              <a:solidFill>
                <a:srgbClr val="5A6472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模型</c:v>
                </c:pt>
                <c:pt idx="1">
                  <c:v>工具</c:v>
                </c:pt>
                <c:pt idx="2">
                  <c:v>记忆</c:v>
                </c:pt>
                <c:pt idx="3">
                  <c:v>技能</c:v>
                </c:pt>
                <c:pt idx="4">
                  <c:v>知识库</c:v>
                </c:pt>
                <c:pt idx="5">
                  <c:v>工作流</c:v>
                </c:pt>
                <c:pt idx="6">
                  <c:v>验证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A4-433E-9561-9FFE543897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开发者 B（用了三个月）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模型</c:v>
                </c:pt>
                <c:pt idx="1">
                  <c:v>工具</c:v>
                </c:pt>
                <c:pt idx="2">
                  <c:v>记忆</c:v>
                </c:pt>
                <c:pt idx="3">
                  <c:v>技能</c:v>
                </c:pt>
                <c:pt idx="4">
                  <c:v>知识库</c:v>
                </c:pt>
                <c:pt idx="5">
                  <c:v>工作流</c:v>
                </c:pt>
                <c:pt idx="6">
                  <c:v>验证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A4-433E-9561-9FFE54389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CBD3DC"/>
            </a:solidFill>
            <a:round/>
          </a:ln>
        </c:spPr>
        <c:txPr>
          <a:bodyPr/>
          <a:lstStyle/>
          <a:p>
            <a:pPr>
              <a:defRPr sz="1350">
                <a:solidFill>
                  <a:srgbClr val="1D2430"/>
                </a:solidFill>
                <a:latin typeface="Microsoft YaHei"/>
                <a:ea typeface="Microsoft YaHe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7EC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CBD3DC"/>
            </a:solidFill>
            <a:round/>
          </a:ln>
        </c:spPr>
        <c:txPr>
          <a:bodyPr/>
          <a:lstStyle/>
          <a:p>
            <a:pPr>
              <a:defRPr sz="1350">
                <a:solidFill>
                  <a:srgbClr val="1D2430"/>
                </a:solidFill>
                <a:latin typeface="Microsoft YaHei"/>
                <a:ea typeface="Microsoft YaHei"/>
              </a:defRPr>
            </a:pPr>
            <a:endParaRPr lang="en-US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350">
          <a:solidFill>
            <a:srgbClr val="1D2430"/>
          </a:solidFill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相对投入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F2-4DFA-B2FA-8CF5BD2C666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9F2-4DFA-B2FA-8CF5BD2C666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9F2-4DFA-B2FA-8CF5BD2C666E}"/>
              </c:ext>
            </c:extLst>
          </c:dPt>
          <c:cat>
            <c:strRef>
              <c:f>Sheet1!$A$2:$A$4</c:f>
              <c:strCache>
                <c:ptCount val="3"/>
                <c:pt idx="0">
                  <c:v>requirement 首模块（打穿+沉淀配方）</c:v>
                </c:pt>
                <c:pt idx="1">
                  <c:v>opportunity（照配方复制）</c:v>
                </c:pt>
                <c:pt idx="2">
                  <c:v>后续模块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</c:v>
                </c:pt>
                <c:pt idx="2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F2-4DFA-B2FA-8CF5BD2C6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CBD3DC"/>
            </a:solidFill>
            <a:round/>
          </a:ln>
        </c:spPr>
        <c:txPr>
          <a:bodyPr/>
          <a:lstStyle/>
          <a:p>
            <a:pPr>
              <a:defRPr sz="1350">
                <a:solidFill>
                  <a:srgbClr val="5A6472"/>
                </a:solidFill>
                <a:latin typeface="Microsoft YaHei"/>
                <a:ea typeface="Microsoft YaHe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7EC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CBD3DC"/>
            </a:solidFill>
            <a:round/>
          </a:ln>
        </c:spPr>
        <c:txPr>
          <a:bodyPr/>
          <a:lstStyle/>
          <a:p>
            <a:pPr>
              <a:defRPr sz="1350">
                <a:solidFill>
                  <a:srgbClr val="5A6472"/>
                </a:solidFill>
                <a:latin typeface="Microsoft YaHei"/>
                <a:ea typeface="Microsoft YaHei"/>
              </a:defRPr>
            </a:pPr>
            <a:endParaRPr lang="en-US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350">
          <a:solidFill>
            <a:srgbClr val="5A6472"/>
          </a:solidFill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早期开销构成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D37-4206-BB81-7E1F6A382A7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D37-4206-BB81-7E1F6A382A78}"/>
              </c:ext>
            </c:extLst>
          </c:dPt>
          <c:dPt>
            <c:idx val="2"/>
            <c:bubble3D val="0"/>
            <c:spPr>
              <a:solidFill>
                <a:srgbClr val="5A6472"/>
              </a:solidFill>
              <a:ln>
                <a:solidFill>
                  <a:srgbClr val="5A647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D37-4206-BB81-7E1F6A382A78}"/>
              </c:ext>
            </c:extLst>
          </c:dPt>
          <c:cat>
            <c:strRef>
              <c:f>Sheet1!$A$2:$A$4</c:f>
              <c:strCache>
                <c:ptCount val="3"/>
                <c:pt idx="0">
                  <c:v>AI 自作主张翻车后的返工</c:v>
                </c:pt>
                <c:pt idx="1">
                  <c:v>多角色并行的 token 开销</c:v>
                </c:pt>
                <c:pt idx="2">
                  <c:v>黑盒取证的一次性投入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D37-4206-BB81-7E1F6A382A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各位下午好。开始之前，先问大家一个问题：同一个 Claude Code，为什么有人用两周就说 AI 不行，退回去手写，有人却产出翻倍、越用越快？今天这一个小时，整场分享只回答这一个问题。答案先放在标题里——模型是厂商给的，智能体是自己养的。这句话什么意思，我们一层层拆开。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这两种人，大家身边应该都见过。左边这位用了两周，觉得越用越别扭，最后撂下一句 AI 不行，回去继续手写。右边这位却越用越顺，产出实打实翻倍。同一个软件、同一个模型、同样的订阅费，结局天差地别。差别到底在哪？很多人以为是提示词技巧，或者是天赋。都不是。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答案是：你手里的从来不是一个工具，而是一个智能体。把它解剖开看，一共七个要素。中间是模型，负责判断力的上限。围着它的还有六块：工具决定它能对世界做什么，知识库决定它基于什么事实推理，工作流决定它按什么节奏干活，记忆决定踩过的坑还踩不踩，技能是可复用的方法论包，验证决定质量的地板。所以你的角色不是 AI 的使用者，而是这个智能体的架构师。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空口说没用，我们把两个真实开发者的七块板逐项打分。开发者 A 刚装完，开发者 B 用了三个月。大家看这张图，七个类目里，唯一两根柱子一样高的，就是模型这一列——因为模型是厂商给的，人人相同。剩下六块，A 几乎全是零分。所以说 AI 不行的人，评价的其实是一个只有七分之一的智能体。A 和 B 用的是同一个软件，但真的不是同一个智能体。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这张打分表，可以推出三条结论，也是今天全部内容的总纲。第一，提效差异的来源不在模型，在部件——所以今天我几乎不讲怎么写提示词。第二，智能体是养出来的，不是装出来的，而且模型越强，另外六块的杠杆越长——指望下一代模型出来就不用搭部件，方向正好反了。第三，部件分两层：个人的智能体，加团队的共享层。最后记住一句话：你的提效上限，等于七块板里最短的那一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认知对齐了，接下来讲操作。这一幕先给一条开工路线图，再做一轮姿势自查，然后是开工前的第零步，最后把六步法和评审门禁彻底讲透。拿到项目的前三天做对，你那六块部件就补齐了一半。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路线图，分两条线。如果是从零到一的新项目，商机平台实测的节奏是：第零天搭环境和骨架，让框架编译、启动、登录先跑通；第一天做需求基线和项目配置；第二天起才进入正式实施。如果是接手存量系统，工单系统的节奏是：第一天入场三板斧，建立项目认知；第二天六角色深度走查；第三天起分组并行修复。两条线有一个共同点，请大家记住：第一天都不写业务代码——先让 AI 建立对项目的正确认知，再谈产出。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实操之前，先做一轮对照自查。这八个姿势，是"普遍会用但不深"最典型的八个坑，左边是错误姿势，右边是正确姿势。挑三个说：第一格，一句话需求直接开干——模糊输入等于大概率返工，正确做法是先让它复述需求、列出假设，确认后再动手。第五格，AI 说完成了就直接信——声称完成和验证完成是两回事，要它跑测试、把输出贴出来再收货。第七格，看它跑偏了不要干等，立刻按 Esc 打断——打断不是不礼貌，是止损。第一周不用八个全练，就练三样：这张表、下一页的需求三要素、加上计划模式——一个插件都不用装。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然后是一个立竿见影的习惯。每次给任务，带上三样东西：目标——要做什么，加一句为什么；边界——技术栈约束、不要动哪些文件、给一个参照文件的路径；验收——怎么算做完，是测试通过还是页面跑通。带全这三样，输出质量立刻上一个台阶。右边这四个问题也请记住：AI 回你术语的时候，不要跳过，让它按四个问题重讲一遍——这是什么、为什么会出现、业界通常怎么解、我们采用的是哪个方案为什么。三个好处：你能真正判断结论对不对，不被术语唬住；这四段话可以直接贴进走查文档和汇报材料；而它讲不清楚的地方，往往就是它自己没想清楚的地方——这是一个免费的可信度探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开工前，还有一个第零步，每个项目只做一次：把相似项目的配置三件套搬过来——项目宪法、角色分工、长期记忆——然后逐条改写。注意，是改写，不是照搬。看右边这个真实对照：某政项目是内网私有仓库，评估后沿用配置随仓库管理的历史约定；工单系统恰恰相反，严禁任何明文密钥，凭据必须加密入库。把前者的配置整包拷进后者，等于在一个绝对不许出现明文密钥的项目里，白纸黑字写进了另一套宽松约定——而且 AI 会严格遵守它。改写的正确姿势四步：先让 AI 读懂新项目再改；老配置逐条过堂，只问一个问题——这条在本项目还成立吗；配置本身也当产物，过一轮多角色评审；当天收口即可开工。还有个意外收益：评审配置的过程顺带发现了四个存量问题——读懂项目的过程，本身就是第一次免费走查。记住这句话：继承的是方法论，改写的是事实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配置收口了，接下来是每个任务都要跑的六步法。需求澄清、设计、计划、分块实施、终审、验证收口，一步一步走。但重点不在这几个格子，而在格子之间：每个阶段的产物，都要过一到三轮多角色评审才能进入下一阶段。评审不是流程中的某一步，而是每层产物的收口门禁。当然也不是所有任务都走全流程——小 bug 修复只走后三步，查询直接问，涉及鉴权和资金的必须加安全评审。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上一页是节奏图，这一页是落地表——每一步用什么、产出什么。这套流程不靠自觉，每步都有一个 skill 兜底：需求澄清用 brainstorming，一次只问一个问题，把模糊需求磨成规格；设计落盘成 spec 文档，进版本库，是后续一切环节的事实锚点；第三步计划要人工批准——人只审计划、不盯每行代码，这是整套流程里杠杆率最高的一次人工介入。计划里每个任务要写全四要素：产出物、验收条件、前置依赖、复杂度。判据很简单：AI 拿到任务能直接开工、不用回头问"这个具体怎么实现"，四要素就写够了；它一问，说明计划还欠。最下面一行注意分流：新功能走完整六步，小 bug 只走后三步、先复现再修，查询直接问，涉及鉴权资金的强制加安全评审。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光说多角色评审是不够的——不给标准，每个角色只会凭感觉挑刺。标准就是左边这五性：完整性、精确性、可验证性、一致性、可追溯性。其中精确性含金量最高：禁止"优化性能""提升体验"这类模糊表述，必须量化成可验收的指标，比如 P95 小于五百毫秒。为什么这么严？因为 spec 里模糊一处，AI 不会回头问你——它会直接猜一个实现出去，设计文档每模糊一处，代码里就多一处等着返工的 bug。节拍看右上：设计一到三轮，计划一到两轮加人工批准，每个任务块一轮。停止规则：一轮评审只剩建议项就停，不要为评而评；评三轮还收不了口，说明上游有问题，该回退需求或设计，而不是继续评。拿不准要不要再评一轮，就把右下这句提示词丢给它——还值得再审一轮吗，请给出理由。要理由、不要只要结论，几百 token 能挡掉一整轮无效评审。成本直觉记住底下这行：一轮评审几分钟，一个流到下游的设计错误，返工几小时到几天。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有人会问，你们说的零返工是不是实施得特别好？恰恰相反，零返工的真相是层层拦截。看这个漏斗：需求评审层拦住了商机平台的登录方案——差点按自建账密去写，一次纠错省掉整个鉴权模块的返工；设计计划层抓到过异步注解遗漏和线程竞态；逐块评审层保证每块的必修问题清零；最后终审层，抓到了一个工具扫不出来的前后端双缺功能。每一层都拦掉一批，流到线上的缺陷自然趋近于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还有一条排在所有技巧前面的纪律，来自一次真实的白屏事故。商机平台早期，AI 按通用开源项目的直觉改了框架的环境配置，想做个本地登录页。结果全部请求四百零四，应用直接白屏。事后才发现，框架的环境配置有白名单，只允许改一个变量，而且登录本来就是企业级单点登录，根本不需要自建。类似的还有：文档说框架配了乐观锁，反编译字节码一看，只有分页拦截器。所以这条纪律请大家记牢：企业框架当黑盒，一切以公司 skill、门禁和权威文档为准。文档和直觉都可能骗你，字节码不会。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基本功讲完，第三幕讲怎么越用越快。前面都是"一个人加一个助手"，这一幕把它升级成"一个人带一支 AI 团队"。先过一遍技巧库全景，然后讲四样进阶功夫：多角色评审怎么发、批量开发怎么并行、每个代理配什么模型、环境怎么越用越懂你。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手册第五章是一个十一招的技巧库，按投入产出比排好了序。五星三招，必装必用：CLAUDE.md 项目手册、计划模式、上下文管理。四星四招，高性价比：斜杠命令、Skills 方法论包、Token 经济学、CI 无头集成——最后这个把产出时间从每天八小时变成二十四小时。三星按需进阶：MCP 接外部系统、Hooks 强制护栏、worktree 并行，还有无人值守——这个慎用，前提是显式授权加事后全量验证。这一章的定位是工具书：今天记住"有这么个东西"就够了，用到的时候回手册查，不必从头读到尾。五星三招马上展开。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五星三招逐个拆。第一招 CLAUDE.md，就六节结构：技术栈与约束、强制工作流、代码规范、常用命令、目录速查、安全红线——每次会话自动加载，一次投入长期受益；它的变更要走 PR 评审，和代码同等待遇，因为它就是"给 AI 的代码"。第二招计划模式，Shift 加 Tab 进入：你批准之前，它一个文件都不会改；超过半小时的任务，都应该从计划模式开始；碰到难题再加一句"深入思考"，这是用时间换质量的显式旋钮。第三招上下文管理，三件事：一任务一会话，clear 是最常用的命令；长会话主动 compact，别等自动截断；阶段结论写进文档，下个会话读文档而不是重新探索。特别提醒右下角这条：密钥类文件要用 settings 里的 deny 规则硬拦；网上流传的 .claudeignore 是无效的，实测根本拦不住，它给你的只是"已经排除了"的错觉——见到就删。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技巧库里最值得第一个落地的，是日报命令。左边就是全文，就这么几行：扫描今日 git 提交、按模块归类、按固定格式生成、经我确认后上报。为什么它有效？因为日报真正的耗时从来不是敲字，而是"我今天到底干了啥来着"——翻聊天记录、翻分支，想半天还漏掉最花时间的那件事。而 git 提交记录本来就是你这一天最准确、最完整的工作日志，AI 把这件事从"回忆"变成了"扫描"。照抄的时候三个设计要点别丢：第一，必须人工确认后才上报，上报是对外动作，发出去就收不回来；第二，命令文件进仓库，全组 clone 即得；第三，口径写死在命令里，项目名、格式、接口固定，不用每次再教。账在右下角：每天十五分钟变一分钟，每月省接近一个工作日——零风险、当天见效，单这一项就已经越过回本线，非常适合当团队推广的第一站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有同事会担心：多代理这么玩，token 烧得起吗？核心洞察是这一行：省 token 和提质量是同一件事——因为浪费 token 的头号来源，上下文污染、重复探索、失败历史堆积，恰恰也是质量下降的头号来源。四个习惯：第一，上下文卫生——别把大段日志粘进对话，让它自己检索，粘贴是全文进上下文，检索只有命中的几十行；同样的报错，贴文字两百 token，贴截图一千起步。第二，记忆外化——对话是易失内存，每次都要付费重载；文件是硬盘，写一次读无数次。第三，子代理隔离——大范围探索派子代理，垃圾细节用完即弃，主会话这个最贵的资产只收结论。第四，一次说清——三要素一次给全，挤牙膏式往返，每一轮都在为全部历史重复付费。右边是止损三件套，按跑偏程度选动作：刚跑偏，Esc 立刻打断；文件改砸了，rewind 检查点一键回退；错得离谱，git 回退加 clear，带一句教训重开——同会话对话式修补更贵而且质量更低，因为 AI 始终带着失败历史的惯性。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子代理性价比最高的用法，就是屏幕上这句提示词，照抄可用：用五个子代理，分别以 PM、架构师、前端、后端、测试的视角评审同一份文档，各自独立输出确认的问题、建议和放行结论，最后汇总终审。为什么有效？单一视角有盲区，角色提示词强制切换关注面；多个独立上下文互不干扰——相当于真开了一场评审会，但成本只是几分钟。战绩右边三条：商机平台联调前抓到"方案匹配"功能前后端都没做的 P0，假数据写死在页面里，端点盘点根本看不见它，工具扫不出来、只有评审能抓到；工单系统六角色走查一轮挖出三个高危；状态机简化五角色一致放行才动手，删掉八个死状态、零回归。再强调一遍那句总纲：评审不是流程中的某一步，而是每个阶段产物的收口门禁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审解决质量，这一招解决批量开发怎么提速。四步：先由主会话把一个模块完完整整打穿全部门禁，沉淀成样板；然后派多路子代理并行镜像这个样板，各自只改自己模块的文件；共享文件的改动以片段形式回传，由主会话统一合并；最后所有产出集中过一次门禁收口。配两条铁律：子代理只写码、不跑门禁，防止各自为政的局部绿；共享文件绝不并行改，防止覆盖冲突。实测效果：前端八路并行还原三十页，后端十路并行写出七十多个端点，全部门禁全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派代理还有一个必须知道的坑，在顶上这行：子代理不继承主会话的模型——不显式指定就是静默降级，不报错、不提示，你以为跑的是一场顶配的安全评审，实际拿到的是另一个档次的结论。但反过来，一律配最贵的同样是浪费。按任务性质分三档：判断类——终审、安全评审、架构评审，上最强档，这里买的就是判断力，降档等于放弃这次评审的意义；实现类——按已批准的计划写代码，中档就够，因为判断已经在计划里做完了；检索和机械类——找文件、梳理调用链，轻量档，便宜五到十倍，要的是覆盖面不是深度。还有第二个旋钮叫推理力度：机械型开低，终审和难题开高。这些都写进 agents 文件的开头配置里，随仓库进版本库——全团队派出的安全评审员，就都是同一个档位。最后是一条铁律：省 token 可以省在手上，绝不能省在眼上——评审代理降档，最坏结果是一份看起来很专业的"通过"，假评审比不评审更危险，因为它让你停止了怀疑。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第三幕最后讲进化——为什么高手的环境越用越强。经验按这个四级阶梯逐级升格：一次纠偏，先进记忆，软性的，AI 记得并参考；反复适用的，升成 CLAUDE.md 规则，每次会话必守；跨项目通用的，升成技能包，新项目第一天就继承；只有违反代价高的，才升成钩子，机器强制拦截。注意方向：不是越硬越好——全部强制拦截，AI 被频繁打断，效率断崖式下降；全部软性建议，约束形同虚设。所以绝大多数约束停在前两级，只有安全红线升到第四级——红线之所以是红线，是因为它稀少。进化靠两个触发器：一是 AI 在里程碑节点主动提议要不要沉淀；二是你纠偏的时候，花三十秒说一句"记住这一点"。配套纪律：每次升级人工确认，禁止 AI 自动改写规范；错误的记忆要删除。复利就在底下这行：第一个项目踩的坑，第四个项目开工第一天全部免疫——经验的边际复制成本为零。手册里还有岗位地图、单一事实源、度量体系这些今天不展开的内容，会后照着查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方法和技巧都讲完了，但大家心里肯定有个疑问：真做得成吗？接下来这一幕不讲道理，只摆证据。两个最新的项目，一个从零到一，一个存量接手。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先说商机平台。这个实验的设定是刻意苛刻的：一名对公司开发环境不特别熟悉的开发者，手里只有公司 skill 三件套加开发手册、一份三十页原型四十二个功能点的产品文档，和 Claude Code。约束只有一条：全程不写一行手工代码，一切由 AI 执行，人只做决策与把关。为什么这么设定？就是要回答那句最常见的质疑——那是你厉害，一般人用不起来。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这是过程中的真实截图。第一张，前后端框架骨架完成，一句话开场，skill 自动拉起前后端，编译、启动、登录全部跑通。第二张，三十页产品原型在前端全量高保真还原——就是刚才讲的八路子代理并行镜像干出来的。这里有个教训值得一提：如果没人盯着原型比对，AI 默认容易把页面退化成千篇一律的表格加表单。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再往后走。第三个里程碑，十八张表的建库语句、种子数据和全套实体一次生成，而且在建库之前先做了契约收口扫雷，双角色评审后编译全绿。第四个里程碑，首个模块前后端联调打穿——真实数据第一次从数据库流到页面上的那个时刻。到这里，整条链路从需求到联调全部走通了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整个实验的结果，就是这四个数字。六万五千多行代码，全部由 AI 产出；人类手写的代码行数，是零；三十页原型，三十页全部还原；七十四个以上的后端端点。另外还有一万九千行文档。全程记录都在飞书上，每一步有截图可查。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比总量更重要的是这张图——为什么越用越快。第一个模块投入是十，因为要慢慢打穿、沉淀出十二类文件的竖切配方；第二个模块照配方复制，投入骤降到二，而且一次编译通过；后续模块更低。所以首模块的投入不是成本，是买断后续所有模块的配方费。这就是配方化带来的边际成本断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当然也要算诚实账，成本花在哪里。早期开销里大约一半，是 AI 自作主张翻车后的返工——这恰恰是前面讲的黑盒纪律和门禁要消掉的；三成是多角色并行的开销；两成是反编译取证这类一次性投入。所以请记住今天第二个记忆点：AI 提供马力，门禁提供刹车，人掌方向盘。马力越大，越需要刹车和方向盘。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案例对多数同事更有参考价值，因为大家日常面对的是存量系统。工单系统，接手时已经跑了很久。第一天，入场三板斧建立项目认知，顺带就发现了四个存量问题；第二天，六角色深度走查，挖出三个高危漏洞和一批次级问题，每条都带文件行号级证据；第三天起分组并行修复，状态机改造三百二十二个单测零失败，其中一组十一个任务一天闭环。对比一下：传统模式做全面业务审计，要么请外部审计，要么数周专项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重点讲其中一个漏洞。认证服务里有一个弱默认密钥，意味着任何人都可以离线伪造管理员令牌，完全绕过认证。这个漏洞长期存在，一直没人发现，AI 一轮走查就挖了出来，而且把所有配置文件和环境变量逐一核实了一遍，确认确实没有注入——这种穷举，人是不会去做的。还有一点想让大家注意：我们的汇报口径是三个高危修掉两个，这个弱密钥当时仍未修——连汇报都要求带证据、列未尽事项。那这份诚实是怎么来的？不是靠 AI 自觉，是把诚实做成了格式要求：在项目手册里固定三栏汇报模板——已完成，每条必须附证据；未完成，写明原因；风险与待办，写清下一步谁该做什么。模板一固定，'差不多都好了'这句话就没有格子可以填，含糊在格式上就不成立。工单系统有一次一切顺利的收工汇报，AI 仍然被格式逼着列出了三件没做完的事。诚实是设计出来的，不是靠自觉。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证据摆完了，最后回答管理者最关心的三件事：安全吗、多少钱多久回本、什么场景不适用。治理和账一起讲，先讲安全。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左边这份清单是我们各个项目的公约数，可以直接抄走：git push 和强制回退、生产环境的任何操作、对外发布、自动审批类动作——比如 SQL 审核绝不自动执行——这四类永远不许 AI 自动做。收口就一句：AI 准备好一切，人按下最后一个按钮。右边回答另一个高频问题：不想每次都点确认，怎么配？三档：推荐精确放行，把确认过安全的操作写进白名单，清单内免确认、清单外照常弹窗；第二档编辑自动接受、命令仍确认；全跳过那一档慎用，只在隔离、可丢弃的环境里开。关键在中间这条优先级：deny 大于 allow——正确姿势是先把红线写进 deny，再放宽确认，放开的是"确认动作"，不是"红线"。数据边界一句话：密钥绝不进上下文，客户数据和生产数据禁止投喂。最后补一笔：担心 AI 引入安全风险是对的，但账要算全——工单系统那三个长期没人发现的高危漏洞，正是 AI 一轮走查挖出来的。配合红线机制，AI 对安全是净增益。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账很短。订阅费大约是人力成本的百分之一到百分之三；回本门槛是每人每月省出半天；而仅仅日报自动化这一项，每天就省十四分钟，一个月接近一个工作日——单这一项已经越过回本线，后面所有提效都是净赚。所以真正的争议从来不是值不值，而是怎么让不熟练的人也拿到熟练者的收益，这正是今天整套方法论要解决的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诚实账的最后一笔：这套打法不万能，四类场景别硬上。没有测试基建、建不起门禁的超大遗留单体，先补最小门禁；强实时强算法的调优，让 AI 当分析助手就好；需求方给不出验收标准的探索项目，先做原型帮他看见想要什么；涉密超出公司边界的，直接不用。判断标准就一句话：能不能建立可验证的收口。能，这套方法就适用；不能，先补验证部件。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最后一幕，讲行动。散场之后大家能记住的东西很有限，所以我们主动替各位选好了三句话，再配上第一周就能做的五件小事。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第一句：只有模型是一样的——提效差异在另外六块部件。第二句：AI 提供马力，门禁提供刹车，人掌方向盘。第三句：姿势可复制，不是天赋——商机平台的实验就是证明，一名不熟悉环境的开发者，靠正确姿势零手写完成了从零到一的交付。带走这三句话，今天就没白来。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具体行动，第一周五件事。每个人：在自己项目跑一次初始化命令，生成项目手册，补齐技术栈、规范、红线三节；再用计划模式完成一个真实任务，体验一下批准制。团队：建第一个共享命令，强烈建议就从日报自动化开始——零风险、当天见效、单项回本；再定出团队的不可自动执行清单。有意试点的团队，选定试点项目和种子队员，先测两到四周的基线数据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开场那句话，一字不改：模型是厂商给的，智能体是自己养的。模型人人相同，但那个越用越懂你的智能体，只能靠你自己养。从明天的第一个初始化命令开始，把你那个智能体养起来。今天讲的是主线，展开的细节都在会后发放的图文版手册里。谢谢大家，接下来是问答时间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477250" y="-1714500"/>
            <a:ext cx="4953000" cy="4953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42950" y="1196340"/>
            <a:ext cx="7078980" cy="3291840"/>
            <a:chOff x="742950" y="1196340"/>
            <a:chExt cx="7078980" cy="3291840"/>
          </a:xfrm>
        </p:grpSpPr>
        <p:sp>
          <p:nvSpPr>
            <p:cNvPr id="3" name="Rectangle 3"/>
            <p:cNvSpPr/>
            <p:nvPr/>
          </p:nvSpPr>
          <p:spPr>
            <a:xfrm>
              <a:off x="762000" y="121920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95756" y="1196340"/>
              <a:ext cx="40372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Claude Code 提效实战分享 · 60 分钟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145030"/>
              <a:ext cx="7078980" cy="2343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8400"/>
                </a:lnSpc>
              </a:pPr>
              <a:r>
                <a:rPr lang="zh-CN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模型是厂商给的，智能体是自己养的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00100" y="43053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0" y="4572000"/>
            <a:ext cx="6477000" cy="1620012"/>
            <a:chOff x="5334000" y="4572000"/>
            <a:chExt cx="6477000" cy="1620012"/>
          </a:xfrm>
        </p:grpSpPr>
        <p:sp>
          <p:nvSpPr>
            <p:cNvPr id="8" name="Rectangle 8"/>
            <p:cNvSpPr/>
            <p:nvPr/>
          </p:nvSpPr>
          <p:spPr>
            <a:xfrm>
              <a:off x="5334000" y="4572000"/>
              <a:ext cx="6477000" cy="1619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702808" y="4846320"/>
              <a:ext cx="3224784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 Claude Code，为什么有人产出翻倍、有人两周就放弃？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142" y="5759768"/>
            <a:ext cx="4354959" cy="264033"/>
            <a:chOff x="755142" y="5759768"/>
            <a:chExt cx="4354959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755142" y="5759768"/>
              <a:ext cx="4354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认知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前三天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技巧进阶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证据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治理算账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行动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5142" y="6197918"/>
            <a:ext cx="5389702" cy="264033"/>
            <a:chOff x="755142" y="6197918"/>
            <a:chExt cx="5389702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6197918"/>
              <a:ext cx="5389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配套：《Claude-Code 提效实战分享 · 图文版》手册（会后发放）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6222492" cy="819150"/>
            <a:chOff x="381000" y="537210"/>
            <a:chExt cx="6222492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59748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同一个工具，两种结局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0" y="17145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745236" y="2015490"/>
            <a:ext cx="2936748" cy="1814322"/>
            <a:chOff x="745236" y="2015490"/>
            <a:chExt cx="2936748" cy="1814322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20154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开发者 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2653665"/>
              <a:ext cx="257176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「AI 不行」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9808" y="336042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用了两周，退回手写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41236" y="2015490"/>
            <a:ext cx="1899361" cy="1814322"/>
            <a:chOff x="6841236" y="2015490"/>
            <a:chExt cx="1899361" cy="1814322"/>
          </a:xfrm>
        </p:grpSpPr>
        <p:sp>
          <p:nvSpPr>
            <p:cNvPr id="10" name="TextBox 10"/>
            <p:cNvSpPr txBox="1"/>
            <p:nvPr/>
          </p:nvSpPr>
          <p:spPr>
            <a:xfrm>
              <a:off x="6848856" y="20154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开发者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41236" y="26536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产出翻倍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45808" y="3360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越用越快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46517" y="5442585"/>
            <a:ext cx="2698966" cy="528066"/>
            <a:chOff x="4746517" y="5442585"/>
            <a:chExt cx="2698966" cy="528066"/>
          </a:xfrm>
        </p:grpSpPr>
        <p:sp>
          <p:nvSpPr>
            <p:cNvPr id="14" name="TextBox 14"/>
            <p:cNvSpPr txBox="1"/>
            <p:nvPr/>
          </p:nvSpPr>
          <p:spPr>
            <a:xfrm>
              <a:off x="4746517" y="544258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差别到底在哪？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16" name="Line 16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第一幕 · 悬念与揭晓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02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597189" cy="819150"/>
            <a:chOff x="381000" y="537210"/>
            <a:chExt cx="859718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你用的不是工具，是一个智能体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29000" y="2495550"/>
            <a:ext cx="5334000" cy="2286000"/>
            <a:chOff x="3429000" y="2495550"/>
            <a:chExt cx="5334000" cy="2286000"/>
          </a:xfrm>
        </p:grpSpPr>
        <p:sp>
          <p:nvSpPr>
            <p:cNvPr id="5" name="Line 5"/>
            <p:cNvSpPr/>
            <p:nvPr/>
          </p:nvSpPr>
          <p:spPr>
            <a:xfrm>
              <a:off x="6096000" y="2514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429000" y="2495550"/>
              <a:ext cx="1924050" cy="933450"/>
            </a:xfrm>
            <a:custGeom>
              <a:avLst/>
              <a:gdLst/>
              <a:ahLst/>
              <a:cxnLst/>
              <a:rect l="l" t="t" r="r" b="b"/>
              <a:pathLst>
                <a:path w="1924050" h="933450">
                  <a:moveTo>
                    <a:pt x="1924050" y="933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838950" y="2495550"/>
              <a:ext cx="1924050" cy="933450"/>
            </a:xfrm>
            <a:custGeom>
              <a:avLst/>
              <a:gdLst/>
              <a:ahLst/>
              <a:cxnLst/>
              <a:rect l="l" t="t" r="r" b="b"/>
              <a:pathLst>
                <a:path w="1924050" h="933450">
                  <a:moveTo>
                    <a:pt x="0" y="933450"/>
                  </a:moveTo>
                  <a:lnTo>
                    <a:pt x="1924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429000" y="3638550"/>
              <a:ext cx="1828800" cy="171450"/>
            </a:xfrm>
            <a:custGeom>
              <a:avLst/>
              <a:gdLst/>
              <a:ahLst/>
              <a:cxnLst/>
              <a:rect l="l" t="t" r="r" b="b"/>
              <a:pathLst>
                <a:path w="1828800" h="171450">
                  <a:moveTo>
                    <a:pt x="1828800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934200" y="3638550"/>
              <a:ext cx="1828800" cy="171450"/>
            </a:xfrm>
            <a:custGeom>
              <a:avLst/>
              <a:gdLst/>
              <a:ahLst/>
              <a:cxnLst/>
              <a:rect l="l" t="t" r="r" b="b"/>
              <a:pathLst>
                <a:path w="1828800" h="171450">
                  <a:moveTo>
                    <a:pt x="0" y="17145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4191000"/>
              <a:ext cx="1924050" cy="590550"/>
            </a:xfrm>
            <a:custGeom>
              <a:avLst/>
              <a:gdLst/>
              <a:ahLst/>
              <a:cxnLst/>
              <a:rect l="l" t="t" r="r" b="b"/>
              <a:pathLst>
                <a:path w="1924050" h="590550">
                  <a:moveTo>
                    <a:pt x="192405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38950" y="4191000"/>
              <a:ext cx="1924050" cy="590550"/>
            </a:xfrm>
            <a:custGeom>
              <a:avLst/>
              <a:gdLst/>
              <a:ahLst/>
              <a:cxnLst/>
              <a:rect l="l" t="t" r="r" b="b"/>
              <a:pathLst>
                <a:path w="1924050" h="590550">
                  <a:moveTo>
                    <a:pt x="0" y="0"/>
                  </a:moveTo>
                  <a:lnTo>
                    <a:pt x="1924050" y="5905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257800" y="2971800"/>
            <a:ext cx="1676400" cy="1676400"/>
            <a:chOff x="5257800" y="2971800"/>
            <a:chExt cx="1676400" cy="1676400"/>
          </a:xfrm>
        </p:grpSpPr>
        <p:sp>
          <p:nvSpPr>
            <p:cNvPr id="13" name="Ellipse 13"/>
            <p:cNvSpPr/>
            <p:nvPr/>
          </p:nvSpPr>
          <p:spPr>
            <a:xfrm>
              <a:off x="5257800" y="2971800"/>
              <a:ext cx="1676400" cy="1676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44566" y="34747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74944" y="38557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智能体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1714500"/>
            <a:ext cx="2667000" cy="800100"/>
            <a:chOff x="4762500" y="1714500"/>
            <a:chExt cx="2667000" cy="800100"/>
          </a:xfrm>
        </p:grpSpPr>
        <p:sp>
          <p:nvSpPr>
            <p:cNvPr id="17" name="Rectangle 17"/>
            <p:cNvSpPr/>
            <p:nvPr/>
          </p:nvSpPr>
          <p:spPr>
            <a:xfrm>
              <a:off x="4762500" y="1714500"/>
              <a:ext cx="2667000" cy="8001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76812" y="1943100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64294" y="246459"/>
                  </a:moveTo>
                  <a:lnTo>
                    <a:pt x="64294" y="310753"/>
                  </a:lnTo>
                  <a:lnTo>
                    <a:pt x="96441" y="342900"/>
                  </a:lnTo>
                  <a:lnTo>
                    <a:pt x="160734" y="342900"/>
                  </a:lnTo>
                  <a:lnTo>
                    <a:pt x="192881" y="310753"/>
                  </a:lnTo>
                  <a:lnTo>
                    <a:pt x="192881" y="246459"/>
                  </a:lnTo>
                  <a:lnTo>
                    <a:pt x="219447" y="219893"/>
                  </a:lnTo>
                  <a:cubicBezTo>
                    <a:pt x="243605" y="195737"/>
                    <a:pt x="257175" y="162908"/>
                    <a:pt x="257175" y="128745"/>
                  </a:cubicBezTo>
                  <a:cubicBezTo>
                    <a:pt x="257175" y="57728"/>
                    <a:pt x="199604" y="0"/>
                    <a:pt x="128588" y="0"/>
                  </a:cubicBezTo>
                  <a:cubicBezTo>
                    <a:pt x="57571" y="0"/>
                    <a:pt x="0" y="57728"/>
                    <a:pt x="0" y="128745"/>
                  </a:cubicBezTo>
                  <a:cubicBezTo>
                    <a:pt x="0" y="162908"/>
                    <a:pt x="13571" y="195737"/>
                    <a:pt x="37728" y="219893"/>
                  </a:cubicBezTo>
                  <a:lnTo>
                    <a:pt x="64294" y="246459"/>
                  </a:lnTo>
                  <a:close/>
                  <a:moveTo>
                    <a:pt x="107156" y="211612"/>
                  </a:moveTo>
                  <a:lnTo>
                    <a:pt x="107156" y="128588"/>
                  </a:lnTo>
                  <a:lnTo>
                    <a:pt x="150019" y="128588"/>
                  </a:lnTo>
                  <a:lnTo>
                    <a:pt x="150019" y="211612"/>
                  </a:lnTo>
                  <a:cubicBezTo>
                    <a:pt x="186992" y="202095"/>
                    <a:pt x="214312" y="168532"/>
                    <a:pt x="214312" y="128588"/>
                  </a:cubicBezTo>
                  <a:cubicBezTo>
                    <a:pt x="214312" y="81243"/>
                    <a:pt x="175931" y="42862"/>
                    <a:pt x="128588" y="42862"/>
                  </a:cubicBezTo>
                  <a:cubicBezTo>
                    <a:pt x="81243" y="42862"/>
                    <a:pt x="42862" y="81243"/>
                    <a:pt x="42862" y="128588"/>
                  </a:cubicBezTo>
                  <a:cubicBezTo>
                    <a:pt x="42862" y="168532"/>
                    <a:pt x="70182" y="202095"/>
                    <a:pt x="107156" y="2116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0106" y="1824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22392" y="21783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判断力上限 · 人人相同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095500"/>
            <a:ext cx="2667000" cy="800100"/>
            <a:chOff x="762000" y="2095500"/>
            <a:chExt cx="2667000" cy="800100"/>
          </a:xfrm>
        </p:grpSpPr>
        <p:sp>
          <p:nvSpPr>
            <p:cNvPr id="22" name="Rectangle 22"/>
            <p:cNvSpPr/>
            <p:nvPr/>
          </p:nvSpPr>
          <p:spPr>
            <a:xfrm>
              <a:off x="762000" y="2095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33450" y="23241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14312" y="75009"/>
                  </a:moveTo>
                  <a:lnTo>
                    <a:pt x="279851" y="9470"/>
                  </a:lnTo>
                  <a:cubicBezTo>
                    <a:pt x="266399" y="3387"/>
                    <a:pt x="251468" y="0"/>
                    <a:pt x="235744" y="0"/>
                  </a:cubicBezTo>
                  <a:cubicBezTo>
                    <a:pt x="176563" y="0"/>
                    <a:pt x="128588" y="47976"/>
                    <a:pt x="128588" y="107156"/>
                  </a:cubicBezTo>
                  <a:cubicBezTo>
                    <a:pt x="128588" y="116972"/>
                    <a:pt x="129907" y="126480"/>
                    <a:pt x="132379" y="135512"/>
                  </a:cubicBezTo>
                  <a:lnTo>
                    <a:pt x="0" y="267891"/>
                  </a:lnTo>
                  <a:lnTo>
                    <a:pt x="75009" y="342900"/>
                  </a:lnTo>
                  <a:lnTo>
                    <a:pt x="207388" y="210521"/>
                  </a:lnTo>
                  <a:cubicBezTo>
                    <a:pt x="216419" y="212993"/>
                    <a:pt x="225928" y="214312"/>
                    <a:pt x="235744" y="214312"/>
                  </a:cubicBezTo>
                  <a:cubicBezTo>
                    <a:pt x="294924" y="214312"/>
                    <a:pt x="342900" y="166337"/>
                    <a:pt x="342900" y="107156"/>
                  </a:cubicBezTo>
                  <a:cubicBezTo>
                    <a:pt x="342900" y="91433"/>
                    <a:pt x="339514" y="76500"/>
                    <a:pt x="333430" y="63048"/>
                  </a:cubicBezTo>
                  <a:lnTo>
                    <a:pt x="267891" y="128588"/>
                  </a:lnTo>
                  <a:lnTo>
                    <a:pt x="214312" y="128588"/>
                  </a:lnTo>
                  <a:lnTo>
                    <a:pt x="214312" y="750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19606" y="2205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1892" y="2559368"/>
              <a:ext cx="1692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MCP 与 Hook 定边界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3238500"/>
            <a:ext cx="2667000" cy="800100"/>
            <a:chOff x="762000" y="3238500"/>
            <a:chExt cx="2667000" cy="800100"/>
          </a:xfrm>
        </p:grpSpPr>
        <p:sp>
          <p:nvSpPr>
            <p:cNvPr id="27" name="Rectangle 27"/>
            <p:cNvSpPr/>
            <p:nvPr/>
          </p:nvSpPr>
          <p:spPr>
            <a:xfrm>
              <a:off x="762000" y="3238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76312" y="3467100"/>
              <a:ext cx="257175" cy="342900"/>
              <a:chOff x="976312" y="3467100"/>
              <a:chExt cx="257175" cy="342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76312" y="360426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76312" y="371141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76312" y="346710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19606" y="3348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21892" y="3702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踩过的坑不复踩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381500"/>
            <a:ext cx="2667000" cy="800100"/>
            <a:chOff x="762000" y="4381500"/>
            <a:chExt cx="2667000" cy="800100"/>
          </a:xfrm>
        </p:grpSpPr>
        <p:sp>
          <p:nvSpPr>
            <p:cNvPr id="35" name="Rectangle 35"/>
            <p:cNvSpPr/>
            <p:nvPr/>
          </p:nvSpPr>
          <p:spPr>
            <a:xfrm>
              <a:off x="762000" y="4381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54881" y="4631531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128588" y="0"/>
                  </a:moveTo>
                  <a:lnTo>
                    <a:pt x="64294" y="0"/>
                  </a:lnTo>
                  <a:lnTo>
                    <a:pt x="0" y="107156"/>
                  </a:lnTo>
                  <a:lnTo>
                    <a:pt x="0" y="300038"/>
                  </a:lnTo>
                  <a:lnTo>
                    <a:pt x="300038" y="300038"/>
                  </a:lnTo>
                  <a:lnTo>
                    <a:pt x="300038" y="107156"/>
                  </a:lnTo>
                  <a:lnTo>
                    <a:pt x="235744" y="0"/>
                  </a:lnTo>
                  <a:lnTo>
                    <a:pt x="171450" y="0"/>
                  </a:lnTo>
                  <a:lnTo>
                    <a:pt x="171450" y="107156"/>
                  </a:lnTo>
                  <a:lnTo>
                    <a:pt x="128588" y="107156"/>
                  </a:lnTo>
                  <a:lnTo>
                    <a:pt x="1285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19606" y="4491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21892" y="48453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方法论包 · 新项目继承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763000" y="2095500"/>
            <a:ext cx="2667000" cy="800100"/>
            <a:chOff x="8763000" y="2095500"/>
            <a:chExt cx="2667000" cy="800100"/>
          </a:xfrm>
        </p:grpSpPr>
        <p:sp>
          <p:nvSpPr>
            <p:cNvPr id="40" name="Rectangle 40"/>
            <p:cNvSpPr/>
            <p:nvPr/>
          </p:nvSpPr>
          <p:spPr>
            <a:xfrm>
              <a:off x="8763000" y="2095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34450" y="2366962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0" y="0"/>
                  </a:moveTo>
                  <a:lnTo>
                    <a:pt x="76848" y="0"/>
                  </a:lnTo>
                  <a:cubicBezTo>
                    <a:pt x="96254" y="0"/>
                    <a:pt x="114865" y="7709"/>
                    <a:pt x="128588" y="21431"/>
                  </a:cubicBezTo>
                  <a:cubicBezTo>
                    <a:pt x="142310" y="35153"/>
                    <a:pt x="150019" y="53765"/>
                    <a:pt x="150019" y="73171"/>
                  </a:cubicBezTo>
                  <a:lnTo>
                    <a:pt x="150019" y="192881"/>
                  </a:lnTo>
                  <a:lnTo>
                    <a:pt x="192881" y="192881"/>
                  </a:lnTo>
                  <a:lnTo>
                    <a:pt x="192881" y="73171"/>
                  </a:lnTo>
                  <a:cubicBezTo>
                    <a:pt x="192881" y="53765"/>
                    <a:pt x="200590" y="35153"/>
                    <a:pt x="214312" y="21431"/>
                  </a:cubicBezTo>
                  <a:cubicBezTo>
                    <a:pt x="228035" y="7709"/>
                    <a:pt x="246646" y="0"/>
                    <a:pt x="266052" y="0"/>
                  </a:cubicBezTo>
                  <a:lnTo>
                    <a:pt x="342900" y="0"/>
                  </a:lnTo>
                  <a:lnTo>
                    <a:pt x="342900" y="235744"/>
                  </a:lnTo>
                  <a:lnTo>
                    <a:pt x="235744" y="235744"/>
                  </a:lnTo>
                  <a:lnTo>
                    <a:pt x="192881" y="278606"/>
                  </a:lnTo>
                  <a:lnTo>
                    <a:pt x="150019" y="278606"/>
                  </a:lnTo>
                  <a:lnTo>
                    <a:pt x="107156" y="235744"/>
                  </a:lnTo>
                  <a:lnTo>
                    <a:pt x="0" y="235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20606" y="2205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22892" y="2559368"/>
              <a:ext cx="1804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CLAUDE.md 项目宪法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763000" y="3238500"/>
            <a:ext cx="2667000" cy="800100"/>
            <a:chOff x="8763000" y="3238500"/>
            <a:chExt cx="2667000" cy="800100"/>
          </a:xfrm>
        </p:grpSpPr>
        <p:sp>
          <p:nvSpPr>
            <p:cNvPr id="45" name="Rectangle 45"/>
            <p:cNvSpPr/>
            <p:nvPr/>
          </p:nvSpPr>
          <p:spPr>
            <a:xfrm>
              <a:off x="8763000" y="3238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934450" y="3467100"/>
              <a:ext cx="342900" cy="342900"/>
              <a:chOff x="8934450" y="3467100"/>
              <a:chExt cx="342900" cy="3429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934450" y="3467100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214312" y="171450"/>
                    </a:moveTo>
                    <a:lnTo>
                      <a:pt x="192881" y="171450"/>
                    </a:lnTo>
                    <a:lnTo>
                      <a:pt x="192881" y="103294"/>
                    </a:lnTo>
                    <a:lnTo>
                      <a:pt x="110527" y="86824"/>
                    </a:lnTo>
                    <a:cubicBezTo>
                      <a:pt x="106874" y="86093"/>
                      <a:pt x="103158" y="85725"/>
                      <a:pt x="99433" y="85725"/>
                    </a:cubicBezTo>
                    <a:cubicBezTo>
                      <a:pt x="68190" y="85725"/>
                      <a:pt x="42862" y="111052"/>
                      <a:pt x="42862" y="142295"/>
                    </a:cubicBezTo>
                    <a:lnTo>
                      <a:pt x="42862" y="192881"/>
                    </a:lnTo>
                    <a:lnTo>
                      <a:pt x="0" y="192881"/>
                    </a:lnTo>
                    <a:lnTo>
                      <a:pt x="0" y="142295"/>
                    </a:lnTo>
                    <a:cubicBezTo>
                      <a:pt x="0" y="87380"/>
                      <a:pt x="44517" y="42862"/>
                      <a:pt x="99433" y="42862"/>
                    </a:cubicBezTo>
                    <a:cubicBezTo>
                      <a:pt x="105981" y="42862"/>
                      <a:pt x="112512" y="43509"/>
                      <a:pt x="118933" y="44793"/>
                    </a:cubicBezTo>
                    <a:lnTo>
                      <a:pt x="192881" y="59583"/>
                    </a:lnTo>
                    <a:lnTo>
                      <a:pt x="192881" y="0"/>
                    </a:lnTo>
                    <a:lnTo>
                      <a:pt x="214312" y="0"/>
                    </a:lnTo>
                    <a:lnTo>
                      <a:pt x="300038" y="85725"/>
                    </a:lnTo>
                    <a:lnTo>
                      <a:pt x="214312" y="1714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977312" y="3617119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300038" y="0"/>
                    </a:moveTo>
                    <a:lnTo>
                      <a:pt x="300038" y="50586"/>
                    </a:lnTo>
                    <a:cubicBezTo>
                      <a:pt x="300038" y="105502"/>
                      <a:pt x="255521" y="150019"/>
                      <a:pt x="200605" y="150019"/>
                    </a:cubicBezTo>
                    <a:cubicBezTo>
                      <a:pt x="194058" y="150019"/>
                      <a:pt x="187526" y="149372"/>
                      <a:pt x="181105" y="148088"/>
                    </a:cubicBezTo>
                    <a:lnTo>
                      <a:pt x="107156" y="133298"/>
                    </a:lnTo>
                    <a:lnTo>
                      <a:pt x="107156" y="192881"/>
                    </a:lnTo>
                    <a:lnTo>
                      <a:pt x="85725" y="192881"/>
                    </a:lnTo>
                    <a:lnTo>
                      <a:pt x="0" y="107156"/>
                    </a:lnTo>
                    <a:lnTo>
                      <a:pt x="85725" y="21431"/>
                    </a:lnTo>
                    <a:lnTo>
                      <a:pt x="107156" y="21431"/>
                    </a:lnTo>
                    <a:lnTo>
                      <a:pt x="107156" y="89587"/>
                    </a:lnTo>
                    <a:lnTo>
                      <a:pt x="189510" y="106057"/>
                    </a:lnTo>
                    <a:cubicBezTo>
                      <a:pt x="193164" y="106788"/>
                      <a:pt x="196880" y="107156"/>
                      <a:pt x="200605" y="107156"/>
                    </a:cubicBezTo>
                    <a:cubicBezTo>
                      <a:pt x="231848" y="107156"/>
                      <a:pt x="257175" y="81829"/>
                      <a:pt x="257175" y="50586"/>
                    </a:cubicBezTo>
                    <a:lnTo>
                      <a:pt x="257175" y="0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420606" y="3348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22892" y="37023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六步法 · 多角色评审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763000" y="4381500"/>
            <a:ext cx="2667000" cy="800100"/>
            <a:chOff x="8763000" y="4381500"/>
            <a:chExt cx="2667000" cy="800100"/>
          </a:xfrm>
        </p:grpSpPr>
        <p:sp>
          <p:nvSpPr>
            <p:cNvPr id="52" name="Rectangle 52"/>
            <p:cNvSpPr/>
            <p:nvPr/>
          </p:nvSpPr>
          <p:spPr>
            <a:xfrm>
              <a:off x="8763000" y="4381500"/>
              <a:ext cx="2667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955881" y="46101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20606" y="4491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22892" y="48453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门禁全绿 · 落库核验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691384" y="5665470"/>
            <a:ext cx="6809232" cy="469392"/>
            <a:chOff x="2691384" y="5665470"/>
            <a:chExt cx="6809232" cy="469392"/>
          </a:xfrm>
        </p:grpSpPr>
        <p:sp>
          <p:nvSpPr>
            <p:cNvPr id="57" name="TextBox 57"/>
            <p:cNvSpPr txBox="1"/>
            <p:nvPr/>
          </p:nvSpPr>
          <p:spPr>
            <a:xfrm>
              <a:off x="2691384" y="566547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你的角色不是使用者，是这个智能体的架构师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59" name="Line 59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第一幕 · 悬念与揭晓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10971886" cy="819150"/>
            <a:chOff x="381000" y="537210"/>
            <a:chExt cx="10971886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107242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七块板逐项打分：唯一持平的是「模型」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8500" y="1314450"/>
            <a:ext cx="4471568" cy="280225"/>
            <a:chOff x="7048500" y="1314450"/>
            <a:chExt cx="4471568" cy="280225"/>
          </a:xfrm>
        </p:grpSpPr>
        <p:sp>
          <p:nvSpPr>
            <p:cNvPr id="5" name="Rectangle 5"/>
            <p:cNvSpPr/>
            <p:nvPr/>
          </p:nvSpPr>
          <p:spPr>
            <a:xfrm>
              <a:off x="7048500" y="1314450"/>
              <a:ext cx="190500" cy="19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27392" y="1330642"/>
              <a:ext cx="1713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开发者 A（刚装完）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144000" y="1314450"/>
              <a:ext cx="1905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22892" y="1330642"/>
              <a:ext cx="209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开发者 B（用了三个月）</a:t>
              </a:r>
            </a:p>
          </p:txBody>
        </p:sp>
      </p:grpSp>
      <p:graphicFrame>
        <p:nvGraphicFramePr>
          <p:cNvPr id="10" name="p04-seven-boards-chart"/>
          <p:cNvGraphicFramePr>
            <a:graphicFrameLocks noGrp="1"/>
          </p:cNvGraphicFramePr>
          <p:nvPr/>
        </p:nvGraphicFramePr>
        <p:xfrm>
          <a:off x="1333500" y="1905000"/>
          <a:ext cx="990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2320138" y="5836920"/>
            <a:ext cx="7551725" cy="469392"/>
            <a:chOff x="2320138" y="5836920"/>
            <a:chExt cx="7551725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2320138" y="5836920"/>
              <a:ext cx="75517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和 B 用的是同一个软件，但不是同一个智能体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74142" y="6286500"/>
            <a:ext cx="11443716" cy="327851"/>
            <a:chOff x="374142" y="6286500"/>
            <a:chExt cx="11443716" cy="327851"/>
          </a:xfrm>
        </p:grpSpPr>
        <p:sp>
          <p:nvSpPr>
            <p:cNvPr id="13" name="Line 13"/>
            <p:cNvSpPr/>
            <p:nvPr/>
          </p:nvSpPr>
          <p:spPr>
            <a:xfrm>
              <a:off x="381000" y="6286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4142" y="63503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第一幕 · 悬念与揭晓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95323" y="63503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784537" cy="819150"/>
            <a:chOff x="381000" y="537210"/>
            <a:chExt cx="9784537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三条推论，也是今天全部内容的总纲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2950" y="1684020"/>
            <a:ext cx="10687050" cy="1047750"/>
            <a:chOff x="742950" y="1684020"/>
            <a:chExt cx="10687050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68402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00784" y="172783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提效差异的来源不在模型，在部件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5356" y="216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所以重点不是「怎么写提示词」，而是把另外六块补齐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571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2950" y="2827020"/>
            <a:ext cx="10687050" cy="1047750"/>
            <a:chOff x="742950" y="2827020"/>
            <a:chExt cx="10687050" cy="1047750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282702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0784" y="287083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智能体是养出来的，不是装出来的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5356" y="3310890"/>
              <a:ext cx="779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模型越强，另外六块部件的杠杆越长——等下一代模型，恰恰更要搭好部件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714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42950" y="3970020"/>
            <a:ext cx="9354483" cy="1047750"/>
            <a:chOff x="742950" y="3970020"/>
            <a:chExt cx="9354483" cy="1047750"/>
          </a:xfrm>
        </p:grpSpPr>
        <p:sp>
          <p:nvSpPr>
            <p:cNvPr id="15" name="TextBox 15"/>
            <p:cNvSpPr txBox="1"/>
            <p:nvPr/>
          </p:nvSpPr>
          <p:spPr>
            <a:xfrm>
              <a:off x="742950" y="397002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0784" y="4013835"/>
              <a:ext cx="6954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个人独特智能体 + 团队共享层，双层结构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5356" y="4453890"/>
              <a:ext cx="83920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CLAUDE.md、门禁、契约进仓库是共享层；记忆、个人技能、习惯是个人层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5048250"/>
            <a:ext cx="10668000" cy="914400"/>
            <a:chOff x="762000" y="5048250"/>
            <a:chExt cx="10668000" cy="914400"/>
          </a:xfrm>
        </p:grpSpPr>
        <p:sp>
          <p:nvSpPr>
            <p:cNvPr id="19" name="Rectangle 19"/>
            <p:cNvSpPr/>
            <p:nvPr/>
          </p:nvSpPr>
          <p:spPr>
            <a:xfrm>
              <a:off x="762000" y="5048250"/>
              <a:ext cx="106680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55536" y="5309235"/>
              <a:ext cx="84809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木桶效应：你的提效上限 = 七块板里最短的那一块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2" name="Line 22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第一幕 · 悬念与揭晓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05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381000" y="800100"/>
            <a:ext cx="11420475" cy="419100"/>
            <a:chOff x="381000" y="800100"/>
            <a:chExt cx="11420475" cy="419100"/>
          </a:xfrm>
        </p:grpSpPr>
        <p:sp>
          <p:nvSpPr>
            <p:cNvPr id="2" name="Rectangle 2"/>
            <p:cNvSpPr/>
            <p:nvPr/>
          </p:nvSpPr>
          <p:spPr>
            <a:xfrm>
              <a:off x="3810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68705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314575" y="800100"/>
              <a:ext cx="1752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16134" y="9305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前三天与六步法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48150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6325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技巧与进阶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172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6943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15300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3040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治理与算账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4887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3658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78971" y="3228975"/>
            <a:ext cx="3070079" cy="373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9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2950" y="2434590"/>
            <a:ext cx="8434349" cy="2023872"/>
            <a:chOff x="742950" y="2434590"/>
            <a:chExt cx="8434349" cy="2023872"/>
          </a:xfrm>
        </p:grpSpPr>
        <p:sp>
          <p:nvSpPr>
            <p:cNvPr id="16" name="Rectangle 16"/>
            <p:cNvSpPr/>
            <p:nvPr/>
          </p:nvSpPr>
          <p:spPr>
            <a:xfrm>
              <a:off x="762000" y="24574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5756" y="2434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3055620"/>
              <a:ext cx="843434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拿到项目，前三天怎么做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808" y="398907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一条路线图 · 八个姿势纠错 · ⓪步配置 · 六步法与评审门禁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06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597189" cy="819150"/>
            <a:chOff x="381000" y="537210"/>
            <a:chExt cx="859718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两条线，第一天都不写业务代码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1463040"/>
            <a:ext cx="10820400" cy="1703261"/>
            <a:chOff x="381000" y="1463040"/>
            <a:chExt cx="10820400" cy="1703261"/>
          </a:xfrm>
        </p:grpSpPr>
        <p:grpSp>
          <p:nvGrpSpPr>
            <p:cNvPr id="8" name="Group 8"/>
            <p:cNvGrpSpPr/>
            <p:nvPr/>
          </p:nvGrpSpPr>
          <p:grpSpPr>
            <a:xfrm>
              <a:off x="397669" y="1464469"/>
              <a:ext cx="233362" cy="233362"/>
              <a:chOff x="397669" y="1464469"/>
              <a:chExt cx="233362" cy="2333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97669" y="14644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49"/>
                      <a:pt x="51749" y="66675"/>
                      <a:pt x="33338" y="66675"/>
                    </a:cubicBez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564356" y="16311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50"/>
                      <a:pt x="51750" y="66675"/>
                      <a:pt x="33338" y="66675"/>
                    </a:cubicBezTo>
                    <a:cubicBezTo>
                      <a:pt x="14925" y="66675"/>
                      <a:pt x="0" y="51750"/>
                      <a:pt x="0" y="33338"/>
                    </a:cubicBezTo>
                    <a:cubicBezTo>
                      <a:pt x="0" y="14925"/>
                      <a:pt x="14925" y="0"/>
                      <a:pt x="33338" y="0"/>
                    </a:cubicBezTo>
                    <a:cubicBezTo>
                      <a:pt x="51750" y="0"/>
                      <a:pt x="66675" y="14925"/>
                      <a:pt x="66675" y="333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414338" y="1464469"/>
                <a:ext cx="20002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33362">
                    <a:moveTo>
                      <a:pt x="116681" y="58341"/>
                    </a:moveTo>
                    <a:cubicBezTo>
                      <a:pt x="116681" y="44532"/>
                      <a:pt x="127875" y="33338"/>
                      <a:pt x="141684" y="33338"/>
                    </a:cubicBezTo>
                    <a:cubicBezTo>
                      <a:pt x="155493" y="33338"/>
                      <a:pt x="166688" y="44532"/>
                      <a:pt x="166688" y="58341"/>
                    </a:cubicBezTo>
                    <a:lnTo>
                      <a:pt x="166688" y="133350"/>
                    </a:lnTo>
                    <a:lnTo>
                      <a:pt x="200025" y="133350"/>
                    </a:lnTo>
                    <a:lnTo>
                      <a:pt x="200025" y="58341"/>
                    </a:lnTo>
                    <a:cubicBezTo>
                      <a:pt x="200025" y="26120"/>
                      <a:pt x="173905" y="0"/>
                      <a:pt x="141684" y="0"/>
                    </a:cubicBezTo>
                    <a:cubicBezTo>
                      <a:pt x="109464" y="0"/>
                      <a:pt x="83344" y="26120"/>
                      <a:pt x="83344" y="58341"/>
                    </a:cubicBezTo>
                    <a:lnTo>
                      <a:pt x="83344" y="175022"/>
                    </a:lnTo>
                    <a:cubicBezTo>
                      <a:pt x="83344" y="188830"/>
                      <a:pt x="72150" y="200025"/>
                      <a:pt x="58341" y="200025"/>
                    </a:cubicBezTo>
                    <a:cubicBezTo>
                      <a:pt x="44532" y="200025"/>
                      <a:pt x="33338" y="188830"/>
                      <a:pt x="33338" y="175022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175022"/>
                    </a:lnTo>
                    <a:cubicBezTo>
                      <a:pt x="0" y="207243"/>
                      <a:pt x="26120" y="233362"/>
                      <a:pt x="58341" y="233362"/>
                    </a:cubicBezTo>
                    <a:cubicBezTo>
                      <a:pt x="90561" y="233362"/>
                      <a:pt x="116681" y="207243"/>
                      <a:pt x="116681" y="175022"/>
                    </a:cubicBezTo>
                    <a:lnTo>
                      <a:pt x="116681" y="583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52856" y="1463040"/>
              <a:ext cx="3096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0→1 新项目 · 商机平台实测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182880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2742" y="202596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2301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环境与骨架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2654618"/>
              <a:ext cx="195110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一句话拉起前后端，编译 / 启动 / 登录跑通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810000" y="2495550"/>
              <a:ext cx="2286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14800" y="182880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36542" y="202596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4256" y="230124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需求基线 + 项目配置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6542" y="2654618"/>
              <a:ext cx="277406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多角色 PRD 评审→决策纪要→终稿；CLAUDE / AGENTS / MEMORY 三件套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543800" y="2495550"/>
              <a:ext cx="2286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48600" y="182880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70342" y="2025968"/>
              <a:ext cx="606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2+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68056" y="2301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六步法实施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70342" y="265461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首模块打穿成配方，后续模块照配方复制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3409950"/>
            <a:ext cx="10820400" cy="1718501"/>
            <a:chOff x="381000" y="3409950"/>
            <a:chExt cx="10820400" cy="1718501"/>
          </a:xfrm>
        </p:grpSpPr>
        <p:grpSp>
          <p:nvGrpSpPr>
            <p:cNvPr id="28" name="Group 28"/>
            <p:cNvGrpSpPr/>
            <p:nvPr/>
          </p:nvGrpSpPr>
          <p:grpSpPr>
            <a:xfrm>
              <a:off x="397669" y="3409950"/>
              <a:ext cx="233362" cy="266700"/>
              <a:chOff x="397669" y="3409950"/>
              <a:chExt cx="233362" cy="2667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97669" y="3409950"/>
                <a:ext cx="23336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33350">
                    <a:moveTo>
                      <a:pt x="0" y="83344"/>
                    </a:move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83344"/>
                    </a:lnTo>
                    <a:lnTo>
                      <a:pt x="116681" y="133350"/>
                    </a:lnTo>
                    <a:lnTo>
                      <a:pt x="0" y="83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7669" y="3593306"/>
                <a:ext cx="233362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83344">
                    <a:moveTo>
                      <a:pt x="116681" y="83344"/>
                    </a:moveTo>
                    <a:lnTo>
                      <a:pt x="0" y="33338"/>
                    </a:lnTo>
                    <a:lnTo>
                      <a:pt x="0" y="0"/>
                    </a:lnTo>
                    <a:lnTo>
                      <a:pt x="116681" y="50006"/>
                    </a:lnTo>
                    <a:lnTo>
                      <a:pt x="233362" y="0"/>
                    </a:lnTo>
                    <a:lnTo>
                      <a:pt x="233362" y="33338"/>
                    </a:lnTo>
                    <a:lnTo>
                      <a:pt x="116681" y="83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97669" y="3526631"/>
                <a:ext cx="233362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83344">
                    <a:moveTo>
                      <a:pt x="0" y="33338"/>
                    </a:moveTo>
                    <a:lnTo>
                      <a:pt x="116681" y="83344"/>
                    </a:lnTo>
                    <a:lnTo>
                      <a:pt x="233362" y="33338"/>
                    </a:lnTo>
                    <a:lnTo>
                      <a:pt x="233362" y="0"/>
                    </a:lnTo>
                    <a:lnTo>
                      <a:pt x="116681" y="50006"/>
                    </a:lnTo>
                    <a:lnTo>
                      <a:pt x="0" y="0"/>
                    </a:lnTo>
                    <a:lnTo>
                      <a:pt x="0" y="333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52856" y="3425190"/>
              <a:ext cx="2855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存量项目 · 工单系统实测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79095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742" y="39881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0456" y="4263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入场三板斧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742" y="4616768"/>
              <a:ext cx="21482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CLAUDE.md 按本项目改写，绝不照搬老项目红线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810000" y="4457700"/>
              <a:ext cx="2286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14800" y="379095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6542" y="39881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34256" y="42633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六角色深度走查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36542" y="4616768"/>
              <a:ext cx="182251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产出带 file:line 证据的问题文档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543800" y="4457700"/>
              <a:ext cx="2286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48600" y="3790950"/>
              <a:ext cx="33528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70342" y="3988118"/>
              <a:ext cx="606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3+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8056" y="42633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分组并行修复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0342" y="4616768"/>
              <a:ext cx="149675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SDD + 逐任务评审 +终审门禁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5391150"/>
            <a:ext cx="11049000" cy="666750"/>
            <a:chOff x="381000" y="5391150"/>
            <a:chExt cx="11049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381000" y="5391150"/>
              <a:ext cx="11049000" cy="666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493398" y="5570220"/>
              <a:ext cx="88242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共同点：第一天都不写业务代码——先让 AI 建立正确认知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48" name="Line 48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07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7409840" cy="819150"/>
            <a:chOff x="381000" y="537210"/>
            <a:chExt cx="7409840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会用但不深：八个姿势纠错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" y="1390650"/>
            <a:ext cx="11430000" cy="3857625"/>
            <a:chOff x="381000" y="1390650"/>
            <a:chExt cx="11430000" cy="3857625"/>
          </a:xfrm>
        </p:grpSpPr>
        <p:sp>
          <p:nvSpPr>
            <p:cNvPr id="5" name="Rectangle 5"/>
            <p:cNvSpPr/>
            <p:nvPr/>
          </p:nvSpPr>
          <p:spPr>
            <a:xfrm>
              <a:off x="381000" y="1390650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54305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7890" y="1578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6592" y="1578292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一句话需求直接开干："帮我加个导出"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5068" y="1898332"/>
              <a:ext cx="4637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先让 AI 复述需求、列假设，确认再动手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286500" y="1390650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38900" y="154305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03390" y="1578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32092" y="1578292"/>
              <a:ext cx="3172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从不用计划模式，AI 边想边改文件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30568" y="1898332"/>
              <a:ext cx="45699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复杂任务先 Plan Mode，批准后才动代码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390775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43175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890" y="25784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5784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一个会话从早聊到晚，杂讯混满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5068" y="2898458"/>
              <a:ext cx="34335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一任务一会话，换任务 /clear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2390775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38900" y="2543175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3390" y="25784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32092" y="2578418"/>
              <a:ext cx="3376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没有 CLAUDE.md，每次重新交代背景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30568" y="2898458"/>
              <a:ext cx="3946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/init 生成后持续维护这本项目手册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3390900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4330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7890" y="35785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6592" y="3578542"/>
              <a:ext cx="2231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AI 说"完成了"就直接信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5068" y="3898582"/>
              <a:ext cx="38183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要证据：跑测试、贴输出，再收货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390900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38900" y="354330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3390" y="35785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32092" y="3578542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大任务一口气丢过去："整个重构了"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0568" y="3898582"/>
              <a:ext cx="33519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拆成带验收标准的可验证小步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4391025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543425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7890" y="4578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592" y="4578668"/>
              <a:ext cx="2212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AI 跑偏了就干等它结束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068" y="4898708"/>
              <a:ext cx="3735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立刻 Esc 打断纠偏——打断是止损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86500" y="4391025"/>
              <a:ext cx="5524500" cy="8572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38900" y="4543425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3390" y="4578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32092" y="4578668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❌ 只把它当"代码生成器"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30568" y="4898708"/>
              <a:ext cx="38183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✅ 读码、评审、测试、文档都让它干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5562600"/>
            <a:ext cx="11430000" cy="438150"/>
            <a:chOff x="381000" y="5562600"/>
            <a:chExt cx="11430000" cy="438150"/>
          </a:xfrm>
        </p:grpSpPr>
        <p:sp>
          <p:nvSpPr>
            <p:cNvPr id="46" name="Rectangle 46"/>
            <p:cNvSpPr/>
            <p:nvPr/>
          </p:nvSpPr>
          <p:spPr>
            <a:xfrm>
              <a:off x="381000" y="5562600"/>
              <a:ext cx="11430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47537" y="5686425"/>
              <a:ext cx="7096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第一周只练三样：这张纠错表 + 需求三要素 + 计划模式——不需要装任何插件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49" name="Line 49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003515" cy="819150"/>
            <a:chOff x="381000" y="537210"/>
            <a:chExt cx="8003515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立竿见影的习惯：需求三要素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1524000"/>
            <a:ext cx="5334000" cy="3524250"/>
            <a:chOff x="381000" y="1524000"/>
            <a:chExt cx="5334000" cy="3524250"/>
          </a:xfrm>
        </p:grpSpPr>
        <p:sp>
          <p:nvSpPr>
            <p:cNvPr id="5" name="Rectangle 5"/>
            <p:cNvSpPr/>
            <p:nvPr/>
          </p:nvSpPr>
          <p:spPr>
            <a:xfrm>
              <a:off x="381000" y="1524000"/>
              <a:ext cx="53340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609600" y="1695450"/>
              <a:ext cx="304800" cy="304800"/>
              <a:chOff x="609600" y="1695450"/>
              <a:chExt cx="304800" cy="304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85800" y="1771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cubicBezTo>
                      <a:pt x="34116" y="0"/>
                      <a:pt x="0" y="34116"/>
                      <a:pt x="0" y="76200"/>
                    </a:cubicBezTo>
                    <a:cubicBezTo>
                      <a:pt x="0" y="118283"/>
                      <a:pt x="34116" y="152400"/>
                      <a:pt x="76200" y="152400"/>
                    </a:cubicBezTo>
                    <a:cubicBezTo>
                      <a:pt x="118283" y="152400"/>
                      <a:pt x="152400" y="118283"/>
                      <a:pt x="152400" y="76200"/>
                    </a:cubicBezTo>
                    <a:cubicBezTo>
                      <a:pt x="152400" y="34116"/>
                      <a:pt x="118283" y="0"/>
                      <a:pt x="76200" y="0"/>
                    </a:cubicBezTo>
                    <a:close/>
                    <a:moveTo>
                      <a:pt x="38100" y="76200"/>
                    </a:moveTo>
                    <a:cubicBezTo>
                      <a:pt x="38100" y="55158"/>
                      <a:pt x="55158" y="38100"/>
                      <a:pt x="76200" y="38100"/>
                    </a:cubicBezTo>
                    <a:cubicBezTo>
                      <a:pt x="97242" y="38100"/>
                      <a:pt x="114300" y="55158"/>
                      <a:pt x="114300" y="76200"/>
                    </a:cubicBezTo>
                    <a:cubicBezTo>
                      <a:pt x="114300" y="97242"/>
                      <a:pt x="97242" y="114300"/>
                      <a:pt x="76200" y="114300"/>
                    </a:cubicBezTo>
                    <a:cubicBezTo>
                      <a:pt x="55158" y="114300"/>
                      <a:pt x="38100" y="97242"/>
                      <a:pt x="38100" y="76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09600" y="16954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lose/>
                    <a:moveTo>
                      <a:pt x="38100" y="152400"/>
                    </a:moveTo>
                    <a:cubicBezTo>
                      <a:pt x="38100" y="89274"/>
                      <a:pt x="89274" y="38100"/>
                      <a:pt x="152400" y="38100"/>
                    </a:cubicBezTo>
                    <a:cubicBezTo>
                      <a:pt x="215526" y="38100"/>
                      <a:pt x="266700" y="89274"/>
                      <a:pt x="266700" y="152400"/>
                    </a:cubicBezTo>
                    <a:cubicBezTo>
                      <a:pt x="266700" y="215526"/>
                      <a:pt x="215526" y="266700"/>
                      <a:pt x="152400" y="266700"/>
                    </a:cubicBezTo>
                    <a:cubicBezTo>
                      <a:pt x="89274" y="266700"/>
                      <a:pt x="38100" y="215526"/>
                      <a:pt x="38100" y="1524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54608" y="1703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【目标】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2200275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要做什么 + 为什么——业务背景一句话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" y="2762250"/>
              <a:ext cx="53340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47700" y="2933700"/>
              <a:ext cx="228600" cy="304800"/>
              <a:chOff x="647700" y="2933700"/>
              <a:chExt cx="228600" cy="304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23900" y="29337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7700" y="29718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54608" y="2941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【边界】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3438525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栈约束 / 不动哪些文件 / 给个参照文件路径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4000500"/>
              <a:ext cx="53340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09600" y="41719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9203" y="99877"/>
                  </a:moveTo>
                  <a:cubicBezTo>
                    <a:pt x="294785" y="112082"/>
                    <a:pt x="304800" y="131072"/>
                    <a:pt x="304800" y="152400"/>
                  </a:cubicBezTo>
                  <a:cubicBezTo>
                    <a:pt x="304800" y="173729"/>
                    <a:pt x="294785" y="192719"/>
                    <a:pt x="279201" y="204925"/>
                  </a:cubicBezTo>
                  <a:cubicBezTo>
                    <a:pt x="281589" y="224573"/>
                    <a:pt x="275244" y="245082"/>
                    <a:pt x="260162" y="260164"/>
                  </a:cubicBezTo>
                  <a:cubicBezTo>
                    <a:pt x="245080" y="275246"/>
                    <a:pt x="224571" y="281591"/>
                    <a:pt x="204923" y="279203"/>
                  </a:cubicBezTo>
                  <a:cubicBezTo>
                    <a:pt x="192717" y="294785"/>
                    <a:pt x="173728" y="304800"/>
                    <a:pt x="152400" y="304800"/>
                  </a:cubicBezTo>
                  <a:cubicBezTo>
                    <a:pt x="131071" y="304800"/>
                    <a:pt x="112081" y="294785"/>
                    <a:pt x="99877" y="279201"/>
                  </a:cubicBezTo>
                  <a:cubicBezTo>
                    <a:pt x="80227" y="281591"/>
                    <a:pt x="59718" y="275244"/>
                    <a:pt x="44636" y="260162"/>
                  </a:cubicBezTo>
                  <a:cubicBezTo>
                    <a:pt x="29555" y="245082"/>
                    <a:pt x="23209" y="224573"/>
                    <a:pt x="25598" y="204923"/>
                  </a:cubicBezTo>
                  <a:cubicBezTo>
                    <a:pt x="10015" y="192717"/>
                    <a:pt x="0" y="173728"/>
                    <a:pt x="0" y="152400"/>
                  </a:cubicBezTo>
                  <a:cubicBezTo>
                    <a:pt x="0" y="131071"/>
                    <a:pt x="10015" y="112081"/>
                    <a:pt x="25599" y="99877"/>
                  </a:cubicBezTo>
                  <a:cubicBezTo>
                    <a:pt x="23209" y="80227"/>
                    <a:pt x="29556" y="59718"/>
                    <a:pt x="44637" y="44636"/>
                  </a:cubicBezTo>
                  <a:cubicBezTo>
                    <a:pt x="59719" y="29555"/>
                    <a:pt x="80228" y="23209"/>
                    <a:pt x="99877" y="25598"/>
                  </a:cubicBezTo>
                  <a:cubicBezTo>
                    <a:pt x="112082" y="10015"/>
                    <a:pt x="131072" y="0"/>
                    <a:pt x="152400" y="0"/>
                  </a:cubicBezTo>
                  <a:cubicBezTo>
                    <a:pt x="173729" y="0"/>
                    <a:pt x="192719" y="10015"/>
                    <a:pt x="204925" y="25599"/>
                  </a:cubicBezTo>
                  <a:cubicBezTo>
                    <a:pt x="224573" y="23210"/>
                    <a:pt x="245082" y="29556"/>
                    <a:pt x="260164" y="44638"/>
                  </a:cubicBezTo>
                  <a:cubicBezTo>
                    <a:pt x="275246" y="59719"/>
                    <a:pt x="281591" y="80228"/>
                    <a:pt x="279203" y="99877"/>
                  </a:cubicBezTo>
                  <a:close/>
                  <a:moveTo>
                    <a:pt x="232545" y="118245"/>
                  </a:moveTo>
                  <a:lnTo>
                    <a:pt x="205605" y="91305"/>
                  </a:lnTo>
                  <a:lnTo>
                    <a:pt x="133350" y="163559"/>
                  </a:lnTo>
                  <a:lnTo>
                    <a:pt x="99195" y="129405"/>
                  </a:lnTo>
                  <a:lnTo>
                    <a:pt x="72255" y="156345"/>
                  </a:lnTo>
                  <a:lnTo>
                    <a:pt x="133350" y="217441"/>
                  </a:lnTo>
                  <a:lnTo>
                    <a:pt x="232545" y="1182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41795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【验收】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980" y="467677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怎么算做完——测试通过？页面跑通？指标？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5562600"/>
            <a:ext cx="11430000" cy="438150"/>
            <a:chOff x="381000" y="5562600"/>
            <a:chExt cx="11430000" cy="438150"/>
          </a:xfrm>
        </p:grpSpPr>
        <p:sp>
          <p:nvSpPr>
            <p:cNvPr id="22" name="Rectangle 22"/>
            <p:cNvSpPr/>
            <p:nvPr/>
          </p:nvSpPr>
          <p:spPr>
            <a:xfrm>
              <a:off x="381000" y="5562600"/>
              <a:ext cx="114300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80054" y="5686425"/>
              <a:ext cx="6831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两个今天就能用的习惯：三要素一次给全 · 听不懂的术语让它按四问重讲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76594" y="1561148"/>
            <a:ext cx="5534406" cy="3791902"/>
            <a:chOff x="6276594" y="1561148"/>
            <a:chExt cx="5534406" cy="3791902"/>
          </a:xfrm>
        </p:grpSpPr>
        <p:sp>
          <p:nvSpPr>
            <p:cNvPr id="25" name="TextBox 25"/>
            <p:cNvSpPr txBox="1"/>
            <p:nvPr/>
          </p:nvSpPr>
          <p:spPr>
            <a:xfrm>
              <a:off x="6276594" y="1561148"/>
              <a:ext cx="47232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回你术语？让它按四个问题说人话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8118" y="20888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这是什么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52698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为什么会出现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8118" y="296513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业界通常怎么解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8118" y="3403282"/>
              <a:ext cx="348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我们采用哪个方案、为什么选它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924300"/>
              <a:ext cx="5524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07480" y="4105275"/>
              <a:ext cx="38157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你能真正判断结论对不对，不被术语唬住；这四段话可直接进走查文档与汇报材料；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它讲不清楚的地方，往往就是它没想清楚的地方——一个免费的结论可信度探针。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3" name="Line 33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7736361" cy="819150"/>
            <a:chOff x="381000" y="537210"/>
            <a:chExt cx="7736361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4887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第⓪步：继承配置，改写事实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1390650"/>
            <a:ext cx="9913811" cy="419100"/>
            <a:chOff x="381000" y="1390650"/>
            <a:chExt cx="9913811" cy="419100"/>
          </a:xfrm>
        </p:grpSpPr>
        <p:sp>
          <p:nvSpPr>
            <p:cNvPr id="5" name="Rectangle 5"/>
            <p:cNvSpPr/>
            <p:nvPr/>
          </p:nvSpPr>
          <p:spPr>
            <a:xfrm>
              <a:off x="381000" y="1390650"/>
              <a:ext cx="2057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8752" y="1514475"/>
              <a:ext cx="1661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CLAUDE.md 宪法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590800" y="1390650"/>
              <a:ext cx="2057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88552" y="1514475"/>
              <a:ext cx="1661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AGENTS.md 分工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800600" y="1390650"/>
              <a:ext cx="2057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932044" y="1514475"/>
              <a:ext cx="1794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MEMORY.md 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0" y="1514475"/>
              <a:ext cx="3215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← 每个项目只做一次，值得花大半天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1856" y="2205990"/>
            <a:ext cx="3798189" cy="2573655"/>
            <a:chOff x="371856" y="2205990"/>
            <a:chExt cx="3798189" cy="2573655"/>
          </a:xfrm>
        </p:grpSpPr>
        <p:sp>
          <p:nvSpPr>
            <p:cNvPr id="13" name="TextBox 13"/>
            <p:cNvSpPr txBox="1"/>
            <p:nvPr/>
          </p:nvSpPr>
          <p:spPr>
            <a:xfrm>
              <a:off x="371856" y="22059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改写四步（工单系统真实做法）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380" y="2695575"/>
              <a:ext cx="3407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先让 AI 读懂新项目再改——扫 pom 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1030" y="2962275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package.json / 目录，列出真实栈版本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3380" y="3381375"/>
              <a:ext cx="3221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老配置逐条过堂，只问一个问题：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1030" y="3648075"/>
              <a:ext cx="2580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"这条在本项目还成立吗？"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380" y="4067175"/>
              <a:ext cx="3625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配置本身也当产物，过一轮多角色评审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3380" y="4486275"/>
              <a:ext cx="3443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当天收口即开工——次日就能深度走查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2171700"/>
            <a:ext cx="5524500" cy="2400300"/>
            <a:chOff x="6286500" y="2171700"/>
            <a:chExt cx="5524500" cy="2400300"/>
          </a:xfrm>
        </p:grpSpPr>
        <p:sp>
          <p:nvSpPr>
            <p:cNvPr id="21" name="Rectangle 21"/>
            <p:cNvSpPr/>
            <p:nvPr/>
          </p:nvSpPr>
          <p:spPr>
            <a:xfrm>
              <a:off x="6286500" y="2171700"/>
              <a:ext cx="5524500" cy="5334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79488" y="2336482"/>
              <a:ext cx="35385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红线可能完全相反——照搬就是事故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2705100"/>
              <a:ext cx="5524500" cy="1866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7480" y="288607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某政项目：内网私有仓库，经评估沿用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7480" y="315277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"配置随仓库管理"的历史约定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7480" y="357187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工单系统：严禁任何明文密钥，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7480" y="3838575"/>
              <a:ext cx="2287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凭据 AES-GCM 加密入库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8242" y="425481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整包照搬 = 把上个项目的安全假设静默装进新项目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3380" y="5133975"/>
            <a:ext cx="10405872" cy="293370"/>
            <a:chOff x="373380" y="5133975"/>
            <a:chExt cx="10405872" cy="293370"/>
          </a:xfrm>
        </p:grpSpPr>
        <p:sp>
          <p:nvSpPr>
            <p:cNvPr id="30" name="TextBox 30"/>
            <p:cNvSpPr txBox="1"/>
            <p:nvPr/>
          </p:nvSpPr>
          <p:spPr>
            <a:xfrm>
              <a:off x="373380" y="5133975"/>
              <a:ext cx="10405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意外收益：评审配置时顺带发现 4 个存量问题——为写对配置 AI 必须读懂项目，读懂的过程就是第一次免费走查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1000" y="5524500"/>
            <a:ext cx="11430000" cy="545973"/>
            <a:chOff x="381000" y="5524500"/>
            <a:chExt cx="11430000" cy="545973"/>
          </a:xfrm>
        </p:grpSpPr>
        <p:sp>
          <p:nvSpPr>
            <p:cNvPr id="32" name="Rectangle 32"/>
            <p:cNvSpPr/>
            <p:nvPr/>
          </p:nvSpPr>
          <p:spPr>
            <a:xfrm>
              <a:off x="381000" y="5524500"/>
              <a:ext cx="1143000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9218" y="5659755"/>
              <a:ext cx="10093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继承的是方法论，改写的是事实——CLAUDE.md 是长出来的，不是抄出来的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5" name="Line 35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250230" cy="819150"/>
            <a:chOff x="381000" y="537210"/>
            <a:chExt cx="9250230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0025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机制一：六步法——每一步都有门禁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12899" y="1645920"/>
            <a:ext cx="8166202" cy="469392"/>
            <a:chOff x="2012899" y="1645920"/>
            <a:chExt cx="8166202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2012899" y="1645920"/>
              <a:ext cx="8166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多角色评审不是某一步，而是每个阶段产物的收口门禁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" y="2667000"/>
            <a:ext cx="10934700" cy="1680401"/>
            <a:chOff x="628650" y="2667000"/>
            <a:chExt cx="10934700" cy="1680401"/>
          </a:xfrm>
        </p:grpSpPr>
        <p:sp>
          <p:nvSpPr>
            <p:cNvPr id="7" name="Rectangle 7"/>
            <p:cNvSpPr/>
            <p:nvPr/>
          </p:nvSpPr>
          <p:spPr>
            <a:xfrm>
              <a:off x="628650" y="2667000"/>
              <a:ext cx="1333500" cy="1238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382" y="2921318"/>
              <a:ext cx="113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⓪ 每项目一次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73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继承配置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200" y="3530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改写非照搬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288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362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75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需求澄清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1638" y="35309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评审 1 轮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004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290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364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14184" y="3196590"/>
              <a:ext cx="1163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 spec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11882" y="35309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评审 1~3 轮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2006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66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779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实施计划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2082" y="35309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评审 1~2 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008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294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368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81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分块实施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5868" y="3530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逐块评审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4010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296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370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83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全量终审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35200" y="3530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跨块一致性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10001250" y="3286125"/>
              <a:ext cx="1524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29850" y="2667000"/>
              <a:ext cx="13335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37265" y="2921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785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验证收口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35400" y="3530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贴证据提交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81650" y="4019550"/>
              <a:ext cx="10287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7494" y="4083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人工批准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0" y="4019550"/>
              <a:ext cx="9144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10095" y="40833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TDD 小步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43000" y="4762500"/>
            <a:ext cx="10027463" cy="824484"/>
            <a:chOff x="1143000" y="4762500"/>
            <a:chExt cx="10027463" cy="824484"/>
          </a:xfrm>
        </p:grpSpPr>
        <p:sp>
          <p:nvSpPr>
            <p:cNvPr id="46" name="Freeform 46"/>
            <p:cNvSpPr/>
            <p:nvPr/>
          </p:nvSpPr>
          <p:spPr>
            <a:xfrm>
              <a:off x="1143000" y="47625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14103" y="112362"/>
                  </a:moveTo>
                  <a:cubicBezTo>
                    <a:pt x="331634" y="126092"/>
                    <a:pt x="342900" y="147456"/>
                    <a:pt x="342900" y="171450"/>
                  </a:cubicBezTo>
                  <a:cubicBezTo>
                    <a:pt x="342900" y="195445"/>
                    <a:pt x="331634" y="216809"/>
                    <a:pt x="314101" y="230540"/>
                  </a:cubicBezTo>
                  <a:cubicBezTo>
                    <a:pt x="316788" y="252644"/>
                    <a:pt x="309649" y="275717"/>
                    <a:pt x="292682" y="292684"/>
                  </a:cubicBezTo>
                  <a:cubicBezTo>
                    <a:pt x="275715" y="309652"/>
                    <a:pt x="252642" y="316790"/>
                    <a:pt x="230538" y="314103"/>
                  </a:cubicBezTo>
                  <a:cubicBezTo>
                    <a:pt x="216807" y="331634"/>
                    <a:pt x="195444" y="342900"/>
                    <a:pt x="171450" y="342900"/>
                  </a:cubicBezTo>
                  <a:cubicBezTo>
                    <a:pt x="147455" y="342900"/>
                    <a:pt x="126092" y="331634"/>
                    <a:pt x="112361" y="314101"/>
                  </a:cubicBezTo>
                  <a:cubicBezTo>
                    <a:pt x="90256" y="316790"/>
                    <a:pt x="67183" y="309649"/>
                    <a:pt x="50216" y="292682"/>
                  </a:cubicBezTo>
                  <a:cubicBezTo>
                    <a:pt x="33249" y="275717"/>
                    <a:pt x="26110" y="252644"/>
                    <a:pt x="28798" y="230538"/>
                  </a:cubicBezTo>
                  <a:cubicBezTo>
                    <a:pt x="11266" y="216807"/>
                    <a:pt x="0" y="195444"/>
                    <a:pt x="0" y="171450"/>
                  </a:cubicBezTo>
                  <a:cubicBezTo>
                    <a:pt x="0" y="147455"/>
                    <a:pt x="11267" y="126092"/>
                    <a:pt x="28798" y="112361"/>
                  </a:cubicBezTo>
                  <a:cubicBezTo>
                    <a:pt x="26111" y="90256"/>
                    <a:pt x="33250" y="67183"/>
                    <a:pt x="50217" y="50216"/>
                  </a:cubicBezTo>
                  <a:cubicBezTo>
                    <a:pt x="67184" y="33249"/>
                    <a:pt x="90257" y="26110"/>
                    <a:pt x="112362" y="28798"/>
                  </a:cubicBezTo>
                  <a:cubicBezTo>
                    <a:pt x="126092" y="11266"/>
                    <a:pt x="147456" y="0"/>
                    <a:pt x="171450" y="0"/>
                  </a:cubicBezTo>
                  <a:cubicBezTo>
                    <a:pt x="195445" y="0"/>
                    <a:pt x="216809" y="11267"/>
                    <a:pt x="230540" y="28799"/>
                  </a:cubicBezTo>
                  <a:cubicBezTo>
                    <a:pt x="252644" y="26111"/>
                    <a:pt x="275717" y="33251"/>
                    <a:pt x="292684" y="50218"/>
                  </a:cubicBezTo>
                  <a:cubicBezTo>
                    <a:pt x="309652" y="67184"/>
                    <a:pt x="316790" y="90257"/>
                    <a:pt x="314103" y="112362"/>
                  </a:cubicBezTo>
                  <a:close/>
                  <a:moveTo>
                    <a:pt x="261613" y="133026"/>
                  </a:moveTo>
                  <a:lnTo>
                    <a:pt x="231305" y="102718"/>
                  </a:lnTo>
                  <a:lnTo>
                    <a:pt x="150019" y="184004"/>
                  </a:lnTo>
                  <a:lnTo>
                    <a:pt x="111595" y="145580"/>
                  </a:lnTo>
                  <a:lnTo>
                    <a:pt x="81286" y="175889"/>
                  </a:lnTo>
                  <a:lnTo>
                    <a:pt x="150019" y="244621"/>
                  </a:lnTo>
                  <a:lnTo>
                    <a:pt x="261613" y="1330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629156" y="483489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「零返工」不是实施得好，而是每一层的错误都被拦在了本层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29156" y="5234940"/>
              <a:ext cx="9541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范围先划清：小 bug 只走 ④→⑥；查询直接问；涉敏加安全评审——不是所有任务都走全流程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50" name="Line 5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11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953393" cy="819150"/>
            <a:chOff x="381000" y="537210"/>
            <a:chExt cx="8953393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70574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六步法落地：每步都有 skill 兜底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2618" y="1457325"/>
            <a:ext cx="11438382" cy="3581400"/>
            <a:chOff x="372618" y="1457325"/>
            <a:chExt cx="11438382" cy="3581400"/>
          </a:xfrm>
        </p:grpSpPr>
        <p:sp>
          <p:nvSpPr>
            <p:cNvPr id="5" name="Rectangle 5"/>
            <p:cNvSpPr/>
            <p:nvPr/>
          </p:nvSpPr>
          <p:spPr>
            <a:xfrm>
              <a:off x="381000" y="2295525"/>
              <a:ext cx="114300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2847975"/>
              <a:ext cx="11430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2847975"/>
              <a:ext cx="5715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3400425"/>
              <a:ext cx="114300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4505325"/>
              <a:ext cx="114300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733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3380" y="14573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8380" y="1457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实际调用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0738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关键动作与产物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2618" y="191738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需求澄清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9142" y="194976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brainstorming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07380" y="1933575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一次只问一个问题磨成规格；拍板决策当场写回 spec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" y="2286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2618" y="2469832"/>
              <a:ext cx="1264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设计 spec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9142" y="2502218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docs/specs/ 落盘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7380" y="2486025"/>
              <a:ext cx="5376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 / 数据流 / 错误处理 / 测试策略——后续一切的事实锚点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81000" y="28384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302228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实施计划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79142" y="3054668"/>
              <a:ext cx="2149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writing-plans + 人工批准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7380" y="3038475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人只审计划不盯代码——杠杆率最高的一次人工介入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81000" y="33909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2618" y="35747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分块实施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142" y="3607118"/>
              <a:ext cx="868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TDD / SDD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7380" y="3590925"/>
              <a:ext cx="485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先测后码；逐块评审，本块 must-fix 清零才进下一块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81000" y="3943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2618" y="412718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全量终审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79142" y="4159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多角色评审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07380" y="4143375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跨块一致性、契约对齐——逐块看局部，终审看全局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81000" y="4495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2618" y="46796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验证收口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79142" y="4712018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verification-before-completion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7380" y="4695825"/>
              <a:ext cx="5336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全量测试 / 构建贴证据；规范提交 type(scope): 中文描述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238750"/>
            <a:ext cx="11430000" cy="388620"/>
            <a:chOff x="381000" y="5238750"/>
            <a:chExt cx="11430000" cy="388620"/>
          </a:xfrm>
        </p:grpSpPr>
        <p:sp>
          <p:nvSpPr>
            <p:cNvPr id="38" name="Rectangle 38"/>
            <p:cNvSpPr/>
            <p:nvPr/>
          </p:nvSpPr>
          <p:spPr>
            <a:xfrm>
              <a:off x="381000" y="5238750"/>
              <a:ext cx="11430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6656" y="5334000"/>
              <a:ext cx="10538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计划里每个任务写全四要素：产出物 / 验收条件 / 前置依赖 / 复杂度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——AI 不回头问"具体怎么实现"才算写够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142" y="5816918"/>
            <a:ext cx="10672591" cy="264033"/>
            <a:chOff x="374142" y="5816918"/>
            <a:chExt cx="10672591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374142" y="5816918"/>
              <a:ext cx="10672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不是所有任务都走全流程：新功能 / 重构走完整六步 · 小 bug 只走 ④→⑥（先复现再修）· 查询直接问 · 涉鉴权 / 资金强制加安全评审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43" name="Line 43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597189" cy="819150"/>
            <a:chOff x="381000" y="537210"/>
            <a:chExt cx="859718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评审怎么评：五维度与停止规则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1856" y="1539240"/>
            <a:ext cx="5343144" cy="3551111"/>
            <a:chOff x="371856" y="1539240"/>
            <a:chExt cx="5343144" cy="3551111"/>
          </a:xfrm>
        </p:grpSpPr>
        <p:sp>
          <p:nvSpPr>
            <p:cNvPr id="5" name="TextBox 5"/>
            <p:cNvSpPr txBox="1"/>
            <p:nvPr/>
          </p:nvSpPr>
          <p:spPr>
            <a:xfrm>
              <a:off x="371856" y="1539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每份产物按五性过一遍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3380" y="2009775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完整性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——场景 / 异常流 / 边界有没有漏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362200"/>
              <a:ext cx="5334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680" y="248602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精确性（含金量最高）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——禁"优化性能"，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680" y="2752725"/>
              <a:ext cx="4356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必须量化："单次查询 ≤10 万条、P95 &lt; 500ms"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380" y="319087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可验证性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——每条要求能被测试或人工核实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380" y="3609975"/>
              <a:ext cx="4265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一致性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——与上游 spec / 契约 / 其他模块无冲突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3380" y="4029075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可追溯性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——结论能追到 file:line / 决策记录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4142" y="4578668"/>
              <a:ext cx="377704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spec 里模糊一处，AI 不会回头问你——它会直接猜一个实现出去，在代码里多一处等着返工的 bug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77356" y="1539240"/>
            <a:ext cx="4348162" cy="1969961"/>
            <a:chOff x="6277356" y="1539240"/>
            <a:chExt cx="4348162" cy="1969961"/>
          </a:xfrm>
        </p:grpSpPr>
        <p:sp>
          <p:nvSpPr>
            <p:cNvPr id="15" name="TextBox 15"/>
            <p:cNvSpPr txBox="1"/>
            <p:nvPr/>
          </p:nvSpPr>
          <p:spPr>
            <a:xfrm>
              <a:off x="6277356" y="1539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评审节拍（几轮才够）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8880" y="1990725"/>
              <a:ext cx="4346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需求澄清 1 轮 · 设计 spec 1~3 轮 · 计划 1~2 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8880" y="2257425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人工批准 · 每个任务块 1 轮 · 全量终审 1 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8880" y="2714625"/>
              <a:ext cx="41815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停止规则：只剩建议项（无 must-fix）就停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9642" y="2997518"/>
              <a:ext cx="35884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不要为评而评；3 轮收不了口说明上游有问题，该回退需求 / 设计，而不是继续评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3810000"/>
            <a:ext cx="5524500" cy="1390650"/>
            <a:chOff x="6286500" y="3810000"/>
            <a:chExt cx="5524500" cy="13906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810000"/>
              <a:ext cx="5524500" cy="1390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7480" y="395287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拿不准要不要再评一轮？直接问它：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8242" y="4292918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"从投入产出看，还值得再审一轮吗？请给出理由：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8242" y="4540568"/>
              <a:ext cx="3921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上轮 must-fix 消化了吗？哪些角度还没覆盖？"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8242" y="4864418"/>
              <a:ext cx="4457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要理由、不只要结论——几百 token 挡掉一整轮无效评审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5448300"/>
            <a:ext cx="11430000" cy="571500"/>
            <a:chOff x="381000" y="5448300"/>
            <a:chExt cx="11430000" cy="571500"/>
          </a:xfrm>
        </p:grpSpPr>
        <p:sp>
          <p:nvSpPr>
            <p:cNvPr id="27" name="Rectangle 27"/>
            <p:cNvSpPr/>
            <p:nvPr/>
          </p:nvSpPr>
          <p:spPr>
            <a:xfrm>
              <a:off x="381000" y="5448300"/>
              <a:ext cx="114300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36668" y="5593080"/>
              <a:ext cx="87186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一轮评审 = 几分钟；一个流到下游的设计错误 = 数小时到数天返工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0" name="Line 3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003515" cy="819150"/>
            <a:chOff x="381000" y="537210"/>
            <a:chExt cx="8003515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「零返工」的真相是层层拦截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428750"/>
            <a:ext cx="5143500" cy="3619500"/>
            <a:chOff x="762000" y="1428750"/>
            <a:chExt cx="5143500" cy="3619500"/>
          </a:xfrm>
        </p:grpSpPr>
        <p:sp>
          <p:nvSpPr>
            <p:cNvPr id="5" name="Freeform 5"/>
            <p:cNvSpPr/>
            <p:nvPr/>
          </p:nvSpPr>
          <p:spPr>
            <a:xfrm>
              <a:off x="762000" y="1428750"/>
              <a:ext cx="5143500" cy="762000"/>
            </a:xfrm>
            <a:custGeom>
              <a:avLst/>
              <a:gdLst/>
              <a:ahLst/>
              <a:cxnLst/>
              <a:rect l="l" t="t" r="r" b="b"/>
              <a:pathLst>
                <a:path w="5143500" h="762000">
                  <a:moveTo>
                    <a:pt x="0" y="0"/>
                  </a:moveTo>
                  <a:lnTo>
                    <a:pt x="5143500" y="0"/>
                  </a:lnTo>
                  <a:lnTo>
                    <a:pt x="4857750" y="762000"/>
                  </a:lnTo>
                  <a:lnTo>
                    <a:pt x="285750" y="76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80393" y="1567815"/>
              <a:ext cx="1506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需求评审层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27338" y="19021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拦截：歧义、缺失异常流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047750" y="2381250"/>
              <a:ext cx="4572000" cy="762000"/>
            </a:xfrm>
            <a:custGeom>
              <a:avLst/>
              <a:gdLst/>
              <a:ahLst/>
              <a:cxnLst/>
              <a:rect l="l" t="t" r="r" b="b"/>
              <a:pathLst>
                <a:path w="4572000" h="762000">
                  <a:moveTo>
                    <a:pt x="0" y="0"/>
                  </a:moveTo>
                  <a:lnTo>
                    <a:pt x="4572000" y="0"/>
                  </a:lnTo>
                  <a:lnTo>
                    <a:pt x="4286250" y="762000"/>
                  </a:lnTo>
                  <a:lnTo>
                    <a:pt x="285750" y="762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79663" y="2520315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设计 / 计划评审层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0812" y="2854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4F6F8"/>
                  </a:solidFill>
                  <a:latin typeface="+mn-lt"/>
                  <a:ea typeface="+mn-ea"/>
                  <a:cs typeface="+mn-cs"/>
                </a:rPr>
                <a:t>拦截：方案漏洞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333500" y="333375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0" y="0"/>
                  </a:moveTo>
                  <a:lnTo>
                    <a:pt x="4000500" y="0"/>
                  </a:lnTo>
                  <a:lnTo>
                    <a:pt x="3714750" y="762000"/>
                  </a:lnTo>
                  <a:lnTo>
                    <a:pt x="285750" y="7620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80393" y="3472815"/>
              <a:ext cx="1506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逐块评审层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90812" y="3807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4F6F8"/>
                  </a:solidFill>
                  <a:latin typeface="+mn-lt"/>
                  <a:ea typeface="+mn-ea"/>
                  <a:cs typeface="+mn-cs"/>
                </a:rPr>
                <a:t>拦截：实现偏差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619250" y="4286250"/>
              <a:ext cx="3429000" cy="762000"/>
            </a:xfrm>
            <a:custGeom>
              <a:avLst/>
              <a:gdLst/>
              <a:ahLst/>
              <a:cxnLst/>
              <a:rect l="l" t="t" r="r" b="b"/>
              <a:pathLst>
                <a:path w="3429000" h="762000">
                  <a:moveTo>
                    <a:pt x="0" y="0"/>
                  </a:moveTo>
                  <a:lnTo>
                    <a:pt x="3429000" y="0"/>
                  </a:lnTo>
                  <a:lnTo>
                    <a:pt x="3143250" y="762000"/>
                  </a:lnTo>
                  <a:lnTo>
                    <a:pt x="285750" y="762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34825" y="4425315"/>
              <a:ext cx="997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终审层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081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拦截：跨块盲区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5854" y="5341620"/>
            <a:ext cx="2975793" cy="469392"/>
            <a:chOff x="1845854" y="5341620"/>
            <a:chExt cx="2975793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1845854" y="5341620"/>
              <a:ext cx="29757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E8540"/>
                  </a:solidFill>
                  <a:latin typeface="+mn-lt"/>
                  <a:ea typeface="+mn-ea"/>
                  <a:cs typeface="+mn-cs"/>
                </a:rPr>
                <a:t>流到线上的缺陷 ≈ 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428750"/>
            <a:ext cx="3835908" cy="899351"/>
            <a:chOff x="6286500" y="1428750"/>
            <a:chExt cx="3835908" cy="899351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381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08242" y="1549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拦截实例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08242" y="1816418"/>
              <a:ext cx="36141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商机平台：登录方案差点按「自建账密」写错，一次纠错省掉整个鉴权模块返工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2381250"/>
            <a:ext cx="3141536" cy="899351"/>
            <a:chOff x="6286500" y="2381250"/>
            <a:chExt cx="3141536" cy="899351"/>
          </a:xfrm>
        </p:grpSpPr>
        <p:sp>
          <p:nvSpPr>
            <p:cNvPr id="24" name="Rectangle 24"/>
            <p:cNvSpPr/>
            <p:nvPr/>
          </p:nvSpPr>
          <p:spPr>
            <a:xfrm>
              <a:off x="6286500" y="2381250"/>
              <a:ext cx="381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8242" y="2502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拦截实例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8242" y="2768918"/>
              <a:ext cx="29197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某政项目：抓到 @EnableAsync 遗漏、ThreadLocal 竞态等真 blocker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3333750"/>
            <a:ext cx="3141536" cy="899351"/>
            <a:chOff x="6286500" y="3333750"/>
            <a:chExt cx="3141536" cy="899351"/>
          </a:xfrm>
        </p:grpSpPr>
        <p:sp>
          <p:nvSpPr>
            <p:cNvPr id="28" name="Rectangle 28"/>
            <p:cNvSpPr/>
            <p:nvPr/>
          </p:nvSpPr>
          <p:spPr>
            <a:xfrm>
              <a:off x="6286500" y="3333750"/>
              <a:ext cx="38100" cy="76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8242" y="3454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拦截实例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8242" y="3721418"/>
              <a:ext cx="29197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工单系统组B：11 个任务逐任务评审，本块 must-fix 清零才进下一块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286250"/>
            <a:ext cx="4367403" cy="952500"/>
            <a:chOff x="6286500" y="4286250"/>
            <a:chExt cx="4367403" cy="952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4286250"/>
              <a:ext cx="38100" cy="952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242" y="4407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拦截实例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8242" y="4673918"/>
              <a:ext cx="414566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商机平台：抓到「方案匹配」功能前后端都没做的 P0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——端点盘点看不见它，工具扫不出来，只有评审能抓到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508242" y="5550218"/>
            <a:ext cx="4193667" cy="264033"/>
            <a:chOff x="6508242" y="5550218"/>
            <a:chExt cx="4193667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6508242" y="55502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成本直觉：一轮评审几分钟，错误流到下游返工数天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8" name="Line 38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14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6816166" cy="819150"/>
            <a:chOff x="381000" y="537210"/>
            <a:chExt cx="6816166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机制二：企业框架当黑盒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8556" y="1424940"/>
            <a:ext cx="9888322" cy="352044"/>
            <a:chOff x="638556" y="1424940"/>
            <a:chExt cx="9888322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38556" y="1424940"/>
              <a:ext cx="9888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商机平台实测：早期返工的约一半，来自 AI 用「开源直觉」碰框架禁区——一个白屏故事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2000250"/>
            <a:ext cx="3429000" cy="1524000"/>
            <a:chOff x="381000" y="2000250"/>
            <a:chExt cx="342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381000" y="2000250"/>
              <a:ext cx="34290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2742" y="22164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起因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2548890"/>
              <a:ext cx="241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按通用 Vue 项目直觉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872740"/>
              <a:ext cx="16084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改了 env 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207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想做「本地账密登录页」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86200" y="2000250"/>
            <a:ext cx="3924300" cy="1524000"/>
            <a:chOff x="3886200" y="2000250"/>
            <a:chExt cx="3924300" cy="1524000"/>
          </a:xfrm>
        </p:grpSpPr>
        <p:sp>
          <p:nvSpPr>
            <p:cNvPr id="13" name="Line 13"/>
            <p:cNvSpPr/>
            <p:nvPr/>
          </p:nvSpPr>
          <p:spPr>
            <a:xfrm>
              <a:off x="3886200" y="2762250"/>
              <a:ext cx="3810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2000250"/>
              <a:ext cx="3429000" cy="15240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C0392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22164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事故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0956" y="2548890"/>
              <a:ext cx="1532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全部请求 404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0956" y="2872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应用直接白屏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3242" y="3207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恰好碰了框架的禁改项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86700" y="2000250"/>
            <a:ext cx="3924300" cy="1524000"/>
            <a:chOff x="7886700" y="2000250"/>
            <a:chExt cx="3924300" cy="1524000"/>
          </a:xfrm>
        </p:grpSpPr>
        <p:sp>
          <p:nvSpPr>
            <p:cNvPr id="20" name="Line 20"/>
            <p:cNvSpPr/>
            <p:nvPr/>
          </p:nvSpPr>
          <p:spPr>
            <a:xfrm>
              <a:off x="7886700" y="2762250"/>
              <a:ext cx="3810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82000" y="2000250"/>
              <a:ext cx="34290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03742" y="22164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01456" y="2548890"/>
              <a:ext cx="21173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框架 env 有白名单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014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只允许改一个变量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3742" y="3207068"/>
              <a:ext cx="2922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登录本来就是企业 SSO，无需自建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3886200"/>
            <a:ext cx="9565310" cy="1223201"/>
            <a:chOff x="381000" y="3886200"/>
            <a:chExt cx="9565310" cy="1223201"/>
          </a:xfrm>
        </p:grpSpPr>
        <p:sp>
          <p:nvSpPr>
            <p:cNvPr id="27" name="Freeform 27"/>
            <p:cNvSpPr/>
            <p:nvPr/>
          </p:nvSpPr>
          <p:spPr>
            <a:xfrm>
              <a:off x="419100" y="38862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38100" y="114300"/>
                  </a:moveTo>
                  <a:lnTo>
                    <a:pt x="38100" y="76200"/>
                  </a:lnTo>
                  <a:cubicBezTo>
                    <a:pt x="38100" y="34116"/>
                    <a:pt x="72216" y="0"/>
                    <a:pt x="114300" y="0"/>
                  </a:cubicBezTo>
                  <a:cubicBezTo>
                    <a:pt x="156383" y="0"/>
                    <a:pt x="190500" y="34116"/>
                    <a:pt x="190500" y="76200"/>
                  </a:cubicBezTo>
                  <a:lnTo>
                    <a:pt x="190500" y="114300"/>
                  </a:lnTo>
                  <a:lnTo>
                    <a:pt x="228600" y="11430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114300"/>
                  </a:lnTo>
                  <a:lnTo>
                    <a:pt x="38100" y="114300"/>
                  </a:lnTo>
                  <a:close/>
                  <a:moveTo>
                    <a:pt x="76200" y="76200"/>
                  </a:moveTo>
                  <a:cubicBezTo>
                    <a:pt x="76200" y="55158"/>
                    <a:pt x="93258" y="38100"/>
                    <a:pt x="114300" y="38100"/>
                  </a:cubicBezTo>
                  <a:cubicBezTo>
                    <a:pt x="135342" y="38100"/>
                    <a:pt x="152400" y="55158"/>
                    <a:pt x="152400" y="76200"/>
                  </a:cubicBezTo>
                  <a:lnTo>
                    <a:pt x="152400" y="114300"/>
                  </a:lnTo>
                  <a:lnTo>
                    <a:pt x="76200" y="114300"/>
                  </a:lnTo>
                  <a:lnTo>
                    <a:pt x="76200" y="76200"/>
                  </a:lnTo>
                  <a:close/>
                  <a:moveTo>
                    <a:pt x="95250" y="247650"/>
                  </a:moveTo>
                  <a:lnTo>
                    <a:pt x="95250" y="171450"/>
                  </a:lnTo>
                  <a:lnTo>
                    <a:pt x="133350" y="171450"/>
                  </a:lnTo>
                  <a:lnTo>
                    <a:pt x="133350" y="247650"/>
                  </a:lnTo>
                  <a:lnTo>
                    <a:pt x="95250" y="247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056" y="3939540"/>
              <a:ext cx="91172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框架约定拿证据说话：文档说 starter 配了乐观锁——反编译字节码，只有分页拦截器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81000" y="443865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58664" y="43904"/>
                  </a:lnTo>
                  <a:cubicBezTo>
                    <a:pt x="81846" y="16085"/>
                    <a:pt x="116188" y="0"/>
                    <a:pt x="152400" y="0"/>
                  </a:cubicBezTo>
                  <a:cubicBezTo>
                    <a:pt x="188612" y="0"/>
                    <a:pt x="222954" y="16085"/>
                    <a:pt x="246137" y="43904"/>
                  </a:cubicBezTo>
                  <a:lnTo>
                    <a:pt x="304800" y="114300"/>
                  </a:lnTo>
                  <a:lnTo>
                    <a:pt x="246137" y="184695"/>
                  </a:lnTo>
                  <a:cubicBezTo>
                    <a:pt x="222954" y="212516"/>
                    <a:pt x="188612" y="228600"/>
                    <a:pt x="152400" y="228600"/>
                  </a:cubicBezTo>
                  <a:cubicBezTo>
                    <a:pt x="116188" y="228600"/>
                    <a:pt x="81846" y="212516"/>
                    <a:pt x="58664" y="184695"/>
                  </a:cubicBezTo>
                  <a:lnTo>
                    <a:pt x="0" y="114300"/>
                  </a:lnTo>
                  <a:close/>
                  <a:moveTo>
                    <a:pt x="152400" y="171450"/>
                  </a:moveTo>
                  <a:cubicBezTo>
                    <a:pt x="183963" y="171450"/>
                    <a:pt x="209550" y="145863"/>
                    <a:pt x="209550" y="114300"/>
                  </a:cubicBezTo>
                  <a:cubicBezTo>
                    <a:pt x="209550" y="82737"/>
                    <a:pt x="183963" y="57150"/>
                    <a:pt x="152400" y="57150"/>
                  </a:cubicBezTo>
                  <a:cubicBezTo>
                    <a:pt x="120837" y="57150"/>
                    <a:pt x="95250" y="82737"/>
                    <a:pt x="95250" y="114300"/>
                  </a:cubicBezTo>
                  <a:cubicBezTo>
                    <a:pt x="95250" y="145863"/>
                    <a:pt x="120837" y="171450"/>
                    <a:pt x="152400" y="1714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9056" y="4453890"/>
              <a:ext cx="8559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门禁本身也要审计：配置评审揪出 2 个「绿而无效」的假门禁——假绿比红更危险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342" y="4845368"/>
              <a:ext cx="8977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操作要领：入场先跑 skill 初始化拉权威规范；「框架黑盒、env 白名单、禁自由发挥」写进 CLAUDE.md 红线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5238750"/>
            <a:ext cx="11430000" cy="762000"/>
            <a:chOff x="381000" y="5238750"/>
            <a:chExt cx="11430000" cy="762000"/>
          </a:xfrm>
        </p:grpSpPr>
        <p:sp>
          <p:nvSpPr>
            <p:cNvPr id="33" name="Rectangle 33"/>
            <p:cNvSpPr/>
            <p:nvPr/>
          </p:nvSpPr>
          <p:spPr>
            <a:xfrm>
              <a:off x="381000" y="5238750"/>
              <a:ext cx="114300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29102" y="5423535"/>
              <a:ext cx="6133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文档和直觉都可能骗你，字节码不会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6" name="Line 36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4142" y="6312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第二幕 · 前三天与六步法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381000" y="800100"/>
            <a:ext cx="11420475" cy="419100"/>
            <a:chOff x="381000" y="800100"/>
            <a:chExt cx="11420475" cy="419100"/>
          </a:xfrm>
        </p:grpSpPr>
        <p:sp>
          <p:nvSpPr>
            <p:cNvPr id="2" name="Rectangle 2"/>
            <p:cNvSpPr/>
            <p:nvPr/>
          </p:nvSpPr>
          <p:spPr>
            <a:xfrm>
              <a:off x="3810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68705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31457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47938" y="930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前三天与六步法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48150" y="800100"/>
              <a:ext cx="1752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40532" y="9305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技巧与进阶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172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6943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15300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3040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治理与算账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4887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3658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78971" y="3228975"/>
            <a:ext cx="3070079" cy="373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9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2950" y="2434590"/>
            <a:ext cx="10079035" cy="2023872"/>
            <a:chOff x="742950" y="2434590"/>
            <a:chExt cx="10079035" cy="2023872"/>
          </a:xfrm>
        </p:grpSpPr>
        <p:sp>
          <p:nvSpPr>
            <p:cNvPr id="16" name="Rectangle 16"/>
            <p:cNvSpPr/>
            <p:nvPr/>
          </p:nvSpPr>
          <p:spPr>
            <a:xfrm>
              <a:off x="762000" y="24574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5756" y="2434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3055620"/>
              <a:ext cx="1007903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从一个助手，到一支 AI 团队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808" y="3989070"/>
              <a:ext cx="88446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技巧库 11 招 · 多角色评审 · 样板镜像 · 模型分档 · 记忆进化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16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012761" cy="819150"/>
            <a:chOff x="381000" y="537210"/>
            <a:chExt cx="9012761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7651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技巧库 11 招：按投入产出比排序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1485900"/>
            <a:ext cx="3619500" cy="4057650"/>
            <a:chOff x="381000" y="1485900"/>
            <a:chExt cx="3619500" cy="4057650"/>
          </a:xfrm>
        </p:grpSpPr>
        <p:sp>
          <p:nvSpPr>
            <p:cNvPr id="5" name="Rectangle 5"/>
            <p:cNvSpPr/>
            <p:nvPr/>
          </p:nvSpPr>
          <p:spPr>
            <a:xfrm>
              <a:off x="381000" y="1485900"/>
              <a:ext cx="36195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7852" y="1612582"/>
              <a:ext cx="21857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★★★★★ 必用三招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057400"/>
              <a:ext cx="3619500" cy="3486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09600" y="2300288"/>
              <a:ext cx="266700" cy="216694"/>
            </a:xfrm>
            <a:custGeom>
              <a:avLst/>
              <a:gdLst/>
              <a:ahLst/>
              <a:cxnLst/>
              <a:rect l="l" t="t" r="r" b="b"/>
              <a:pathLst>
                <a:path w="266700" h="216694">
                  <a:moveTo>
                    <a:pt x="0" y="0"/>
                  </a:moveTo>
                  <a:lnTo>
                    <a:pt x="59771" y="0"/>
                  </a:lnTo>
                  <a:cubicBezTo>
                    <a:pt x="74864" y="0"/>
                    <a:pt x="89340" y="5996"/>
                    <a:pt x="100012" y="16669"/>
                  </a:cubicBezTo>
                  <a:cubicBezTo>
                    <a:pt x="110685" y="27342"/>
                    <a:pt x="116681" y="41817"/>
                    <a:pt x="116681" y="56911"/>
                  </a:cubicBezTo>
                  <a:lnTo>
                    <a:pt x="116681" y="150019"/>
                  </a:lnTo>
                  <a:lnTo>
                    <a:pt x="150019" y="150019"/>
                  </a:lnTo>
                  <a:lnTo>
                    <a:pt x="150019" y="56911"/>
                  </a:lnTo>
                  <a:cubicBezTo>
                    <a:pt x="150019" y="41817"/>
                    <a:pt x="156015" y="27342"/>
                    <a:pt x="166688" y="16669"/>
                  </a:cubicBezTo>
                  <a:cubicBezTo>
                    <a:pt x="177361" y="5996"/>
                    <a:pt x="191836" y="0"/>
                    <a:pt x="206929" y="0"/>
                  </a:cubicBezTo>
                  <a:lnTo>
                    <a:pt x="266700" y="0"/>
                  </a:lnTo>
                  <a:lnTo>
                    <a:pt x="266700" y="183356"/>
                  </a:lnTo>
                  <a:lnTo>
                    <a:pt x="183356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83344" y="183356"/>
                  </a:lnTo>
                  <a:lnTo>
                    <a:pt x="0" y="183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0318" y="2317432"/>
              <a:ext cx="2314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CLAUDE.md 项目手册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842" y="2635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一次投入，长期受益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6269" y="3064669"/>
              <a:ext cx="233362" cy="233362"/>
              <a:chOff x="626269" y="3064669"/>
              <a:chExt cx="233362" cy="2333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26269" y="30646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49"/>
                      <a:pt x="51749" y="66675"/>
                      <a:pt x="33338" y="66675"/>
                    </a:cubicBez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2956" y="32313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50"/>
                      <a:pt x="51750" y="66675"/>
                      <a:pt x="33338" y="66675"/>
                    </a:cubicBezTo>
                    <a:cubicBezTo>
                      <a:pt x="14925" y="66675"/>
                      <a:pt x="0" y="51750"/>
                      <a:pt x="0" y="33338"/>
                    </a:cubicBezTo>
                    <a:cubicBezTo>
                      <a:pt x="0" y="14925"/>
                      <a:pt x="14925" y="0"/>
                      <a:pt x="33338" y="0"/>
                    </a:cubicBezTo>
                    <a:cubicBezTo>
                      <a:pt x="51750" y="0"/>
                      <a:pt x="66675" y="14925"/>
                      <a:pt x="66675" y="333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2938" y="3064669"/>
                <a:ext cx="20002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33362">
                    <a:moveTo>
                      <a:pt x="116681" y="58341"/>
                    </a:moveTo>
                    <a:cubicBezTo>
                      <a:pt x="116681" y="44532"/>
                      <a:pt x="127875" y="33338"/>
                      <a:pt x="141684" y="33338"/>
                    </a:cubicBezTo>
                    <a:cubicBezTo>
                      <a:pt x="155493" y="33338"/>
                      <a:pt x="166688" y="44532"/>
                      <a:pt x="166688" y="58341"/>
                    </a:cubicBezTo>
                    <a:lnTo>
                      <a:pt x="166688" y="133350"/>
                    </a:lnTo>
                    <a:lnTo>
                      <a:pt x="200025" y="133350"/>
                    </a:lnTo>
                    <a:lnTo>
                      <a:pt x="200025" y="58341"/>
                    </a:lnTo>
                    <a:cubicBezTo>
                      <a:pt x="200025" y="26120"/>
                      <a:pt x="173905" y="0"/>
                      <a:pt x="141684" y="0"/>
                    </a:cubicBezTo>
                    <a:cubicBezTo>
                      <a:pt x="109464" y="0"/>
                      <a:pt x="83344" y="26120"/>
                      <a:pt x="83344" y="58341"/>
                    </a:cubicBezTo>
                    <a:lnTo>
                      <a:pt x="83344" y="175022"/>
                    </a:lnTo>
                    <a:cubicBezTo>
                      <a:pt x="83344" y="188830"/>
                      <a:pt x="72150" y="200025"/>
                      <a:pt x="58341" y="200025"/>
                    </a:cubicBezTo>
                    <a:cubicBezTo>
                      <a:pt x="44532" y="200025"/>
                      <a:pt x="33338" y="188830"/>
                      <a:pt x="33338" y="175022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175022"/>
                    </a:lnTo>
                    <a:cubicBezTo>
                      <a:pt x="0" y="207243"/>
                      <a:pt x="26120" y="233362"/>
                      <a:pt x="58341" y="233362"/>
                    </a:cubicBezTo>
                    <a:cubicBezTo>
                      <a:pt x="90561" y="233362"/>
                      <a:pt x="116681" y="207243"/>
                      <a:pt x="116681" y="175022"/>
                    </a:cubicBezTo>
                    <a:lnTo>
                      <a:pt x="116681" y="583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20318" y="3098482"/>
              <a:ext cx="2133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计划模式 Plan Mode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842" y="3416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把返工消灭在动手前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09600" y="3829050"/>
              <a:ext cx="266700" cy="266700"/>
              <a:chOff x="609600" y="3829050"/>
              <a:chExt cx="266700" cy="2667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09600" y="3829050"/>
                <a:ext cx="233362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50019">
                    <a:moveTo>
                      <a:pt x="166688" y="133350"/>
                    </a:moveTo>
                    <a:lnTo>
                      <a:pt x="150019" y="133350"/>
                    </a:lnTo>
                    <a:lnTo>
                      <a:pt x="150019" y="80340"/>
                    </a:lnTo>
                    <a:lnTo>
                      <a:pt x="85965" y="67529"/>
                    </a:lnTo>
                    <a:cubicBezTo>
                      <a:pt x="83124" y="66961"/>
                      <a:pt x="80234" y="66675"/>
                      <a:pt x="77336" y="66675"/>
                    </a:cubicBezTo>
                    <a:cubicBezTo>
                      <a:pt x="53036" y="66675"/>
                      <a:pt x="33338" y="86374"/>
                      <a:pt x="33338" y="110674"/>
                    </a:cubicBezTo>
                    <a:lnTo>
                      <a:pt x="33338" y="150019"/>
                    </a:lnTo>
                    <a:lnTo>
                      <a:pt x="0" y="150019"/>
                    </a:lnTo>
                    <a:lnTo>
                      <a:pt x="0" y="110674"/>
                    </a:lnTo>
                    <a:cubicBezTo>
                      <a:pt x="0" y="67962"/>
                      <a:pt x="34625" y="33338"/>
                      <a:pt x="77336" y="33338"/>
                    </a:cubicBezTo>
                    <a:cubicBezTo>
                      <a:pt x="82429" y="33338"/>
                      <a:pt x="87510" y="33841"/>
                      <a:pt x="92503" y="34839"/>
                    </a:cubicBezTo>
                    <a:lnTo>
                      <a:pt x="150019" y="46342"/>
                    </a:lnTo>
                    <a:lnTo>
                      <a:pt x="150019" y="0"/>
                    </a:lnTo>
                    <a:lnTo>
                      <a:pt x="166688" y="0"/>
                    </a:lnTo>
                    <a:lnTo>
                      <a:pt x="233362" y="66675"/>
                    </a:lnTo>
                    <a:lnTo>
                      <a:pt x="166688" y="1333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42938" y="3945731"/>
                <a:ext cx="233362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50019">
                    <a:moveTo>
                      <a:pt x="233362" y="0"/>
                    </a:moveTo>
                    <a:lnTo>
                      <a:pt x="233362" y="39345"/>
                    </a:lnTo>
                    <a:cubicBezTo>
                      <a:pt x="233362" y="82057"/>
                      <a:pt x="198738" y="116681"/>
                      <a:pt x="156026" y="116681"/>
                    </a:cubicBezTo>
                    <a:cubicBezTo>
                      <a:pt x="150934" y="116681"/>
                      <a:pt x="145853" y="116178"/>
                      <a:pt x="140859" y="115179"/>
                    </a:cubicBezTo>
                    <a:lnTo>
                      <a:pt x="83344" y="103676"/>
                    </a:lnTo>
                    <a:lnTo>
                      <a:pt x="83344" y="150019"/>
                    </a:lnTo>
                    <a:lnTo>
                      <a:pt x="66675" y="150019"/>
                    </a:lnTo>
                    <a:lnTo>
                      <a:pt x="0" y="83344"/>
                    </a:lnTo>
                    <a:lnTo>
                      <a:pt x="66675" y="16669"/>
                    </a:lnTo>
                    <a:lnTo>
                      <a:pt x="83344" y="16669"/>
                    </a:lnTo>
                    <a:lnTo>
                      <a:pt x="83344" y="69679"/>
                    </a:lnTo>
                    <a:lnTo>
                      <a:pt x="147397" y="82489"/>
                    </a:lnTo>
                    <a:cubicBezTo>
                      <a:pt x="150239" y="83057"/>
                      <a:pt x="153129" y="83344"/>
                      <a:pt x="156026" y="83344"/>
                    </a:cubicBezTo>
                    <a:cubicBezTo>
                      <a:pt x="180326" y="83344"/>
                      <a:pt x="200025" y="63645"/>
                      <a:pt x="200025" y="39345"/>
                    </a:cubicBezTo>
                    <a:lnTo>
                      <a:pt x="200025" y="0"/>
                    </a:lnTo>
                    <a:lnTo>
                      <a:pt x="2333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20318" y="38795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1842" y="4197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污染是质量下降头号原因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1842" y="46929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下一页逐个拆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286250" y="1485900"/>
            <a:ext cx="3619500" cy="4057650"/>
            <a:chOff x="4286250" y="1485900"/>
            <a:chExt cx="3619500" cy="4057650"/>
          </a:xfrm>
        </p:grpSpPr>
        <p:sp>
          <p:nvSpPr>
            <p:cNvPr id="24" name="Rectangle 24"/>
            <p:cNvSpPr/>
            <p:nvPr/>
          </p:nvSpPr>
          <p:spPr>
            <a:xfrm>
              <a:off x="4286250" y="1485900"/>
              <a:ext cx="3619500" cy="57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86488" y="1612582"/>
              <a:ext cx="241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★★★★ 高性价比四招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86250" y="2057400"/>
              <a:ext cx="3619500" cy="3486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28064" y="2305170"/>
              <a:ext cx="236819" cy="211812"/>
              <a:chOff x="4528064" y="2305170"/>
              <a:chExt cx="236819" cy="21181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528064" y="2305170"/>
                <a:ext cx="118704" cy="190260"/>
              </a:xfrm>
              <a:custGeom>
                <a:avLst/>
                <a:gdLst/>
                <a:ahLst/>
                <a:cxnLst/>
                <a:rect l="l" t="t" r="r" b="b"/>
                <a:pathLst>
                  <a:path w="118704" h="190260">
                    <a:moveTo>
                      <a:pt x="0" y="166687"/>
                    </a:moveTo>
                    <a:lnTo>
                      <a:pt x="71557" y="95130"/>
                    </a:lnTo>
                    <a:lnTo>
                      <a:pt x="0" y="23573"/>
                    </a:lnTo>
                    <a:lnTo>
                      <a:pt x="23573" y="0"/>
                    </a:lnTo>
                    <a:lnTo>
                      <a:pt x="118704" y="95130"/>
                    </a:lnTo>
                    <a:lnTo>
                      <a:pt x="23573" y="190260"/>
                    </a:lnTo>
                    <a:lnTo>
                      <a:pt x="0" y="16668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31532" y="2483644"/>
                <a:ext cx="133351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1" h="33338">
                    <a:moveTo>
                      <a:pt x="0" y="33338"/>
                    </a:moveTo>
                    <a:lnTo>
                      <a:pt x="133351" y="33338"/>
                    </a:lnTo>
                    <a:lnTo>
                      <a:pt x="133351" y="0"/>
                    </a:lnTo>
                    <a:lnTo>
                      <a:pt x="0" y="0"/>
                    </a:lnTo>
                    <a:lnTo>
                      <a:pt x="0" y="333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925568" y="2317432"/>
              <a:ext cx="25706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斜杠命令 /daily-report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27092" y="2635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重复操作固化成团队资产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31519" y="3064669"/>
              <a:ext cx="233362" cy="233362"/>
            </a:xfrm>
            <a:custGeom>
              <a:avLst/>
              <a:gdLst/>
              <a:ahLst/>
              <a:cxnLst/>
              <a:rect l="l" t="t" r="r" b="b"/>
              <a:pathLst>
                <a:path w="233362" h="233362">
                  <a:moveTo>
                    <a:pt x="100012" y="0"/>
                  </a:moveTo>
                  <a:lnTo>
                    <a:pt x="50006" y="0"/>
                  </a:lnTo>
                  <a:lnTo>
                    <a:pt x="0" y="83344"/>
                  </a:lnTo>
                  <a:lnTo>
                    <a:pt x="0" y="233362"/>
                  </a:lnTo>
                  <a:lnTo>
                    <a:pt x="233362" y="233362"/>
                  </a:lnTo>
                  <a:lnTo>
                    <a:pt x="233362" y="83344"/>
                  </a:lnTo>
                  <a:lnTo>
                    <a:pt x="183356" y="0"/>
                  </a:lnTo>
                  <a:lnTo>
                    <a:pt x="133350" y="0"/>
                  </a:lnTo>
                  <a:lnTo>
                    <a:pt x="133350" y="83344"/>
                  </a:lnTo>
                  <a:lnTo>
                    <a:pt x="100012" y="83344"/>
                  </a:lnTo>
                  <a:lnTo>
                    <a:pt x="1000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25568" y="309848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Skills 方法论包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27092" y="3416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整套方法论跨项目继承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514850" y="38290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50019" y="83344"/>
                  </a:moveTo>
                  <a:lnTo>
                    <a:pt x="116681" y="83344"/>
                  </a:lnTo>
                  <a:lnTo>
                    <a:pt x="116681" y="183356"/>
                  </a:lnTo>
                  <a:lnTo>
                    <a:pt x="150019" y="183356"/>
                  </a:lnTo>
                  <a:lnTo>
                    <a:pt x="150019" y="833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25568" y="3879532"/>
              <a:ext cx="1443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 经济学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7092" y="4197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省钱与提质是同一件事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514850" y="4626769"/>
              <a:ext cx="266700" cy="216694"/>
            </a:xfrm>
            <a:custGeom>
              <a:avLst/>
              <a:gdLst/>
              <a:ahLst/>
              <a:cxnLst/>
              <a:rect l="l" t="t" r="r" b="b"/>
              <a:pathLst>
                <a:path w="266700" h="216694">
                  <a:moveTo>
                    <a:pt x="29247" y="216694"/>
                  </a:moveTo>
                  <a:cubicBezTo>
                    <a:pt x="10947" y="193864"/>
                    <a:pt x="0" y="164886"/>
                    <a:pt x="0" y="133350"/>
                  </a:cubicBezTo>
                  <a:cubicBezTo>
                    <a:pt x="0" y="59703"/>
                    <a:pt x="59703" y="0"/>
                    <a:pt x="133350" y="0"/>
                  </a:cubicBezTo>
                  <a:cubicBezTo>
                    <a:pt x="206998" y="0"/>
                    <a:pt x="266700" y="59703"/>
                    <a:pt x="266700" y="133350"/>
                  </a:cubicBezTo>
                  <a:cubicBezTo>
                    <a:pt x="266700" y="164886"/>
                    <a:pt x="255754" y="193864"/>
                    <a:pt x="237453" y="216694"/>
                  </a:cubicBezTo>
                  <a:lnTo>
                    <a:pt x="153381" y="216694"/>
                  </a:lnTo>
                  <a:lnTo>
                    <a:pt x="212265" y="153001"/>
                  </a:lnTo>
                  <a:lnTo>
                    <a:pt x="187785" y="130369"/>
                  </a:lnTo>
                  <a:lnTo>
                    <a:pt x="107980" y="216694"/>
                  </a:lnTo>
                  <a:lnTo>
                    <a:pt x="29247" y="216694"/>
                  </a:lnTo>
                  <a:close/>
                  <a:moveTo>
                    <a:pt x="116681" y="50006"/>
                  </a:moveTo>
                  <a:cubicBezTo>
                    <a:pt x="116681" y="59212"/>
                    <a:pt x="124144" y="66675"/>
                    <a:pt x="133350" y="66675"/>
                  </a:cubicBezTo>
                  <a:cubicBezTo>
                    <a:pt x="142556" y="66675"/>
                    <a:pt x="150019" y="59212"/>
                    <a:pt x="150019" y="50006"/>
                  </a:cubicBezTo>
                  <a:cubicBezTo>
                    <a:pt x="150019" y="40800"/>
                    <a:pt x="142556" y="33338"/>
                    <a:pt x="133350" y="33338"/>
                  </a:cubicBezTo>
                  <a:cubicBezTo>
                    <a:pt x="124144" y="33338"/>
                    <a:pt x="116681" y="40800"/>
                    <a:pt x="116681" y="50006"/>
                  </a:cubicBezTo>
                  <a:close/>
                  <a:moveTo>
                    <a:pt x="191691" y="91678"/>
                  </a:moveTo>
                  <a:cubicBezTo>
                    <a:pt x="182484" y="91678"/>
                    <a:pt x="175022" y="84215"/>
                    <a:pt x="175022" y="75009"/>
                  </a:cubicBezTo>
                  <a:cubicBezTo>
                    <a:pt x="175022" y="65804"/>
                    <a:pt x="182484" y="58341"/>
                    <a:pt x="191691" y="58341"/>
                  </a:cubicBezTo>
                  <a:cubicBezTo>
                    <a:pt x="200897" y="58341"/>
                    <a:pt x="208359" y="65804"/>
                    <a:pt x="208359" y="75009"/>
                  </a:cubicBezTo>
                  <a:cubicBezTo>
                    <a:pt x="208359" y="84215"/>
                    <a:pt x="200897" y="91678"/>
                    <a:pt x="191691" y="91678"/>
                  </a:cubicBezTo>
                  <a:close/>
                  <a:moveTo>
                    <a:pt x="33338" y="133350"/>
                  </a:moveTo>
                  <a:cubicBezTo>
                    <a:pt x="33338" y="142556"/>
                    <a:pt x="40800" y="150019"/>
                    <a:pt x="50006" y="150019"/>
                  </a:cubicBezTo>
                  <a:cubicBezTo>
                    <a:pt x="59212" y="150019"/>
                    <a:pt x="66675" y="142556"/>
                    <a:pt x="66675" y="133350"/>
                  </a:cubicBezTo>
                  <a:cubicBezTo>
                    <a:pt x="66675" y="124144"/>
                    <a:pt x="59212" y="116681"/>
                    <a:pt x="50006" y="116681"/>
                  </a:cubicBezTo>
                  <a:cubicBezTo>
                    <a:pt x="40800" y="116681"/>
                    <a:pt x="33338" y="124144"/>
                    <a:pt x="33338" y="133350"/>
                  </a:cubicBezTo>
                  <a:close/>
                  <a:moveTo>
                    <a:pt x="75009" y="91678"/>
                  </a:moveTo>
                  <a:cubicBezTo>
                    <a:pt x="65804" y="91678"/>
                    <a:pt x="58341" y="84215"/>
                    <a:pt x="58341" y="75009"/>
                  </a:cubicBezTo>
                  <a:cubicBezTo>
                    <a:pt x="58341" y="65804"/>
                    <a:pt x="65804" y="58341"/>
                    <a:pt x="75009" y="58341"/>
                  </a:cubicBezTo>
                  <a:cubicBezTo>
                    <a:pt x="84215" y="58341"/>
                    <a:pt x="91678" y="65804"/>
                    <a:pt x="91678" y="75009"/>
                  </a:cubicBezTo>
                  <a:cubicBezTo>
                    <a:pt x="91678" y="84215"/>
                    <a:pt x="84215" y="91678"/>
                    <a:pt x="75009" y="91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25568" y="4660582"/>
              <a:ext cx="1692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CI/CD 无头集成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7092" y="49787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 小时/天 → 24 小时/天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1485900"/>
            <a:ext cx="3619500" cy="4057650"/>
            <a:chOff x="8191500" y="1485900"/>
            <a:chExt cx="3619500" cy="4057650"/>
          </a:xfrm>
        </p:grpSpPr>
        <p:sp>
          <p:nvSpPr>
            <p:cNvPr id="42" name="Rectangle 42"/>
            <p:cNvSpPr/>
            <p:nvPr/>
          </p:nvSpPr>
          <p:spPr>
            <a:xfrm>
              <a:off x="8191500" y="1485900"/>
              <a:ext cx="3619500" cy="57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41582" y="1612582"/>
              <a:ext cx="17193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★★★ 按需进阶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2057400"/>
              <a:ext cx="3619500" cy="3486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420100" y="22669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66688" y="58341"/>
                  </a:moveTo>
                  <a:lnTo>
                    <a:pt x="217662" y="7366"/>
                  </a:lnTo>
                  <a:cubicBezTo>
                    <a:pt x="207199" y="2634"/>
                    <a:pt x="195586" y="0"/>
                    <a:pt x="183356" y="0"/>
                  </a:cubicBezTo>
                  <a:cubicBezTo>
                    <a:pt x="137327" y="0"/>
                    <a:pt x="100012" y="37314"/>
                    <a:pt x="100012" y="83344"/>
                  </a:cubicBezTo>
                  <a:cubicBezTo>
                    <a:pt x="100012" y="90978"/>
                    <a:pt x="101039" y="98373"/>
                    <a:pt x="102962" y="105398"/>
                  </a:cubicBezTo>
                  <a:lnTo>
                    <a:pt x="0" y="208359"/>
                  </a:lnTo>
                  <a:lnTo>
                    <a:pt x="58341" y="266700"/>
                  </a:lnTo>
                  <a:lnTo>
                    <a:pt x="161302" y="163738"/>
                  </a:lnTo>
                  <a:cubicBezTo>
                    <a:pt x="168326" y="165661"/>
                    <a:pt x="175722" y="166688"/>
                    <a:pt x="183356" y="166688"/>
                  </a:cubicBezTo>
                  <a:cubicBezTo>
                    <a:pt x="229385" y="166688"/>
                    <a:pt x="266700" y="129373"/>
                    <a:pt x="266700" y="83344"/>
                  </a:cubicBezTo>
                  <a:cubicBezTo>
                    <a:pt x="266700" y="71114"/>
                    <a:pt x="264066" y="59500"/>
                    <a:pt x="259334" y="49037"/>
                  </a:cubicBezTo>
                  <a:lnTo>
                    <a:pt x="208359" y="100012"/>
                  </a:lnTo>
                  <a:lnTo>
                    <a:pt x="166688" y="100012"/>
                  </a:lnTo>
                  <a:lnTo>
                    <a:pt x="166688" y="583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30818" y="2317432"/>
              <a:ext cx="17787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接外部系统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3234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报错不再人肉搬运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453438" y="304800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33338" y="100012"/>
                  </a:moveTo>
                  <a:lnTo>
                    <a:pt x="33338" y="66675"/>
                  </a:lnTo>
                  <a:cubicBezTo>
                    <a:pt x="33338" y="29851"/>
                    <a:pt x="63189" y="0"/>
                    <a:pt x="100012" y="0"/>
                  </a:cubicBezTo>
                  <a:cubicBezTo>
                    <a:pt x="136835" y="0"/>
                    <a:pt x="166688" y="29851"/>
                    <a:pt x="166688" y="66675"/>
                  </a:cubicBezTo>
                  <a:lnTo>
                    <a:pt x="166688" y="100012"/>
                  </a:lnTo>
                  <a:lnTo>
                    <a:pt x="200025" y="100012"/>
                  </a:lnTo>
                  <a:lnTo>
                    <a:pt x="200025" y="266700"/>
                  </a:lnTo>
                  <a:lnTo>
                    <a:pt x="0" y="266700"/>
                  </a:lnTo>
                  <a:lnTo>
                    <a:pt x="0" y="100012"/>
                  </a:lnTo>
                  <a:lnTo>
                    <a:pt x="33338" y="100012"/>
                  </a:lnTo>
                  <a:close/>
                  <a:moveTo>
                    <a:pt x="66675" y="66675"/>
                  </a:moveTo>
                  <a:cubicBezTo>
                    <a:pt x="66675" y="48263"/>
                    <a:pt x="81601" y="33338"/>
                    <a:pt x="100012" y="33338"/>
                  </a:cubicBezTo>
                  <a:cubicBezTo>
                    <a:pt x="118424" y="33338"/>
                    <a:pt x="133350" y="48263"/>
                    <a:pt x="133350" y="66675"/>
                  </a:cubicBezTo>
                  <a:lnTo>
                    <a:pt x="133350" y="100012"/>
                  </a:lnTo>
                  <a:lnTo>
                    <a:pt x="66675" y="100012"/>
                  </a:lnTo>
                  <a:lnTo>
                    <a:pt x="66675" y="66675"/>
                  </a:lnTo>
                  <a:close/>
                  <a:moveTo>
                    <a:pt x="83344" y="216694"/>
                  </a:moveTo>
                  <a:lnTo>
                    <a:pt x="83344" y="150019"/>
                  </a:lnTo>
                  <a:lnTo>
                    <a:pt x="116681" y="150019"/>
                  </a:lnTo>
                  <a:lnTo>
                    <a:pt x="116681" y="216694"/>
                  </a:lnTo>
                  <a:lnTo>
                    <a:pt x="83344" y="2166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30818" y="309848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Hooks 强制护栏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32342" y="34166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"请遵守" vs "违反就拦截"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445103" y="3829050"/>
              <a:ext cx="216694" cy="266700"/>
            </a:xfrm>
            <a:custGeom>
              <a:avLst/>
              <a:gdLst/>
              <a:ahLst/>
              <a:cxnLst/>
              <a:rect l="l" t="t" r="r" b="b"/>
              <a:pathLst>
                <a:path w="216694" h="266700">
                  <a:moveTo>
                    <a:pt x="58341" y="79876"/>
                  </a:moveTo>
                  <a:cubicBezTo>
                    <a:pt x="73058" y="73446"/>
                    <a:pt x="83344" y="58760"/>
                    <a:pt x="83344" y="41672"/>
                  </a:cubicBezTo>
                  <a:cubicBezTo>
                    <a:pt x="83344" y="18657"/>
                    <a:pt x="64687" y="0"/>
                    <a:pt x="41672" y="0"/>
                  </a:cubicBezTo>
                  <a:cubicBezTo>
                    <a:pt x="18657" y="0"/>
                    <a:pt x="0" y="18657"/>
                    <a:pt x="0" y="41672"/>
                  </a:cubicBezTo>
                  <a:cubicBezTo>
                    <a:pt x="0" y="58760"/>
                    <a:pt x="10285" y="73446"/>
                    <a:pt x="25003" y="79876"/>
                  </a:cubicBezTo>
                  <a:lnTo>
                    <a:pt x="25003" y="186823"/>
                  </a:lnTo>
                  <a:cubicBezTo>
                    <a:pt x="10285" y="193254"/>
                    <a:pt x="0" y="207939"/>
                    <a:pt x="0" y="225028"/>
                  </a:cubicBezTo>
                  <a:cubicBezTo>
                    <a:pt x="0" y="248043"/>
                    <a:pt x="18657" y="266700"/>
                    <a:pt x="41672" y="266700"/>
                  </a:cubicBezTo>
                  <a:cubicBezTo>
                    <a:pt x="64687" y="266700"/>
                    <a:pt x="83344" y="248043"/>
                    <a:pt x="83344" y="225028"/>
                  </a:cubicBezTo>
                  <a:cubicBezTo>
                    <a:pt x="83344" y="207939"/>
                    <a:pt x="73058" y="193254"/>
                    <a:pt x="58341" y="186823"/>
                  </a:cubicBezTo>
                  <a:lnTo>
                    <a:pt x="58341" y="150019"/>
                  </a:lnTo>
                  <a:lnTo>
                    <a:pt x="191691" y="150019"/>
                  </a:lnTo>
                  <a:lnTo>
                    <a:pt x="191691" y="79876"/>
                  </a:lnTo>
                  <a:cubicBezTo>
                    <a:pt x="206409" y="73446"/>
                    <a:pt x="216694" y="58760"/>
                    <a:pt x="216694" y="41672"/>
                  </a:cubicBezTo>
                  <a:cubicBezTo>
                    <a:pt x="216694" y="18657"/>
                    <a:pt x="198036" y="0"/>
                    <a:pt x="175022" y="0"/>
                  </a:cubicBezTo>
                  <a:cubicBezTo>
                    <a:pt x="152007" y="0"/>
                    <a:pt x="133350" y="18657"/>
                    <a:pt x="133350" y="41672"/>
                  </a:cubicBezTo>
                  <a:cubicBezTo>
                    <a:pt x="133350" y="58760"/>
                    <a:pt x="143635" y="73446"/>
                    <a:pt x="158353" y="79876"/>
                  </a:cubicBezTo>
                  <a:lnTo>
                    <a:pt x="158353" y="116681"/>
                  </a:lnTo>
                  <a:lnTo>
                    <a:pt x="58341" y="116681"/>
                  </a:lnTo>
                  <a:lnTo>
                    <a:pt x="58341" y="798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830818" y="3879532"/>
              <a:ext cx="2092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worktree 并行开发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32342" y="4197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多会话互不踩踏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420100" y="464343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0" y="100012"/>
                  </a:moveTo>
                  <a:lnTo>
                    <a:pt x="51331" y="38416"/>
                  </a:lnTo>
                  <a:cubicBezTo>
                    <a:pt x="71615" y="14074"/>
                    <a:pt x="101664" y="0"/>
                    <a:pt x="133350" y="0"/>
                  </a:cubicBezTo>
                  <a:cubicBezTo>
                    <a:pt x="165036" y="0"/>
                    <a:pt x="195084" y="14074"/>
                    <a:pt x="215370" y="38416"/>
                  </a:cubicBezTo>
                  <a:lnTo>
                    <a:pt x="266700" y="100012"/>
                  </a:lnTo>
                  <a:lnTo>
                    <a:pt x="215370" y="161609"/>
                  </a:lnTo>
                  <a:cubicBezTo>
                    <a:pt x="195084" y="185952"/>
                    <a:pt x="165036" y="200025"/>
                    <a:pt x="133350" y="200025"/>
                  </a:cubicBezTo>
                  <a:cubicBezTo>
                    <a:pt x="101664" y="200025"/>
                    <a:pt x="71615" y="185952"/>
                    <a:pt x="51331" y="161609"/>
                  </a:cubicBezTo>
                  <a:lnTo>
                    <a:pt x="0" y="100012"/>
                  </a:lnTo>
                  <a:close/>
                  <a:moveTo>
                    <a:pt x="133350" y="150019"/>
                  </a:moveTo>
                  <a:cubicBezTo>
                    <a:pt x="160968" y="150019"/>
                    <a:pt x="183356" y="127630"/>
                    <a:pt x="183356" y="100012"/>
                  </a:cubicBezTo>
                  <a:cubicBezTo>
                    <a:pt x="183356" y="72395"/>
                    <a:pt x="160968" y="50006"/>
                    <a:pt x="133350" y="50006"/>
                  </a:cubicBezTo>
                  <a:cubicBezTo>
                    <a:pt x="105732" y="50006"/>
                    <a:pt x="83344" y="72395"/>
                    <a:pt x="83344" y="100012"/>
                  </a:cubicBezTo>
                  <a:cubicBezTo>
                    <a:pt x="83344" y="127630"/>
                    <a:pt x="105732" y="150019"/>
                    <a:pt x="133350" y="1500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30818" y="46605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无人值守模式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32342" y="49787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慎用需授权 + 事后全量验证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15407" y="5800725"/>
            <a:ext cx="7961186" cy="293370"/>
            <a:chOff x="2115407" y="5800725"/>
            <a:chExt cx="7961186" cy="293370"/>
          </a:xfrm>
        </p:grpSpPr>
        <p:sp>
          <p:nvSpPr>
            <p:cNvPr id="58" name="TextBox 58"/>
            <p:cNvSpPr txBox="1"/>
            <p:nvPr/>
          </p:nvSpPr>
          <p:spPr>
            <a:xfrm>
              <a:off x="2115407" y="5800725"/>
              <a:ext cx="7961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定位是工具书：今天记住"有这么个东西"就够，用到时回手册第 5 章查——不必从头读到尾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60" name="Line 6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17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775291" cy="819150"/>
            <a:chOff x="381000" y="537210"/>
            <a:chExt cx="8775291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5276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必用三招：手册 · 计划 · 上下文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74142" y="1504950"/>
            <a:ext cx="3626358" cy="4004501"/>
            <a:chOff x="374142" y="1504950"/>
            <a:chExt cx="3626358" cy="4004501"/>
          </a:xfrm>
        </p:grpSpPr>
        <p:sp>
          <p:nvSpPr>
            <p:cNvPr id="5" name="Rectangle 5"/>
            <p:cNvSpPr/>
            <p:nvPr/>
          </p:nvSpPr>
          <p:spPr>
            <a:xfrm>
              <a:off x="381000" y="1504950"/>
              <a:ext cx="28575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57948" y="1552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0006" y="1558290"/>
              <a:ext cx="2524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CLAUDE.md 六节结构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943100"/>
              <a:ext cx="36195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2124075"/>
              <a:ext cx="150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## 技术栈与约束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2543175"/>
              <a:ext cx="1307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## 强制工作流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29622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## 代码规范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33813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## 常用命令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980" y="38004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## 目录速查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195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## 安全红线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142" y="4997768"/>
              <a:ext cx="287693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每次会话自动加载；变更走 PR 评审，与代码同等待遇——它是"给 AI 的代码"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78630" y="1504950"/>
            <a:ext cx="3627120" cy="4004501"/>
            <a:chOff x="4278630" y="1504950"/>
            <a:chExt cx="3627120" cy="4004501"/>
          </a:xfrm>
        </p:grpSpPr>
        <p:sp>
          <p:nvSpPr>
            <p:cNvPr id="17" name="Rectangle 17"/>
            <p:cNvSpPr/>
            <p:nvPr/>
          </p:nvSpPr>
          <p:spPr>
            <a:xfrm>
              <a:off x="4286250" y="1504950"/>
              <a:ext cx="28575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63198" y="1552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5256" y="1558290"/>
              <a:ext cx="23276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计划模式 Plan Mode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86250" y="1943100"/>
              <a:ext cx="36195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06333" y="2148840"/>
              <a:ext cx="1979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Shift + Tab 进入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8630" y="280987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只读分析、产出计划——你批准前，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8630" y="30765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它一个文件都不会改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8630" y="35337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超过半小时的任务，都从计划模式开始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78630" y="399097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难题（并发 bug / 架构权衡）加一句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8630" y="42576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"深入思考"——用时间换质量的旋钮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79392" y="4997768"/>
              <a:ext cx="243116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批准计划 = 冻结范围，"顺手改了不该改的"从源头堵死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83880" y="1504950"/>
            <a:ext cx="3627120" cy="4004501"/>
            <a:chOff x="8183880" y="1504950"/>
            <a:chExt cx="3627120" cy="4004501"/>
          </a:xfrm>
        </p:grpSpPr>
        <p:sp>
          <p:nvSpPr>
            <p:cNvPr id="29" name="Rectangle 29"/>
            <p:cNvSpPr/>
            <p:nvPr/>
          </p:nvSpPr>
          <p:spPr>
            <a:xfrm>
              <a:off x="8191500" y="1504950"/>
              <a:ext cx="28575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68448" y="1552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0506" y="1558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上下文管理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3880" y="204787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一任务一会话，</a:t>
              </a:r>
              <a:r>
                <a:rPr lang="en-US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/clear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最常用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3880" y="2466975"/>
              <a:ext cx="3427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长会话主动 </a:t>
              </a:r>
              <a:r>
                <a:rPr lang="en-US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/compact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，别等自动截断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3880" y="288607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阶段结论写进 docs/——下个会话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3880" y="31527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读文档，不重新探索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91500" y="3657600"/>
              <a:ext cx="3619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12480" y="3819525"/>
              <a:ext cx="2973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密钥类文件：settings.json 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12480" y="4086225"/>
              <a:ext cx="2305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permissions.deny 硬拦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3242" y="444531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.claudeignore 零效力——见到就删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84642" y="4997768"/>
              <a:ext cx="301409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不索引仓库、一切按需检索；deny 在工具调用层拒绝，想读也读不到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5715000"/>
            <a:ext cx="11430000" cy="381000"/>
            <a:chOff x="381000" y="5715000"/>
            <a:chExt cx="11430000" cy="381000"/>
          </a:xfrm>
        </p:grpSpPr>
        <p:sp>
          <p:nvSpPr>
            <p:cNvPr id="42" name="Rectangle 42"/>
            <p:cNvSpPr/>
            <p:nvPr/>
          </p:nvSpPr>
          <p:spPr>
            <a:xfrm>
              <a:off x="381000" y="5715000"/>
              <a:ext cx="11430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09408" y="5800725"/>
              <a:ext cx="5973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三招都不需要装任何插件——今天回去就能配，一次投入长期受益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45" name="Line 45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18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576751" cy="819150"/>
            <a:chOff x="381000" y="537210"/>
            <a:chExt cx="9576751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32910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第一个该建的命令：/daily-report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1485900"/>
            <a:ext cx="5334000" cy="2743200"/>
            <a:chOff x="381000" y="1485900"/>
            <a:chExt cx="5334000" cy="2743200"/>
          </a:xfrm>
        </p:grpSpPr>
        <p:sp>
          <p:nvSpPr>
            <p:cNvPr id="5" name="Rectangle 5"/>
            <p:cNvSpPr/>
            <p:nvPr/>
          </p:nvSpPr>
          <p:spPr>
            <a:xfrm>
              <a:off x="381000" y="1485900"/>
              <a:ext cx="5334000" cy="274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742" y="1721168"/>
              <a:ext cx="394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&lt;!-- .claude/commands/daily-report.md --&gt;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1621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扫描本项目今日 git 提交记录，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25431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按模块归类生成工作日报，格式：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9241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【项目】…【内容】…【进度】…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33051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经我确认后调用上报接口提交。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81666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3DC"/>
                  </a:solidFill>
                  <a:latin typeface="Consolas"/>
                  <a:ea typeface="Microsoft YaHei"/>
                  <a:cs typeface="Consolas"/>
                </a:rPr>
                <a:t># 周报同理："今日"改"本周"即可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72618" y="4603432"/>
            <a:ext cx="4397883" cy="900113"/>
            <a:chOff x="372618" y="4603432"/>
            <a:chExt cx="4397883" cy="900113"/>
          </a:xfrm>
        </p:grpSpPr>
        <p:sp>
          <p:nvSpPr>
            <p:cNvPr id="13" name="TextBox 13"/>
            <p:cNvSpPr txBox="1"/>
            <p:nvPr/>
          </p:nvSpPr>
          <p:spPr>
            <a:xfrm>
              <a:off x="372618" y="4603432"/>
              <a:ext cx="40283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为什么有效：打的不是"写"，是"回忆"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380" y="4943475"/>
              <a:ext cx="4397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提交记录本来就是你这一天最准确、最完整的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380" y="5210175"/>
              <a:ext cx="3525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工作日志——AI 把"回忆"变成了"扫描"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77356" y="1558290"/>
            <a:ext cx="3919347" cy="2497455"/>
            <a:chOff x="6277356" y="1558290"/>
            <a:chExt cx="3919347" cy="2497455"/>
          </a:xfrm>
        </p:grpSpPr>
        <p:sp>
          <p:nvSpPr>
            <p:cNvPr id="17" name="TextBox 17"/>
            <p:cNvSpPr txBox="1"/>
            <p:nvPr/>
          </p:nvSpPr>
          <p:spPr>
            <a:xfrm>
              <a:off x="6277356" y="15582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照抄时别丢的三个设计要点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8880" y="2047875"/>
              <a:ext cx="3241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必须人工确认后才上报——对外动作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6530" y="23145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一旦发出无法撤回，人按最后一个按钮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8880" y="2771775"/>
              <a:ext cx="3665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进 .claude/commands/ 随仓库分发——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26530" y="3038475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不是个人技巧，是全组 clone 即得的资产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8880" y="3495675"/>
              <a:ext cx="3443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口径写死在命令里——项目名、格式、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26530" y="37623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接口、扫描范围固定，不用每次再教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4514850"/>
            <a:ext cx="5524500" cy="1143000"/>
            <a:chOff x="6286500" y="4514850"/>
            <a:chExt cx="55245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6286500" y="4514850"/>
              <a:ext cx="5524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05194" y="4685348"/>
              <a:ext cx="26521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 分钟 → 1 分钟 / 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7480" y="50768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每月 ≈5.7 小时，接近一个工作日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8242" y="537876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零风险、当天见效、单项回本——团队推广第一站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0" name="Line 3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19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7520510" cy="819150"/>
            <a:chOff x="381000" y="537210"/>
            <a:chExt cx="7520510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27286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 经济学与止损三件套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2618" y="1460182"/>
            <a:ext cx="7923232" cy="322707"/>
            <a:chOff x="372618" y="1460182"/>
            <a:chExt cx="7923232" cy="322707"/>
          </a:xfrm>
        </p:grpSpPr>
        <p:sp>
          <p:nvSpPr>
            <p:cNvPr id="5" name="TextBox 5"/>
            <p:cNvSpPr txBox="1"/>
            <p:nvPr/>
          </p:nvSpPr>
          <p:spPr>
            <a:xfrm>
              <a:off x="372618" y="1460182"/>
              <a:ext cx="7923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核心洞察：省 token 和提质量是同一件事——让每个 token 只为"新信息"付费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1856" y="2015490"/>
            <a:ext cx="4759338" cy="3589211"/>
            <a:chOff x="371856" y="2015490"/>
            <a:chExt cx="4759338" cy="3589211"/>
          </a:xfrm>
        </p:grpSpPr>
        <p:sp>
          <p:nvSpPr>
            <p:cNvPr id="7" name="TextBox 7"/>
            <p:cNvSpPr txBox="1"/>
            <p:nvPr/>
          </p:nvSpPr>
          <p:spPr>
            <a:xfrm>
              <a:off x="371856" y="20154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四个省钱不降质的习惯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3380" y="2505075"/>
              <a:ext cx="4003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上下文卫生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——别贴大段日志，让 AI 自己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1030" y="2771775"/>
              <a:ext cx="4265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Grep；文本贴文字不贴截图（~200 vs 1000+）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380" y="3190875"/>
              <a:ext cx="3517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记忆外化成文件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——对话是易失内存，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1030" y="34575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文件是硬盘：写一次，读无数次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3380" y="3876675"/>
              <a:ext cx="3295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子代理隔离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——垃圾细节用完即弃，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1030" y="4143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主会话（最贵的资产）只收结论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380" y="4562475"/>
              <a:ext cx="3688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一次说清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——三要素一次给全；挤牙膏式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1030" y="48291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往返，每一轮都在为全部历史重复付费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142" y="534066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机械任务可显式用小模型——省要省得明白，不接受静默降级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77356" y="2015490"/>
            <a:ext cx="5533644" cy="3817811"/>
            <a:chOff x="6277356" y="2015490"/>
            <a:chExt cx="5533644" cy="3817811"/>
          </a:xfrm>
        </p:grpSpPr>
        <p:sp>
          <p:nvSpPr>
            <p:cNvPr id="18" name="TextBox 18"/>
            <p:cNvSpPr txBox="1"/>
            <p:nvPr/>
          </p:nvSpPr>
          <p:spPr>
            <a:xfrm>
              <a:off x="6277356" y="20154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止损三件套：止损比修补便宜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2400300"/>
              <a:ext cx="55245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7480" y="2581275"/>
              <a:ext cx="2629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刚开始跑偏 → 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Esc 立刻打断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08242" y="29213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错误产出、纠正、重来三份内容都计费，还污染推理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3429000"/>
              <a:ext cx="55245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7480" y="3609975"/>
              <a:ext cx="3248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文件改砸了 → </a:t>
              </a:r>
              <a:r>
                <a:rPr lang="en-US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/rewind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检查点回退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8242" y="3950018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只回文件状态、会话不重建——比 git 回退更轻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0" y="4457700"/>
              <a:ext cx="55245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07480" y="4638675"/>
              <a:ext cx="3905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错得离谱 → git 回退 + </a:t>
              </a:r>
              <a:r>
                <a:rPr lang="en-US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/clear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带教训重开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8242" y="4978718"/>
              <a:ext cx="4230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同会话"对话式修补"更贵且更差——它带着失败的惯性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9642" y="55692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同一任务集中连续推进可命中提示缓存，比零碎聊一天便宜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0" name="Line 3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597189" cy="819150"/>
            <a:chOff x="381000" y="537210"/>
            <a:chExt cx="859718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多角色评审：性价比最高的一招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" y="1428750"/>
            <a:ext cx="11430000" cy="1143000"/>
            <a:chOff x="381000" y="1428750"/>
            <a:chExt cx="11430000" cy="1143000"/>
          </a:xfrm>
        </p:grpSpPr>
        <p:sp>
          <p:nvSpPr>
            <p:cNvPr id="5" name="Rectangle 5"/>
            <p:cNvSpPr/>
            <p:nvPr/>
          </p:nvSpPr>
          <p:spPr>
            <a:xfrm>
              <a:off x="381000" y="1428750"/>
              <a:ext cx="114300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742" y="162591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&gt; 提示词（照抄可用）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952625"/>
              <a:ext cx="7763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用 5 个子代理分别以 PM/架构师/前端/后端/测试 的视角评审 docs/specs/xxx.md，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2257425"/>
              <a:ext cx="7781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各自输出：CONFIRMED 问题（有证据）/ 建议 / 放行结论。汇总后给我终审意见。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71856" y="2929890"/>
            <a:ext cx="2662047" cy="2135505"/>
            <a:chOff x="371856" y="2929890"/>
            <a:chExt cx="2662047" cy="2135505"/>
          </a:xfrm>
        </p:grpSpPr>
        <p:sp>
          <p:nvSpPr>
            <p:cNvPr id="10" name="TextBox 10"/>
            <p:cNvSpPr txBox="1"/>
            <p:nvPr/>
          </p:nvSpPr>
          <p:spPr>
            <a:xfrm>
              <a:off x="371856" y="2929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为什么有效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380" y="34004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单一视角有盲区——角色提示词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33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强制切换关注面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3380" y="408622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多个独立上下文互不干扰——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380" y="4352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相当于真开一场评审会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380" y="47720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但成本只是几分钟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7356" y="2929890"/>
            <a:ext cx="4439412" cy="2040255"/>
            <a:chOff x="6277356" y="2929890"/>
            <a:chExt cx="4439412" cy="2040255"/>
          </a:xfrm>
        </p:grpSpPr>
        <p:sp>
          <p:nvSpPr>
            <p:cNvPr id="17" name="TextBox 17"/>
            <p:cNvSpPr txBox="1"/>
            <p:nvPr/>
          </p:nvSpPr>
          <p:spPr>
            <a:xfrm>
              <a:off x="6277356" y="2929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真实战绩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8880" y="3381375"/>
              <a:ext cx="4437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商机平台：联调前抓到"方案匹配"前后端都没做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1280" y="3648075"/>
              <a:ext cx="4239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 P0——假数据写死在页面里，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工具扫不出来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8880" y="4029075"/>
              <a:ext cx="4412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工单系统：六角色走查一轮挖出 3 个 P0 漏洞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8880" y="4410075"/>
              <a:ext cx="36099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状态机简化：五角色一致放行才实施，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1280" y="46767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删掉 8 个死状态、零回归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5410200"/>
            <a:ext cx="11430000" cy="571500"/>
            <a:chOff x="381000" y="5410200"/>
            <a:chExt cx="11430000" cy="571500"/>
          </a:xfrm>
        </p:grpSpPr>
        <p:sp>
          <p:nvSpPr>
            <p:cNvPr id="24" name="Rectangle 24"/>
            <p:cNvSpPr/>
            <p:nvPr/>
          </p:nvSpPr>
          <p:spPr>
            <a:xfrm>
              <a:off x="381000" y="5410200"/>
              <a:ext cx="114300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29613" y="5554980"/>
              <a:ext cx="83327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多角色评审不是流程中的某一步，而是每个阶段产物的收口门禁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7" name="Line 27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21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10855391" cy="819150"/>
            <a:chOff x="381000" y="537210"/>
            <a:chExt cx="10855391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106077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机制三：一个模块打穿，N 路并行镜像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1619250"/>
            <a:ext cx="11391900" cy="1619250"/>
            <a:chOff x="381000" y="1619250"/>
            <a:chExt cx="11391900" cy="1619250"/>
          </a:xfrm>
        </p:grpSpPr>
        <p:sp>
          <p:nvSpPr>
            <p:cNvPr id="5" name="Rectangle 5"/>
            <p:cNvSpPr/>
            <p:nvPr/>
          </p:nvSpPr>
          <p:spPr>
            <a:xfrm>
              <a:off x="381000" y="1619250"/>
              <a:ext cx="25908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742" y="1816418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091690"/>
              <a:ext cx="158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打穿 1 个模块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2464118"/>
              <a:ext cx="216541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主会话走完全流程门禁，范式+约束沉淀成 SSOT 样板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048000" y="2428875"/>
              <a:ext cx="1905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14700" y="1619250"/>
              <a:ext cx="259080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36442" y="1816418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4156" y="209169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路子代理镜像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36442" y="24641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各自只改自己模块的文件，按文件互斥切分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981700" y="2428875"/>
              <a:ext cx="1905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1619250"/>
              <a:ext cx="259080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142" y="1816418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8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共享资源中心化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142" y="2464118"/>
              <a:ext cx="225971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locale 等共享文件片段回传，主会话统一合并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915400" y="2428875"/>
              <a:ext cx="190500" cy="1"/>
            </a:xfrm>
            <a:prstGeom prst="line">
              <a:avLst/>
            </a:prstGeom>
            <a:noFill/>
            <a:ln w="19050">
              <a:solidFill>
                <a:schemeClr val="dk2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82100" y="1619250"/>
              <a:ext cx="25908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03842" y="1816418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015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中心化门禁收口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842" y="2464118"/>
              <a:ext cx="21396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统一跑 typecheck / 编译，专职修复子代理清偏差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1856" y="3806190"/>
            <a:ext cx="11439144" cy="1051560"/>
            <a:chOff x="371856" y="3806190"/>
            <a:chExt cx="11439144" cy="1051560"/>
          </a:xfrm>
        </p:grpSpPr>
        <p:sp>
          <p:nvSpPr>
            <p:cNvPr id="25" name="TextBox 25"/>
            <p:cNvSpPr txBox="1"/>
            <p:nvPr/>
          </p:nvSpPr>
          <p:spPr>
            <a:xfrm>
              <a:off x="371856" y="3806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两条铁律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4191000"/>
              <a:ext cx="5524500" cy="666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0392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1000" y="4191000"/>
              <a:ext cx="76200" cy="6667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6656" y="44157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子代理只写码、不跑门禁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4191000"/>
              <a:ext cx="5524500" cy="666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0392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86500" y="4191000"/>
              <a:ext cx="76200" cy="6667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2156" y="44157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共享文件绝不并行改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09575" y="5219700"/>
            <a:ext cx="10966399" cy="689801"/>
            <a:chOff x="409575" y="5219700"/>
            <a:chExt cx="10966399" cy="689801"/>
          </a:xfrm>
        </p:grpSpPr>
        <p:sp>
          <p:nvSpPr>
            <p:cNvPr id="33" name="Freeform 33"/>
            <p:cNvSpPr/>
            <p:nvPr/>
          </p:nvSpPr>
          <p:spPr>
            <a:xfrm>
              <a:off x="409575" y="52197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66675" y="91287"/>
                  </a:moveTo>
                  <a:cubicBezTo>
                    <a:pt x="83495" y="83938"/>
                    <a:pt x="95250" y="67154"/>
                    <a:pt x="95250" y="47625"/>
                  </a:cubicBezTo>
                  <a:cubicBezTo>
                    <a:pt x="95250" y="21322"/>
                    <a:pt x="73928" y="0"/>
                    <a:pt x="47625" y="0"/>
                  </a:cubicBezTo>
                  <a:cubicBezTo>
                    <a:pt x="21322" y="0"/>
                    <a:pt x="0" y="21322"/>
                    <a:pt x="0" y="47625"/>
                  </a:cubicBezTo>
                  <a:cubicBezTo>
                    <a:pt x="0" y="67154"/>
                    <a:pt x="11755" y="83938"/>
                    <a:pt x="28575" y="91287"/>
                  </a:cubicBezTo>
                  <a:lnTo>
                    <a:pt x="28575" y="213512"/>
                  </a:lnTo>
                  <a:cubicBezTo>
                    <a:pt x="11755" y="220862"/>
                    <a:pt x="0" y="237645"/>
                    <a:pt x="0" y="257175"/>
                  </a:cubicBezTo>
                  <a:cubicBezTo>
                    <a:pt x="0" y="283477"/>
                    <a:pt x="21322" y="304800"/>
                    <a:pt x="47625" y="304800"/>
                  </a:cubicBezTo>
                  <a:cubicBezTo>
                    <a:pt x="73928" y="304800"/>
                    <a:pt x="95250" y="283477"/>
                    <a:pt x="95250" y="257175"/>
                  </a:cubicBezTo>
                  <a:cubicBezTo>
                    <a:pt x="95250" y="237645"/>
                    <a:pt x="83495" y="220862"/>
                    <a:pt x="66675" y="213512"/>
                  </a:cubicBezTo>
                  <a:lnTo>
                    <a:pt x="66675" y="171450"/>
                  </a:lnTo>
                  <a:lnTo>
                    <a:pt x="219075" y="171450"/>
                  </a:lnTo>
                  <a:lnTo>
                    <a:pt x="219075" y="91287"/>
                  </a:lnTo>
                  <a:cubicBezTo>
                    <a:pt x="235896" y="83938"/>
                    <a:pt x="247650" y="67154"/>
                    <a:pt x="247650" y="47625"/>
                  </a:cubicBezTo>
                  <a:cubicBezTo>
                    <a:pt x="247650" y="21322"/>
                    <a:pt x="226327" y="0"/>
                    <a:pt x="200025" y="0"/>
                  </a:cubicBezTo>
                  <a:cubicBezTo>
                    <a:pt x="173723" y="0"/>
                    <a:pt x="152400" y="21322"/>
                    <a:pt x="152400" y="47625"/>
                  </a:cubicBezTo>
                  <a:cubicBezTo>
                    <a:pt x="152400" y="67154"/>
                    <a:pt x="164154" y="83938"/>
                    <a:pt x="180975" y="91287"/>
                  </a:cubicBezTo>
                  <a:lnTo>
                    <a:pt x="180975" y="133350"/>
                  </a:lnTo>
                  <a:lnTo>
                    <a:pt x="66675" y="133350"/>
                  </a:lnTo>
                  <a:lnTo>
                    <a:pt x="66675" y="912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9056" y="5273040"/>
              <a:ext cx="105469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商机平台实测：前端 8 路并行，30 页三门禁全绿；后端 10 路并行，74+ 端点、离线 272 测试全绿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342" y="5645468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防「局部绿」各自为政、防共享文件覆盖冲突——纪律缺一环，并行就变返工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7" name="Line 37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22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7409840" cy="819150"/>
            <a:chOff x="381000" y="537210"/>
            <a:chExt cx="7409840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给代理配模型：省手不省眼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1000" y="1371600"/>
            <a:ext cx="11430000" cy="419100"/>
            <a:chOff x="381000" y="1371600"/>
            <a:chExt cx="11430000" cy="419100"/>
          </a:xfrm>
        </p:grpSpPr>
        <p:sp>
          <p:nvSpPr>
            <p:cNvPr id="5" name="Rectangle 5"/>
            <p:cNvSpPr/>
            <p:nvPr/>
          </p:nvSpPr>
          <p:spPr>
            <a:xfrm>
              <a:off x="381000" y="1371600"/>
              <a:ext cx="11430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08340" y="1485900"/>
              <a:ext cx="7975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子代理和 teammate 不继承主会话的模型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——不显式指定就是静默降级：不报错、不提示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72618" y="2145982"/>
            <a:ext cx="11438382" cy="2353819"/>
            <a:chOff x="372618" y="2145982"/>
            <a:chExt cx="11438382" cy="2353819"/>
          </a:xfrm>
        </p:grpSpPr>
        <p:sp>
          <p:nvSpPr>
            <p:cNvPr id="8" name="TextBox 8"/>
            <p:cNvSpPr txBox="1"/>
            <p:nvPr/>
          </p:nvSpPr>
          <p:spPr>
            <a:xfrm>
              <a:off x="372618" y="2145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6880" y="2162175"/>
              <a:ext cx="3538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终审 / 安全评审 / 架构评审 / 方案取舍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0" y="21717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26580" y="2162175"/>
              <a:ext cx="2387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最强档（Opus / Fable）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5267" y="2178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买的就是判断力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1000" y="25336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2618" y="27555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6880" y="277177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按已批准的计划写代码 + 测试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0" y="2781300"/>
              <a:ext cx="15240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26580" y="2771775"/>
              <a:ext cx="1577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中档（Sonnet）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75267" y="2787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判断已在计划里做完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81000" y="3143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2618" y="3365182"/>
              <a:ext cx="14511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 / 机械类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7880" y="3381375"/>
              <a:ext cx="3538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找文件 / 梳理调用链 / 批量改名 / 汇总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0" y="3390900"/>
              <a:ext cx="152400" cy="1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26580" y="3381375"/>
              <a:ext cx="1623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轻量档（Haiku）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5267" y="3397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要覆盖面不要深度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81000" y="37528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4142" y="3988118"/>
              <a:ext cx="965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量级：Haiku 比 Opus 便宜约 5 倍、比 Fable 约 10 倍（官方价目，截至 2026-07）——六角色评审"两个判断角色顶配 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4142" y="4235768"/>
              <a:ext cx="483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四个检索角色轻量档"，与全上顶配跑一天的额度差非常明显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3380" y="4695825"/>
            <a:ext cx="9283827" cy="617220"/>
            <a:chOff x="373380" y="4695825"/>
            <a:chExt cx="9283827" cy="617220"/>
          </a:xfrm>
        </p:grpSpPr>
        <p:sp>
          <p:nvSpPr>
            <p:cNvPr id="29" name="TextBox 29"/>
            <p:cNvSpPr txBox="1"/>
            <p:nvPr/>
          </p:nvSpPr>
          <p:spPr>
            <a:xfrm>
              <a:off x="373380" y="4695825"/>
              <a:ext cx="9077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第二个旋钮 effort（low~max）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：机械型开 low——少想、少绕、少输出；终审和难题留给 high 以上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3380" y="5019675"/>
              <a:ext cx="9283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配在哪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：写进 </a:t>
              </a:r>
              <a:r>
                <a:rPr lang="en-US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.claude/agents/*.md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frontmatter 随仓库走——全团队的"安全评审员"都是同一个档位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5448300"/>
            <a:ext cx="11430000" cy="613601"/>
            <a:chOff x="381000" y="5448300"/>
            <a:chExt cx="11430000" cy="613601"/>
          </a:xfrm>
        </p:grpSpPr>
        <p:sp>
          <p:nvSpPr>
            <p:cNvPr id="32" name="Rectangle 32"/>
            <p:cNvSpPr/>
            <p:nvPr/>
          </p:nvSpPr>
          <p:spPr>
            <a:xfrm>
              <a:off x="381000" y="5448300"/>
              <a:ext cx="11430000" cy="5715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72569" y="5501640"/>
              <a:ext cx="5246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铁律：省 token 省在"手"上，绝不省在"眼"上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63623" y="5797868"/>
              <a:ext cx="786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评审代理降档的最坏结果是一份看起来很专业的"通过"——假评审比不评审更危险，它让你停止怀疑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6" name="Line 36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23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7409840" cy="819150"/>
            <a:chOff x="381000" y="537210"/>
            <a:chExt cx="7409840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记忆四级阶梯：越用越懂你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1428750"/>
            <a:ext cx="11420475" cy="2385251"/>
            <a:chOff x="381000" y="1428750"/>
            <a:chExt cx="11420475" cy="2385251"/>
          </a:xfrm>
        </p:grpSpPr>
        <p:sp>
          <p:nvSpPr>
            <p:cNvPr id="5" name="Rectangle 5"/>
            <p:cNvSpPr/>
            <p:nvPr/>
          </p:nvSpPr>
          <p:spPr>
            <a:xfrm>
              <a:off x="381000" y="3143250"/>
              <a:ext cx="247650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7920" y="3250882"/>
              <a:ext cx="1742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记忆 memory/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9480" y="3549968"/>
              <a:ext cx="1799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软性 · AI 记得并参考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362325" y="2571750"/>
              <a:ext cx="2476500" cy="1238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83202" y="2679382"/>
              <a:ext cx="20347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规则 CLAUDE.md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1402" y="29784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硬性约定 · 每会话必守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343650" y="2000250"/>
              <a:ext cx="2476500" cy="1809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66154" y="2107882"/>
              <a:ext cx="1231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技能 Skill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2727" y="24069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方法论包 · 跨项目继承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324975" y="1428750"/>
              <a:ext cx="2476500" cy="2381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922126" y="1536382"/>
              <a:ext cx="12821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钩子 Hook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34052" y="18354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机器强制 · 违反即拦截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34818" y="3245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反复适用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25274" y="2673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跨项目通用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06600" y="2102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违反代价高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72618" y="4222432"/>
            <a:ext cx="4470197" cy="1267969"/>
            <a:chOff x="372618" y="4222432"/>
            <a:chExt cx="4470197" cy="1267969"/>
          </a:xfrm>
        </p:grpSpPr>
        <p:sp>
          <p:nvSpPr>
            <p:cNvPr id="21" name="TextBox 21"/>
            <p:cNvSpPr txBox="1"/>
            <p:nvPr/>
          </p:nvSpPr>
          <p:spPr>
            <a:xfrm>
              <a:off x="372618" y="42224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进化的两个触发器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3761" y="4608671"/>
              <a:ext cx="36519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289" indent="-153289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在里程碑节点主动提议"要不要沉淀"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4932521"/>
              <a:ext cx="34375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289" indent="-153289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你纠偏时花 30 秒说一句</a:t>
              </a: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"记住这一点"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4142" y="5226368"/>
              <a:ext cx="446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——同一个错误不犯第二次；错误的记忆要删除（GC）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78118" y="4222432"/>
            <a:ext cx="3942131" cy="1267969"/>
            <a:chOff x="6278118" y="4222432"/>
            <a:chExt cx="3942131" cy="1267969"/>
          </a:xfrm>
        </p:grpSpPr>
        <p:sp>
          <p:nvSpPr>
            <p:cNvPr id="26" name="TextBox 26"/>
            <p:cNvSpPr txBox="1"/>
            <p:nvPr/>
          </p:nvSpPr>
          <p:spPr>
            <a:xfrm>
              <a:off x="6278118" y="42224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纪律：先软后硬，能停就停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9261" y="4608671"/>
              <a:ext cx="3713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绝大多数约束停在 ①②；只有安全红线升 ④——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9261" y="4875371"/>
              <a:ext cx="3025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红线之所以是红线，是因为它稀少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9642" y="5226368"/>
              <a:ext cx="3940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每次升级人工确认，禁止 AI 自动改写规范文件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5581650"/>
            <a:ext cx="11430000" cy="476250"/>
            <a:chOff x="381000" y="5581650"/>
            <a:chExt cx="11430000" cy="476250"/>
          </a:xfrm>
        </p:grpSpPr>
        <p:sp>
          <p:nvSpPr>
            <p:cNvPr id="31" name="Rectangle 31"/>
            <p:cNvSpPr/>
            <p:nvPr/>
          </p:nvSpPr>
          <p:spPr>
            <a:xfrm>
              <a:off x="381000" y="5581650"/>
              <a:ext cx="11430000" cy="476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83413" y="5701665"/>
              <a:ext cx="9025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个项目踩的坑，第 4 个项目开工第一天全部免疫——经验的边际复制成本为零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4" name="Line 34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第三幕 · 技巧与进阶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24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381000" y="800100"/>
            <a:ext cx="11420475" cy="419100"/>
            <a:chOff x="381000" y="800100"/>
            <a:chExt cx="11420475" cy="419100"/>
          </a:xfrm>
        </p:grpSpPr>
        <p:sp>
          <p:nvSpPr>
            <p:cNvPr id="2" name="Rectangle 2"/>
            <p:cNvSpPr/>
            <p:nvPr/>
          </p:nvSpPr>
          <p:spPr>
            <a:xfrm>
              <a:off x="3810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68705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31457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47938" y="930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前三天与六步法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4815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6325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技巧与进阶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1725" y="800100"/>
              <a:ext cx="1752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60343" y="930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15300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3040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治理与算账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4887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3658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78971" y="3228975"/>
            <a:ext cx="3070079" cy="373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9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2950" y="2434590"/>
            <a:ext cx="10305440" cy="2023872"/>
            <a:chOff x="742950" y="2434590"/>
            <a:chExt cx="10305440" cy="2023872"/>
          </a:xfrm>
        </p:grpSpPr>
        <p:sp>
          <p:nvSpPr>
            <p:cNvPr id="16" name="Rectangle 16"/>
            <p:cNvSpPr/>
            <p:nvPr/>
          </p:nvSpPr>
          <p:spPr>
            <a:xfrm>
              <a:off x="762000" y="24574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5756" y="2434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3055620"/>
              <a:ext cx="996094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方法听着都对，真做得成吗？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808" y="3989070"/>
              <a:ext cx="102985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两个最新项目的证据：商机平台（0→1 全链路）· 工单系统（存量提效）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597189" cy="819150"/>
            <a:chOff x="381000" y="537210"/>
            <a:chExt cx="859718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商机平台：一个刻意苛刻的实验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1626" y="1809750"/>
            <a:ext cx="9540859" cy="1508951"/>
            <a:chOff x="821626" y="1809750"/>
            <a:chExt cx="9540859" cy="1508951"/>
          </a:xfrm>
        </p:grpSpPr>
        <p:grpSp>
          <p:nvGrpSpPr>
            <p:cNvPr id="9" name="Group 9"/>
            <p:cNvGrpSpPr/>
            <p:nvPr/>
          </p:nvGrpSpPr>
          <p:grpSpPr>
            <a:xfrm>
              <a:off x="1238250" y="1838325"/>
              <a:ext cx="457200" cy="400050"/>
              <a:chOff x="1238250" y="1838325"/>
              <a:chExt cx="457200" cy="4000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23975" y="18383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238250" y="2038350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0"/>
                    </a:moveTo>
                    <a:cubicBezTo>
                      <a:pt x="38381" y="0"/>
                      <a:pt x="0" y="38381"/>
                      <a:pt x="0" y="85725"/>
                    </a:cubicBezTo>
                    <a:lnTo>
                      <a:pt x="0" y="200025"/>
                    </a:lnTo>
                    <a:lnTo>
                      <a:pt x="228600" y="200025"/>
                    </a:lnTo>
                    <a:lnTo>
                      <a:pt x="228600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524000" y="2038350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71450" y="200025"/>
                    </a:lnTo>
                    <a:lnTo>
                      <a:pt x="171450" y="85725"/>
                    </a:lnTo>
                    <a:cubicBezTo>
                      <a:pt x="171450" y="38381"/>
                      <a:pt x="133071" y="0"/>
                      <a:pt x="857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24000" y="18669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cubicBezTo>
                      <a:pt x="88714" y="114300"/>
                      <a:pt x="114300" y="88713"/>
                      <a:pt x="114300" y="57150"/>
                    </a:cubicBezTo>
                    <a:cubicBezTo>
                      <a:pt x="114300" y="25587"/>
                      <a:pt x="88714" y="0"/>
                      <a:pt x="57150" y="0"/>
                    </a:cubicBezTo>
                    <a:cubicBezTo>
                      <a:pt x="25586" y="0"/>
                      <a:pt x="0" y="25587"/>
                      <a:pt x="0" y="57150"/>
                    </a:cubicBezTo>
                    <a:cubicBezTo>
                      <a:pt x="0" y="88713"/>
                      <a:pt x="25586" y="114300"/>
                      <a:pt x="57150" y="1143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821626" y="2453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一名开发者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391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对公司开发环境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5650" y="3054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不特别熟悉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88660" y="2215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3990975" y="183832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1450" y="0"/>
                  </a:moveTo>
                  <a:lnTo>
                    <a:pt x="85725" y="0"/>
                  </a:lnTo>
                  <a:lnTo>
                    <a:pt x="0" y="142875"/>
                  </a:lnTo>
                  <a:lnTo>
                    <a:pt x="0" y="400050"/>
                  </a:lnTo>
                  <a:lnTo>
                    <a:pt x="400050" y="400050"/>
                  </a:lnTo>
                  <a:lnTo>
                    <a:pt x="400050" y="142875"/>
                  </a:lnTo>
                  <a:lnTo>
                    <a:pt x="314325" y="0"/>
                  </a:lnTo>
                  <a:lnTo>
                    <a:pt x="228600" y="0"/>
                  </a:lnTo>
                  <a:lnTo>
                    <a:pt x="228600" y="142875"/>
                  </a:lnTo>
                  <a:lnTo>
                    <a:pt x="171450" y="142875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15015" y="2453640"/>
              <a:ext cx="1951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 skill 三件套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80090" y="28070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code-master / vue / java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43430" y="305466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 开发手册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2810" y="2215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743700" y="1809750"/>
              <a:ext cx="342900" cy="457200"/>
              <a:chOff x="6743700" y="1809750"/>
              <a:chExt cx="342900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858000" y="180975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114300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114300" y="8572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743700" y="1866900"/>
                <a:ext cx="3429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0005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400050"/>
                    </a:lnTo>
                    <a:lnTo>
                      <a:pt x="342900" y="400050"/>
                    </a:lnTo>
                    <a:lnTo>
                      <a:pt x="342900" y="0"/>
                    </a:lnTo>
                    <a:lnTo>
                      <a:pt x="285750" y="0"/>
                    </a:lnTo>
                    <a:lnTo>
                      <a:pt x="285750" y="85725"/>
                    </a:lnTo>
                    <a:lnTo>
                      <a:pt x="57150" y="857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375060" y="2453640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一份 PRD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8471" y="28070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 页原型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7602" y="305466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42 个功能点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6960" y="2215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9433352" y="1875270"/>
              <a:ext cx="405976" cy="363105"/>
              <a:chOff x="9433352" y="1875270"/>
              <a:chExt cx="405976" cy="36310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433352" y="1875270"/>
                <a:ext cx="203492" cy="326160"/>
              </a:xfrm>
              <a:custGeom>
                <a:avLst/>
                <a:gdLst/>
                <a:ahLst/>
                <a:cxnLst/>
                <a:rect l="l" t="t" r="r" b="b"/>
                <a:pathLst>
                  <a:path w="203492" h="326160">
                    <a:moveTo>
                      <a:pt x="0" y="285750"/>
                    </a:moveTo>
                    <a:lnTo>
                      <a:pt x="122669" y="163081"/>
                    </a:lnTo>
                    <a:lnTo>
                      <a:pt x="0" y="40411"/>
                    </a:lnTo>
                    <a:lnTo>
                      <a:pt x="40411" y="0"/>
                    </a:lnTo>
                    <a:lnTo>
                      <a:pt x="203492" y="163081"/>
                    </a:lnTo>
                    <a:lnTo>
                      <a:pt x="40411" y="32616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610727" y="2181225"/>
                <a:ext cx="22860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57150">
                    <a:moveTo>
                      <a:pt x="0" y="57150"/>
                    </a:moveTo>
                    <a:lnTo>
                      <a:pt x="228601" y="57150"/>
                    </a:lnTo>
                    <a:lnTo>
                      <a:pt x="228601" y="0"/>
                    </a:lnTo>
                    <a:lnTo>
                      <a:pt x="0" y="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916115" y="2453640"/>
              <a:ext cx="1446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Code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9636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唯一的生产工具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4000500"/>
            <a:ext cx="11430000" cy="1143000"/>
            <a:chOff x="381000" y="4000500"/>
            <a:chExt cx="11430000" cy="1143000"/>
          </a:xfrm>
        </p:grpSpPr>
        <p:sp>
          <p:nvSpPr>
            <p:cNvPr id="32" name="Rectangle 32"/>
            <p:cNvSpPr/>
            <p:nvPr/>
          </p:nvSpPr>
          <p:spPr>
            <a:xfrm>
              <a:off x="381000" y="4000500"/>
              <a:ext cx="114300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01574" y="420433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约束：全程不写一行手工代码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09009" y="472059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CBD3DC"/>
                  </a:solidFill>
                  <a:latin typeface="+mn-lt"/>
                  <a:ea typeface="+mn-ea"/>
                  <a:cs typeface="+mn-cs"/>
                </a:rPr>
                <a:t>一切由 AI 执行，人只做决策与把关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76526" y="5501640"/>
            <a:ext cx="8038948" cy="352044"/>
            <a:chOff x="2076526" y="5501640"/>
            <a:chExt cx="8038948" cy="352044"/>
          </a:xfrm>
        </p:grpSpPr>
        <p:sp>
          <p:nvSpPr>
            <p:cNvPr id="36" name="TextBox 36"/>
            <p:cNvSpPr txBox="1"/>
            <p:nvPr/>
          </p:nvSpPr>
          <p:spPr>
            <a:xfrm>
              <a:off x="2076526" y="5501640"/>
              <a:ext cx="80389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设定为什么苛刻？——就是要回答「那是你厉害，一般人用不起来」这句质疑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8" name="Line 38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26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517384" cy="819150"/>
            <a:chOff x="381000" y="537210"/>
            <a:chExt cx="9517384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26973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里程碑：骨架完成 → 30 页全量还原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000" y="1543050"/>
            <a:ext cx="10352989" cy="2228850"/>
            <a:chOff x="381000" y="1543050"/>
            <a:chExt cx="10352989" cy="2228850"/>
          </a:xfrm>
        </p:grpSpPr>
        <p:sp>
          <p:nvSpPr>
            <p:cNvPr id="5" name="Rectangle 5"/>
            <p:cNvSpPr/>
            <p:nvPr/>
          </p:nvSpPr>
          <p:spPr>
            <a:xfrm>
              <a:off x="381000" y="1543050"/>
              <a:ext cx="5781675" cy="222885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050" y="1562100"/>
              <a:ext cx="5743575" cy="2190750"/>
            </a:xfrm>
            <a:prstGeom prst="rect">
              <a:avLst/>
            </a:prstGeom>
          </p:spPr>
        </p:pic>
        <p:sp>
          <p:nvSpPr>
            <p:cNvPr id="7" name="Freeform 7"/>
            <p:cNvSpPr/>
            <p:nvPr/>
          </p:nvSpPr>
          <p:spPr>
            <a:xfrm>
              <a:off x="6688931" y="1926431"/>
              <a:ext cx="300038" cy="321469"/>
            </a:xfrm>
            <a:custGeom>
              <a:avLst/>
              <a:gdLst/>
              <a:ahLst/>
              <a:cxnLst/>
              <a:rect l="l" t="t" r="r" b="b"/>
              <a:pathLst>
                <a:path w="300038" h="321469">
                  <a:moveTo>
                    <a:pt x="0" y="0"/>
                  </a:moveTo>
                  <a:lnTo>
                    <a:pt x="0" y="321469"/>
                  </a:lnTo>
                  <a:lnTo>
                    <a:pt x="42862" y="321469"/>
                  </a:lnTo>
                  <a:lnTo>
                    <a:pt x="42862" y="192881"/>
                  </a:lnTo>
                  <a:lnTo>
                    <a:pt x="128588" y="192881"/>
                  </a:lnTo>
                  <a:lnTo>
                    <a:pt x="171450" y="235744"/>
                  </a:lnTo>
                  <a:lnTo>
                    <a:pt x="300038" y="235744"/>
                  </a:lnTo>
                  <a:lnTo>
                    <a:pt x="300038" y="42862"/>
                  </a:lnTo>
                  <a:lnTo>
                    <a:pt x="171450" y="42862"/>
                  </a:lnTo>
                  <a:lnTo>
                    <a:pt x="1285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53656" y="19773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里程碑一：前后端框架骨架完成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0642" y="2445068"/>
              <a:ext cx="266261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一句话开场自动拉起前后端，编译 / 启动 / SSO 登录全部跑通，AI 自修编译与启动问题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3924300"/>
            <a:ext cx="9820626" cy="2228850"/>
            <a:chOff x="381000" y="3924300"/>
            <a:chExt cx="9820626" cy="2228850"/>
          </a:xfrm>
        </p:grpSpPr>
        <p:sp>
          <p:nvSpPr>
            <p:cNvPr id="11" name="Rectangle 11"/>
            <p:cNvSpPr/>
            <p:nvPr/>
          </p:nvSpPr>
          <p:spPr>
            <a:xfrm>
              <a:off x="381000" y="3924300"/>
              <a:ext cx="4572000" cy="222885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3945984"/>
              <a:ext cx="4533900" cy="2185481"/>
            </a:xfrm>
            <a:prstGeom prst="rect">
              <a:avLst/>
            </a:prstGeom>
          </p:spPr>
        </p:pic>
        <p:sp>
          <p:nvSpPr>
            <p:cNvPr id="13" name="Freeform 13"/>
            <p:cNvSpPr/>
            <p:nvPr/>
          </p:nvSpPr>
          <p:spPr>
            <a:xfrm>
              <a:off x="5545931" y="4307681"/>
              <a:ext cx="300038" cy="321469"/>
            </a:xfrm>
            <a:custGeom>
              <a:avLst/>
              <a:gdLst/>
              <a:ahLst/>
              <a:cxnLst/>
              <a:rect l="l" t="t" r="r" b="b"/>
              <a:pathLst>
                <a:path w="300038" h="321469">
                  <a:moveTo>
                    <a:pt x="0" y="0"/>
                  </a:moveTo>
                  <a:lnTo>
                    <a:pt x="0" y="321469"/>
                  </a:lnTo>
                  <a:lnTo>
                    <a:pt x="42862" y="321469"/>
                  </a:lnTo>
                  <a:lnTo>
                    <a:pt x="42862" y="192881"/>
                  </a:lnTo>
                  <a:lnTo>
                    <a:pt x="128588" y="192881"/>
                  </a:lnTo>
                  <a:lnTo>
                    <a:pt x="171450" y="235744"/>
                  </a:lnTo>
                  <a:lnTo>
                    <a:pt x="300038" y="235744"/>
                  </a:lnTo>
                  <a:lnTo>
                    <a:pt x="300038" y="42862"/>
                  </a:lnTo>
                  <a:lnTo>
                    <a:pt x="171450" y="42862"/>
                  </a:lnTo>
                  <a:lnTo>
                    <a:pt x="1285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10656" y="4358640"/>
              <a:ext cx="4190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里程碑二：30 页原型全量高保真还原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17642" y="4826318"/>
              <a:ext cx="373418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 路子代理并行镜像样板页，self-check 0/0 + typecheck 绿 + 人工走查，教训：不盯原型比对，AI 会退化成「表格+表单」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17" name="Line 17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商机平台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27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10111058" cy="819150"/>
            <a:chOff x="381000" y="537210"/>
            <a:chExt cx="10111058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8634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里程碑：18 表建库 → 首模块联调打穿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000" y="1504950"/>
            <a:ext cx="5710824" cy="4442651"/>
            <a:chOff x="381000" y="1504950"/>
            <a:chExt cx="5710824" cy="4442651"/>
          </a:xfrm>
        </p:grpSpPr>
        <p:sp>
          <p:nvSpPr>
            <p:cNvPr id="5" name="Rectangle 5"/>
            <p:cNvSpPr/>
            <p:nvPr/>
          </p:nvSpPr>
          <p:spPr>
            <a:xfrm>
              <a:off x="381000" y="1504950"/>
              <a:ext cx="5562600" cy="36480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050" y="1540950"/>
              <a:ext cx="5524500" cy="3576074"/>
            </a:xfrm>
            <a:prstGeom prst="rect">
              <a:avLst/>
            </a:prstGeom>
          </p:spPr>
        </p:pic>
        <p:sp>
          <p:nvSpPr>
            <p:cNvPr id="7" name="Freeform 7"/>
            <p:cNvSpPr/>
            <p:nvPr/>
          </p:nvSpPr>
          <p:spPr>
            <a:xfrm>
              <a:off x="398859" y="5332809"/>
              <a:ext cx="250031" cy="267891"/>
            </a:xfrm>
            <a:custGeom>
              <a:avLst/>
              <a:gdLst/>
              <a:ahLst/>
              <a:cxnLst/>
              <a:rect l="l" t="t" r="r" b="b"/>
              <a:pathLst>
                <a:path w="250031" h="267891">
                  <a:moveTo>
                    <a:pt x="0" y="0"/>
                  </a:moveTo>
                  <a:lnTo>
                    <a:pt x="0" y="267891"/>
                  </a:lnTo>
                  <a:lnTo>
                    <a:pt x="35719" y="267891"/>
                  </a:lnTo>
                  <a:lnTo>
                    <a:pt x="35719" y="160734"/>
                  </a:lnTo>
                  <a:lnTo>
                    <a:pt x="107156" y="160734"/>
                  </a:lnTo>
                  <a:lnTo>
                    <a:pt x="142875" y="196453"/>
                  </a:lnTo>
                  <a:lnTo>
                    <a:pt x="250031" y="196453"/>
                  </a:lnTo>
                  <a:lnTo>
                    <a:pt x="250031" y="35719"/>
                  </a:lnTo>
                  <a:lnTo>
                    <a:pt x="142875" y="35719"/>
                  </a:lnTo>
                  <a:lnTo>
                    <a:pt x="1071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956" y="5349240"/>
              <a:ext cx="5300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里程碑三：18 表 DDL + 种子数据 + 实体全套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242" y="5683568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契约收口在建库前扫雷，双角色评审后 mvn compile 绿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8400" y="1504950"/>
            <a:ext cx="5562600" cy="4442651"/>
            <a:chOff x="6248400" y="1504950"/>
            <a:chExt cx="5562600" cy="4442651"/>
          </a:xfrm>
        </p:grpSpPr>
        <p:sp>
          <p:nvSpPr>
            <p:cNvPr id="11" name="Rectangle 11"/>
            <p:cNvSpPr/>
            <p:nvPr/>
          </p:nvSpPr>
          <p:spPr>
            <a:xfrm>
              <a:off x="6248400" y="1504950"/>
              <a:ext cx="5562600" cy="36480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7450" y="1533525"/>
              <a:ext cx="5524500" cy="3590925"/>
            </a:xfrm>
            <a:prstGeom prst="rect">
              <a:avLst/>
            </a:prstGeom>
          </p:spPr>
        </p:pic>
        <p:sp>
          <p:nvSpPr>
            <p:cNvPr id="13" name="Freeform 13"/>
            <p:cNvSpPr/>
            <p:nvPr/>
          </p:nvSpPr>
          <p:spPr>
            <a:xfrm>
              <a:off x="6266259" y="5332809"/>
              <a:ext cx="250031" cy="267891"/>
            </a:xfrm>
            <a:custGeom>
              <a:avLst/>
              <a:gdLst/>
              <a:ahLst/>
              <a:cxnLst/>
              <a:rect l="l" t="t" r="r" b="b"/>
              <a:pathLst>
                <a:path w="250031" h="267891">
                  <a:moveTo>
                    <a:pt x="0" y="0"/>
                  </a:moveTo>
                  <a:lnTo>
                    <a:pt x="0" y="267891"/>
                  </a:lnTo>
                  <a:lnTo>
                    <a:pt x="35719" y="267891"/>
                  </a:lnTo>
                  <a:lnTo>
                    <a:pt x="35719" y="160734"/>
                  </a:lnTo>
                  <a:lnTo>
                    <a:pt x="107156" y="160734"/>
                  </a:lnTo>
                  <a:lnTo>
                    <a:pt x="142875" y="196453"/>
                  </a:lnTo>
                  <a:lnTo>
                    <a:pt x="250031" y="196453"/>
                  </a:lnTo>
                  <a:lnTo>
                    <a:pt x="250031" y="35719"/>
                  </a:lnTo>
                  <a:lnTo>
                    <a:pt x="142875" y="35719"/>
                  </a:lnTo>
                  <a:lnTo>
                    <a:pt x="1071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58356" y="534924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里程碑四：首模块竖切联调打穿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0642" y="5683568"/>
              <a:ext cx="4132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 SSO 打穿，真数据第一次在前后端之间流动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17" name="Line 17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商机平台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28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24000" y="1333500"/>
            <a:ext cx="9144000" cy="4191000"/>
            <a:chOff x="1524000" y="1333500"/>
            <a:chExt cx="9144000" cy="4191000"/>
          </a:xfrm>
        </p:grpSpPr>
        <p:sp>
          <p:nvSpPr>
            <p:cNvPr id="2" name="Line 2"/>
            <p:cNvSpPr/>
            <p:nvPr/>
          </p:nvSpPr>
          <p:spPr>
            <a:xfrm>
              <a:off x="6096000" y="1333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524000" y="34290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3804" y="1684020"/>
            <a:ext cx="4609391" cy="1619250"/>
            <a:chOff x="933804" y="1684020"/>
            <a:chExt cx="4609391" cy="1619250"/>
          </a:xfrm>
        </p:grpSpPr>
        <p:sp>
          <p:nvSpPr>
            <p:cNvPr id="5" name="TextBox 5"/>
            <p:cNvSpPr txBox="1"/>
            <p:nvPr/>
          </p:nvSpPr>
          <p:spPr>
            <a:xfrm>
              <a:off x="933804" y="1684020"/>
              <a:ext cx="4609391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65,000+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14042" y="2815590"/>
              <a:ext cx="18489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产出代码行数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975092" y="1684020"/>
            <a:ext cx="1956816" cy="1619250"/>
            <a:chOff x="7975092" y="1684020"/>
            <a:chExt cx="1956816" cy="1619250"/>
          </a:xfrm>
        </p:grpSpPr>
        <p:sp>
          <p:nvSpPr>
            <p:cNvPr id="8" name="TextBox 8"/>
            <p:cNvSpPr txBox="1"/>
            <p:nvPr/>
          </p:nvSpPr>
          <p:spPr>
            <a:xfrm>
              <a:off x="8607929" y="1684020"/>
              <a:ext cx="69114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75092" y="2815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人类手写代码行数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0641" y="3874770"/>
            <a:ext cx="4015717" cy="1619250"/>
            <a:chOff x="1230641" y="3874770"/>
            <a:chExt cx="4015717" cy="1619250"/>
          </a:xfrm>
        </p:grpSpPr>
        <p:sp>
          <p:nvSpPr>
            <p:cNvPr id="11" name="TextBox 11"/>
            <p:cNvSpPr txBox="1"/>
            <p:nvPr/>
          </p:nvSpPr>
          <p:spPr>
            <a:xfrm>
              <a:off x="1230641" y="3874770"/>
              <a:ext cx="4015717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7776" y="5006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产品原型页面全量还原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78663" y="3874770"/>
            <a:ext cx="3149674" cy="1619250"/>
            <a:chOff x="7378663" y="3874770"/>
            <a:chExt cx="3149674" cy="1619250"/>
          </a:xfrm>
        </p:grpSpPr>
        <p:sp>
          <p:nvSpPr>
            <p:cNvPr id="14" name="TextBox 14"/>
            <p:cNvSpPr txBox="1"/>
            <p:nvPr/>
          </p:nvSpPr>
          <p:spPr>
            <a:xfrm>
              <a:off x="7954888" y="3874770"/>
              <a:ext cx="1997225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74+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78663" y="5006340"/>
              <a:ext cx="3149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后端端点 · 24 个 Controller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31685" y="5816918"/>
            <a:ext cx="7328630" cy="264033"/>
            <a:chOff x="2431685" y="5816918"/>
            <a:chExt cx="7328630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2431685" y="5816918"/>
              <a:ext cx="7328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商机平台 0→1 · 2026-07 · 另有 1.9 万行文档（62 篇）· 全程记录见飞书《0-1项目验证》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19" name="Line 19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商机平台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29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784537" cy="819150"/>
            <a:chOff x="381000" y="537210"/>
            <a:chExt cx="9784537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首模块投入：买断后续模块的配方费</a:t>
              </a:r>
            </a:p>
          </p:txBody>
        </p:sp>
      </p:grpSp>
      <p:graphicFrame>
        <p:nvGraphicFramePr>
          <p:cNvPr id="5" name="p18-recipe-cliff-chart"/>
          <p:cNvGraphicFramePr>
            <a:graphicFrameLocks noGrp="1"/>
          </p:cNvGraphicFramePr>
          <p:nvPr/>
        </p:nvGraphicFramePr>
        <p:xfrm>
          <a:off x="2286000" y="2095500"/>
          <a:ext cx="762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7"/>
          <p:cNvGrpSpPr/>
          <p:nvPr/>
        </p:nvGrpSpPr>
        <p:grpSpPr>
          <a:xfrm>
            <a:off x="2088642" y="5939790"/>
            <a:ext cx="8014716" cy="352044"/>
            <a:chOff x="2088642" y="5939790"/>
            <a:chExt cx="8014716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2088642" y="593979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 类文件的竖切配方——边际成本断崖式下降（实测趋势示意，手册 11.1）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4142" y="6286500"/>
            <a:ext cx="11443716" cy="327851"/>
            <a:chOff x="374142" y="6286500"/>
            <a:chExt cx="11443716" cy="327851"/>
          </a:xfrm>
        </p:grpSpPr>
        <p:sp>
          <p:nvSpPr>
            <p:cNvPr id="8" name="Line 8"/>
            <p:cNvSpPr/>
            <p:nvPr/>
          </p:nvSpPr>
          <p:spPr>
            <a:xfrm>
              <a:off x="381000" y="6286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4142" y="63503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商机平台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95323" y="63503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784537" cy="819150"/>
            <a:chOff x="381000" y="537210"/>
            <a:chExt cx="9784537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诚实账：提效在环节，成本也在环节</a:t>
              </a:r>
            </a:p>
          </p:txBody>
        </p:sp>
      </p:grpSp>
      <p:graphicFrame>
        <p:nvGraphicFramePr>
          <p:cNvPr id="5" name="p19-cost-pie"/>
          <p:cNvGraphicFramePr>
            <a:graphicFrameLocks noGrp="1"/>
          </p:cNvGraphicFramePr>
          <p:nvPr/>
        </p:nvGraphicFramePr>
        <p:xfrm>
          <a:off x="1619250" y="2000250"/>
          <a:ext cx="3238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5708142" y="1767840"/>
            <a:ext cx="5452586" cy="3208211"/>
            <a:chOff x="5708142" y="1767840"/>
            <a:chExt cx="5452586" cy="3208211"/>
          </a:xfrm>
        </p:grpSpPr>
        <p:sp>
          <p:nvSpPr>
            <p:cNvPr id="6" name="Rectangle 6"/>
            <p:cNvSpPr/>
            <p:nvPr/>
          </p:nvSpPr>
          <p:spPr>
            <a:xfrm>
              <a:off x="5715000" y="180975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0656" y="1767840"/>
              <a:ext cx="4131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自作主张翻车后的返工 · 约一半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942" y="2121218"/>
              <a:ext cx="5147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姿势不对时最贵——正是这套方法论要消掉的（黑盒纪律 + 门禁）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0" y="2762250"/>
              <a:ext cx="15240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10656" y="2720340"/>
              <a:ext cx="2906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多角色并行的 token 开销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942" y="30737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用「只喂最小上下文 + 知道何时停止评审」控制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0" y="3714750"/>
              <a:ext cx="152400" cy="1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10656" y="36728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黑盒取证的一次性投入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942" y="40262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反编译、最小复现——查一次比错三版便宜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08142" y="4712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（比例为商机平台复盘示意，非精确统计）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5334000"/>
            <a:ext cx="11430000" cy="723900"/>
            <a:chOff x="381000" y="5334000"/>
            <a:chExt cx="11430000" cy="723900"/>
          </a:xfrm>
        </p:grpSpPr>
        <p:sp>
          <p:nvSpPr>
            <p:cNvPr id="17" name="Rectangle 17"/>
            <p:cNvSpPr/>
            <p:nvPr/>
          </p:nvSpPr>
          <p:spPr>
            <a:xfrm>
              <a:off x="381000" y="5334000"/>
              <a:ext cx="11430000" cy="7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22787" y="5499735"/>
              <a:ext cx="73464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提供马力，门禁提供刹车，人掌方向盘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0" name="Line 20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商机平台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31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161739" cy="819150"/>
            <a:chOff x="381000" y="537210"/>
            <a:chExt cx="9161739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89140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接手存量系统，AI 三天能干什么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3500" y="3429000"/>
            <a:ext cx="9525000" cy="9525"/>
            <a:chOff x="1333500" y="3429000"/>
            <a:chExt cx="9525000" cy="9525"/>
          </a:xfrm>
        </p:grpSpPr>
        <p:sp>
          <p:nvSpPr>
            <p:cNvPr id="5" name="Line 5"/>
            <p:cNvSpPr/>
            <p:nvPr/>
          </p:nvSpPr>
          <p:spPr>
            <a:xfrm>
              <a:off x="1333500" y="3429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0" y="3429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705100" y="3257550"/>
            <a:ext cx="6800850" cy="342900"/>
            <a:chOff x="2705100" y="3257550"/>
            <a:chExt cx="6800850" cy="342900"/>
          </a:xfrm>
        </p:grpSpPr>
        <p:sp>
          <p:nvSpPr>
            <p:cNvPr id="8" name="Ellipse 8"/>
            <p:cNvSpPr/>
            <p:nvPr/>
          </p:nvSpPr>
          <p:spPr>
            <a:xfrm>
              <a:off x="2705100" y="3276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943600" y="3276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163050" y="325755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267825" y="33623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28750" y="1619250"/>
            <a:ext cx="2857500" cy="1657350"/>
            <a:chOff x="1428750" y="1619250"/>
            <a:chExt cx="2857500" cy="1657350"/>
          </a:xfrm>
        </p:grpSpPr>
        <p:sp>
          <p:nvSpPr>
            <p:cNvPr id="13" name="Line 13"/>
            <p:cNvSpPr/>
            <p:nvPr/>
          </p:nvSpPr>
          <p:spPr>
            <a:xfrm>
              <a:off x="2857500" y="31432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1619250"/>
              <a:ext cx="2857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50492" y="1816418"/>
              <a:ext cx="1112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1 · 入场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8206" y="2091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三板斧建认知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0492" y="2445068"/>
              <a:ext cx="220827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CLAUDE / AGENTS / MEMORY</a:t>
              </a: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三件套当天收口；顺带发现 4 个存量问题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67250" y="3581400"/>
            <a:ext cx="2857500" cy="1813751"/>
            <a:chOff x="4667250" y="3581400"/>
            <a:chExt cx="2857500" cy="1813751"/>
          </a:xfrm>
        </p:grpSpPr>
        <p:sp>
          <p:nvSpPr>
            <p:cNvPr id="19" name="Line 19"/>
            <p:cNvSpPr/>
            <p:nvPr/>
          </p:nvSpPr>
          <p:spPr>
            <a:xfrm>
              <a:off x="6096000" y="35814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88992" y="4007168"/>
              <a:ext cx="1112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2 · 走查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86706" y="42824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六角色深度业务走查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8992" y="4635818"/>
              <a:ext cx="191681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挖出 3 个 P0 + 一批 P1，每条带 file:line 证据，任何人 5 分钟能核实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05750" y="1619250"/>
            <a:ext cx="2857500" cy="1619250"/>
            <a:chOff x="7905750" y="1619250"/>
            <a:chExt cx="2857500" cy="1619250"/>
          </a:xfrm>
        </p:grpSpPr>
        <p:sp>
          <p:nvSpPr>
            <p:cNvPr id="25" name="Line 25"/>
            <p:cNvSpPr/>
            <p:nvPr/>
          </p:nvSpPr>
          <p:spPr>
            <a:xfrm>
              <a:off x="9334500" y="31432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905750" y="1619250"/>
              <a:ext cx="2857500" cy="1524000"/>
            </a:xfrm>
            <a:prstGeom prst="rect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7492" y="1816418"/>
              <a:ext cx="12191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3+ · 修复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25206" y="2091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分组并行修复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27492" y="2445068"/>
              <a:ext cx="231114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状态机改造 322 单测 0 失败；组B 11 任务 SDD 一天闭环；B/C/D 三组互不阻塞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68253" y="5772150"/>
            <a:ext cx="5976509" cy="367284"/>
            <a:chOff x="3168253" y="5772150"/>
            <a:chExt cx="5976509" cy="367284"/>
          </a:xfrm>
        </p:grpSpPr>
        <p:sp>
          <p:nvSpPr>
            <p:cNvPr id="31" name="Freeform 31"/>
            <p:cNvSpPr/>
            <p:nvPr/>
          </p:nvSpPr>
          <p:spPr>
            <a:xfrm>
              <a:off x="3168253" y="5772150"/>
              <a:ext cx="220146" cy="266700"/>
            </a:xfrm>
            <a:custGeom>
              <a:avLst/>
              <a:gdLst/>
              <a:ahLst/>
              <a:cxnLst/>
              <a:rect l="l" t="t" r="r" b="b"/>
              <a:pathLst>
                <a:path w="220146" h="266700">
                  <a:moveTo>
                    <a:pt x="58341" y="33338"/>
                  </a:moveTo>
                  <a:lnTo>
                    <a:pt x="91678" y="33338"/>
                  </a:lnTo>
                  <a:lnTo>
                    <a:pt x="91678" y="51281"/>
                  </a:lnTo>
                  <a:cubicBezTo>
                    <a:pt x="39753" y="59298"/>
                    <a:pt x="0" y="104183"/>
                    <a:pt x="0" y="158353"/>
                  </a:cubicBezTo>
                  <a:cubicBezTo>
                    <a:pt x="0" y="218192"/>
                    <a:pt x="48509" y="266700"/>
                    <a:pt x="108347" y="266700"/>
                  </a:cubicBezTo>
                  <a:cubicBezTo>
                    <a:pt x="168186" y="266700"/>
                    <a:pt x="216694" y="218192"/>
                    <a:pt x="216694" y="158353"/>
                  </a:cubicBezTo>
                  <a:cubicBezTo>
                    <a:pt x="216694" y="134448"/>
                    <a:pt x="208953" y="112352"/>
                    <a:pt x="195839" y="94434"/>
                  </a:cubicBezTo>
                  <a:lnTo>
                    <a:pt x="220146" y="70127"/>
                  </a:lnTo>
                  <a:lnTo>
                    <a:pt x="196573" y="46554"/>
                  </a:lnTo>
                  <a:lnTo>
                    <a:pt x="172267" y="70861"/>
                  </a:lnTo>
                  <a:cubicBezTo>
                    <a:pt x="158596" y="60857"/>
                    <a:pt x="142496" y="53980"/>
                    <a:pt x="125016" y="51281"/>
                  </a:cubicBezTo>
                  <a:lnTo>
                    <a:pt x="125016" y="33338"/>
                  </a:lnTo>
                  <a:lnTo>
                    <a:pt x="158353" y="33338"/>
                  </a:lnTo>
                  <a:lnTo>
                    <a:pt x="158353" y="0"/>
                  </a:lnTo>
                  <a:lnTo>
                    <a:pt x="58341" y="0"/>
                  </a:lnTo>
                  <a:lnTo>
                    <a:pt x="58341" y="33338"/>
                  </a:lnTo>
                  <a:close/>
                  <a:moveTo>
                    <a:pt x="91678" y="100012"/>
                  </a:moveTo>
                  <a:lnTo>
                    <a:pt x="91678" y="166688"/>
                  </a:lnTo>
                  <a:lnTo>
                    <a:pt x="125016" y="166688"/>
                  </a:lnTo>
                  <a:lnTo>
                    <a:pt x="125016" y="100012"/>
                  </a:lnTo>
                  <a:lnTo>
                    <a:pt x="91678" y="1000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53206" y="57873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传统模式下，全面业务审计需要外部审计或数周专项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4" name="Line 34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工单系统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32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843905" cy="819150"/>
            <a:chOff x="381000" y="537210"/>
            <a:chExt cx="9843905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59625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长期存在、无人发现——一次走查挖出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6096000" cy="3238500"/>
            <a:chOff x="381000" y="1428750"/>
            <a:chExt cx="6096000" cy="3238500"/>
          </a:xfrm>
        </p:grpSpPr>
        <p:sp>
          <p:nvSpPr>
            <p:cNvPr id="5" name="Rectangle 5"/>
            <p:cNvSpPr/>
            <p:nvPr/>
          </p:nvSpPr>
          <p:spPr>
            <a:xfrm>
              <a:off x="381000" y="1428750"/>
              <a:ext cx="6096000" cy="3238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1428750"/>
              <a:ext cx="6096000" cy="5334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1596390"/>
              <a:ext cx="4700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[P0] JWT 弱默认密钥可伪造 admin 令牌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2178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464118"/>
              <a:ext cx="3241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auth/JwtService.java:26 使用默认值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2730818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且全部 *.yml / 环境变量 零注入（已逐一核实）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1499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34356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任何人可离线签发 admin 令牌，完全认证绕过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3854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4140518"/>
              <a:ext cx="3693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证据（file:line）→ 影响 → 复现 → 建议 → 状态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0" y="1657350"/>
            <a:ext cx="4489533" cy="2537651"/>
            <a:chOff x="6858000" y="1657350"/>
            <a:chExt cx="4489533" cy="2537651"/>
          </a:xfrm>
        </p:grpSpPr>
        <p:sp>
          <p:nvSpPr>
            <p:cNvPr id="16" name="Freeform 16"/>
            <p:cNvSpPr/>
            <p:nvPr/>
          </p:nvSpPr>
          <p:spPr>
            <a:xfrm>
              <a:off x="6858000" y="165735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58664" y="43904"/>
                  </a:lnTo>
                  <a:cubicBezTo>
                    <a:pt x="81846" y="16085"/>
                    <a:pt x="116188" y="0"/>
                    <a:pt x="152400" y="0"/>
                  </a:cubicBezTo>
                  <a:cubicBezTo>
                    <a:pt x="188612" y="0"/>
                    <a:pt x="222954" y="16085"/>
                    <a:pt x="246137" y="43904"/>
                  </a:cubicBezTo>
                  <a:lnTo>
                    <a:pt x="304800" y="114300"/>
                  </a:lnTo>
                  <a:lnTo>
                    <a:pt x="246137" y="184695"/>
                  </a:lnTo>
                  <a:cubicBezTo>
                    <a:pt x="222954" y="212516"/>
                    <a:pt x="188612" y="228600"/>
                    <a:pt x="152400" y="228600"/>
                  </a:cubicBezTo>
                  <a:cubicBezTo>
                    <a:pt x="116188" y="228600"/>
                    <a:pt x="81846" y="212516"/>
                    <a:pt x="58664" y="184695"/>
                  </a:cubicBezTo>
                  <a:lnTo>
                    <a:pt x="0" y="114300"/>
                  </a:lnTo>
                  <a:close/>
                  <a:moveTo>
                    <a:pt x="152400" y="171450"/>
                  </a:moveTo>
                  <a:cubicBezTo>
                    <a:pt x="183963" y="171450"/>
                    <a:pt x="209550" y="145863"/>
                    <a:pt x="209550" y="114300"/>
                  </a:cubicBezTo>
                  <a:cubicBezTo>
                    <a:pt x="209550" y="82737"/>
                    <a:pt x="183963" y="57150"/>
                    <a:pt x="152400" y="57150"/>
                  </a:cubicBezTo>
                  <a:cubicBezTo>
                    <a:pt x="120837" y="57150"/>
                    <a:pt x="95250" y="82737"/>
                    <a:pt x="95250" y="114300"/>
                  </a:cubicBezTo>
                  <a:cubicBezTo>
                    <a:pt x="95250" y="145863"/>
                    <a:pt x="120837" y="171450"/>
                    <a:pt x="152400" y="1714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06056" y="16725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长期存在，一直无人发现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8342" y="2025968"/>
              <a:ext cx="3902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六角色走查一轮挖出——AI 审计深度人工不可及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877050" y="25717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06056" y="26250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证据链穷举到「零注入」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8342" y="297846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逐一核实所有 yml / 环境变量——人不会去穷举的活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58000" y="3543300"/>
              <a:ext cx="304800" cy="266700"/>
              <a:chOff x="6858000" y="3543300"/>
              <a:chExt cx="304800" cy="266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915150" y="35433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58000" y="367665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lnTo>
                      <a:pt x="0" y="133350"/>
                    </a:lnTo>
                    <a:lnTo>
                      <a:pt x="152400" y="133350"/>
                    </a:lnTo>
                    <a:lnTo>
                      <a:pt x="15240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48500" y="36766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114300" y="133350"/>
                    </a:lnTo>
                    <a:lnTo>
                      <a:pt x="114300" y="57150"/>
                    </a:lnTo>
                    <a:cubicBezTo>
                      <a:pt x="114300" y="25587"/>
                      <a:pt x="88714" y="0"/>
                      <a:pt x="57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48500" y="35623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3" y="76200"/>
                      <a:pt x="76200" y="59142"/>
                      <a:pt x="76200" y="38100"/>
                    </a:cubicBezTo>
                    <a:cubicBezTo>
                      <a:pt x="76200" y="17058"/>
                      <a:pt x="59143" y="0"/>
                      <a:pt x="38100" y="0"/>
                    </a:cubicBezTo>
                    <a:cubicBezTo>
                      <a:pt x="17057" y="0"/>
                      <a:pt x="0" y="17058"/>
                      <a:pt x="0" y="38100"/>
                    </a:cubicBezTo>
                    <a:cubicBezTo>
                      <a:pt x="0" y="59142"/>
                      <a:pt x="17057" y="76200"/>
                      <a:pt x="38100" y="76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06056" y="35775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一份事实，四方共用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8342" y="3930968"/>
              <a:ext cx="3614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开发 / 测试 / PM / 高层共用，零翻译损耗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4800600"/>
            <a:ext cx="11430000" cy="514350"/>
            <a:chOff x="381000" y="4800600"/>
            <a:chExt cx="11430000" cy="514350"/>
          </a:xfrm>
        </p:grpSpPr>
        <p:sp>
          <p:nvSpPr>
            <p:cNvPr id="30" name="Rectangle 30"/>
            <p:cNvSpPr/>
            <p:nvPr/>
          </p:nvSpPr>
          <p:spPr>
            <a:xfrm>
              <a:off x="381000" y="4800600"/>
              <a:ext cx="114300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26656" y="4939665"/>
              <a:ext cx="8338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诚实口径：3 个 P0 修掉 2 个——JWT 弱密钥当时仍未修，未尽事项照列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416868"/>
            <a:ext cx="11430000" cy="621982"/>
            <a:chOff x="381000" y="5416868"/>
            <a:chExt cx="11430000" cy="621982"/>
          </a:xfrm>
        </p:grpSpPr>
        <p:sp>
          <p:nvSpPr>
            <p:cNvPr id="33" name="TextBox 33"/>
            <p:cNvSpPr txBox="1"/>
            <p:nvPr/>
          </p:nvSpPr>
          <p:spPr>
            <a:xfrm>
              <a:off x="1658091" y="5416868"/>
              <a:ext cx="8875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怎么设计？把诚实做成格式要求——CLAUDE.md 固定三栏汇报模板，「差不多都好了」没有格子可以填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657850"/>
              <a:ext cx="3733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14273" y="575976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✅ 已完成——每条必须附证据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29100" y="5657850"/>
              <a:ext cx="3733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34978" y="575976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❌ 未完成——写明原因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77200" y="5657850"/>
              <a:ext cx="3733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28736" y="575976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⚠️ 风险与待办——下一步谁做什么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41" name="Line 4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4142" y="6312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第四幕 · 证据 · 工单系统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33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381000" y="800100"/>
            <a:ext cx="11420475" cy="419100"/>
            <a:chOff x="381000" y="800100"/>
            <a:chExt cx="11420475" cy="419100"/>
          </a:xfrm>
        </p:grpSpPr>
        <p:sp>
          <p:nvSpPr>
            <p:cNvPr id="2" name="Rectangle 2"/>
            <p:cNvSpPr/>
            <p:nvPr/>
          </p:nvSpPr>
          <p:spPr>
            <a:xfrm>
              <a:off x="3810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68705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31457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47938" y="930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前三天与六步法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4815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6325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技巧与进阶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172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6943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15300" y="800100"/>
              <a:ext cx="1752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7682" y="9305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治理与算账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48875" y="800100"/>
              <a:ext cx="17526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3658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78971" y="3228975"/>
            <a:ext cx="3070079" cy="373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9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2950" y="2434590"/>
            <a:ext cx="8237677" cy="2023872"/>
            <a:chOff x="742950" y="2434590"/>
            <a:chExt cx="8237677" cy="2023872"/>
          </a:xfrm>
        </p:grpSpPr>
        <p:sp>
          <p:nvSpPr>
            <p:cNvPr id="16" name="Rectangle 16"/>
            <p:cNvSpPr/>
            <p:nvPr/>
          </p:nvSpPr>
          <p:spPr>
            <a:xfrm>
              <a:off x="762000" y="24574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5756" y="2434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第五幕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3055620"/>
              <a:ext cx="767105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红线立住，账才算得住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808" y="3989070"/>
              <a:ext cx="82308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安全红线 · 订阅费与回本线 · 适用边界——治理和账一起讲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第五幕 · 治理与算账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34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003515" cy="819150"/>
            <a:chOff x="381000" y="537210"/>
            <a:chExt cx="8003515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安全红线：人按最后一个按钮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85900"/>
            <a:ext cx="5334000" cy="3695700"/>
            <a:chOff x="381000" y="1485900"/>
            <a:chExt cx="5334000" cy="3695700"/>
          </a:xfrm>
        </p:grpSpPr>
        <p:sp>
          <p:nvSpPr>
            <p:cNvPr id="5" name="Rectangle 5"/>
            <p:cNvSpPr/>
            <p:nvPr/>
          </p:nvSpPr>
          <p:spPr>
            <a:xfrm>
              <a:off x="381000" y="1485900"/>
              <a:ext cx="5334000" cy="5334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73785" y="165068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不可自动执行清单（各项目公约数）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019300"/>
              <a:ext cx="5334000" cy="3162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223837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❌ git push / 强制回退 / 批量删除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657475"/>
              <a:ext cx="4495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❌ 生产环境任何操作（部署 / DB 变更 / 配置）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3076575"/>
              <a:ext cx="3771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❌ 对外发布（发消息 / 发邮件 / 开票据）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3495675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❌ 自动审批类动作（工单系统铁律：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3762375"/>
              <a:ext cx="3174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Archery SQL 审核绝不自动执行）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980" y="4257675"/>
              <a:ext cx="28379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✅ 以上全部 = AI 准备好一切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8680" y="4562475"/>
              <a:ext cx="2103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 人按下最后一个按钮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77356" y="1558290"/>
            <a:ext cx="5533644" cy="3627311"/>
            <a:chOff x="6277356" y="1558290"/>
            <a:chExt cx="5533644" cy="3627311"/>
          </a:xfrm>
        </p:grpSpPr>
        <p:sp>
          <p:nvSpPr>
            <p:cNvPr id="16" name="TextBox 16"/>
            <p:cNvSpPr txBox="1"/>
            <p:nvPr/>
          </p:nvSpPr>
          <p:spPr>
            <a:xfrm>
              <a:off x="6277356" y="15582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不想每次点确认？权限三档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8880" y="2028825"/>
              <a:ext cx="3860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 精确放行（推荐）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：permissions.allow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26530" y="2295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白名单免确认，清单外照常弹窗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8880" y="2733675"/>
              <a:ext cx="3462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acceptEdits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：文件编辑自动接受，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26530" y="3000375"/>
              <a:ext cx="3087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命令仍需确认（Shift+Tab 可切）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8880" y="3438525"/>
              <a:ext cx="4187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bypassPermissions（慎用）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：只在隔离、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26530" y="370522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可丢弃的环境用（容器 / 试验仓库）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4191000"/>
              <a:ext cx="55245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7480" y="4371975"/>
              <a:ext cx="4170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优先级 deny &gt; allow：先把红线写进 deny，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7480" y="4638675"/>
              <a:ext cx="4298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再放宽确认——放开的是"确认动作"，不是红线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8242" y="4921568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deny 在任何模式下都拦得住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5448300"/>
            <a:ext cx="11430000" cy="613601"/>
            <a:chOff x="381000" y="5448300"/>
            <a:chExt cx="11430000" cy="613601"/>
          </a:xfrm>
        </p:grpSpPr>
        <p:sp>
          <p:nvSpPr>
            <p:cNvPr id="28" name="Rectangle 28"/>
            <p:cNvSpPr/>
            <p:nvPr/>
          </p:nvSpPr>
          <p:spPr>
            <a:xfrm>
              <a:off x="381000" y="5448300"/>
              <a:ext cx="114300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8200" y="5534025"/>
              <a:ext cx="1051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数据边界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：密钥 / 凭据绝不进上下文（deny 规则 + 环境变量注入）；客户数据、生产数据禁止投喂，调试用脱敏样本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67052" y="5797868"/>
              <a:ext cx="785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配合机制，AI 对安全是净增益——工单系统 3 个长期无人发现的高危漏洞正是 AI 走查挖出来的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32" name="Line 32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第五幕 · 治理与算账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35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8003515" cy="819150"/>
            <a:chOff x="381000" y="537210"/>
            <a:chExt cx="8003515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回本账：仅日报一项就已越线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91000" y="1905000"/>
            <a:ext cx="3819525" cy="2476500"/>
            <a:chOff x="4191000" y="1905000"/>
            <a:chExt cx="3819525" cy="2476500"/>
          </a:xfrm>
        </p:grpSpPr>
        <p:sp>
          <p:nvSpPr>
            <p:cNvPr id="5" name="Line 5"/>
            <p:cNvSpPr/>
            <p:nvPr/>
          </p:nvSpPr>
          <p:spPr>
            <a:xfrm>
              <a:off x="4191000" y="1905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001000" y="1905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64760" y="2465070"/>
            <a:ext cx="2442481" cy="1501331"/>
            <a:chOff x="1064760" y="2465070"/>
            <a:chExt cx="2442481" cy="1501331"/>
          </a:xfrm>
        </p:grpSpPr>
        <p:sp>
          <p:nvSpPr>
            <p:cNvPr id="8" name="TextBox 8"/>
            <p:cNvSpPr txBox="1"/>
            <p:nvPr/>
          </p:nvSpPr>
          <p:spPr>
            <a:xfrm>
              <a:off x="1064760" y="2465070"/>
              <a:ext cx="244248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1%~3%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5276" y="33108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订阅费占人力成本比例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8720" y="3702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一个研发月成本数万元量级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93112" y="2465070"/>
            <a:ext cx="3205776" cy="1501331"/>
            <a:chOff x="4493112" y="2465070"/>
            <a:chExt cx="3205776" cy="1501331"/>
          </a:xfrm>
        </p:grpSpPr>
        <p:sp>
          <p:nvSpPr>
            <p:cNvPr id="12" name="TextBox 12"/>
            <p:cNvSpPr txBox="1"/>
            <p:nvPr/>
          </p:nvSpPr>
          <p:spPr>
            <a:xfrm>
              <a:off x="4493112" y="2465070"/>
              <a:ext cx="320577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半天 / 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2224" y="3310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回本门槛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7852" y="3702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每人每月省出半天即为正收益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21802" y="2465070"/>
            <a:ext cx="3168396" cy="1501331"/>
            <a:chOff x="8321802" y="2465070"/>
            <a:chExt cx="3168396" cy="1501331"/>
          </a:xfrm>
        </p:grpSpPr>
        <p:sp>
          <p:nvSpPr>
            <p:cNvPr id="16" name="TextBox 16"/>
            <p:cNvSpPr txBox="1"/>
            <p:nvPr/>
          </p:nvSpPr>
          <p:spPr>
            <a:xfrm>
              <a:off x="8589348" y="2465070"/>
              <a:ext cx="263330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分钟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1802" y="33108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仅日报自动化一项，每天节省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77050" y="3702368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 分钟 → 1 分钟 · 每月 ≈ 5.7 小时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4762500"/>
            <a:ext cx="11430000" cy="857250"/>
            <a:chOff x="381000" y="4762500"/>
            <a:chExt cx="11430000" cy="857250"/>
          </a:xfrm>
        </p:grpSpPr>
        <p:sp>
          <p:nvSpPr>
            <p:cNvPr id="20" name="Rectangle 20"/>
            <p:cNvSpPr/>
            <p:nvPr/>
          </p:nvSpPr>
          <p:spPr>
            <a:xfrm>
              <a:off x="381000" y="4762500"/>
              <a:ext cx="1143000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65077" y="5004435"/>
              <a:ext cx="84618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仅日报一项已越过回本线——后面所有提效都是净赚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236" y="5855018"/>
            <a:ext cx="8573529" cy="264033"/>
            <a:chOff x="1809236" y="5855018"/>
            <a:chExt cx="8573529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1809236" y="5855018"/>
              <a:ext cx="8573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真正的争议不是「值不值」，而是「如何让不熟练的人也达到熟练者的收益水平」——这正是方法论要解决的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5" name="Line 25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4142" y="63122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第五幕 · 治理与算账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36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9784537" cy="819150"/>
            <a:chOff x="381000" y="537210"/>
            <a:chExt cx="9784537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诚实账的最后一笔：四类场景别硬上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485900"/>
            <a:ext cx="11430000" cy="876300"/>
            <a:chOff x="381000" y="1485900"/>
            <a:chExt cx="11430000" cy="876300"/>
          </a:xfrm>
        </p:grpSpPr>
        <p:sp>
          <p:nvSpPr>
            <p:cNvPr id="5" name="Rectangle 5"/>
            <p:cNvSpPr/>
            <p:nvPr/>
          </p:nvSpPr>
          <p:spPr>
            <a:xfrm>
              <a:off x="381000" y="1485900"/>
              <a:ext cx="11430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0456" y="1672590"/>
              <a:ext cx="5068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无测试基建、无法建立门禁的超大遗留单体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742" y="2045018"/>
              <a:ext cx="7809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「验证」部件缺失，AI 产出无法收口 → 先补最小门禁（能编译 + 一条冒烟链路），再引入 AI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2476500"/>
            <a:ext cx="11430000" cy="876300"/>
            <a:chOff x="381000" y="2476500"/>
            <a:chExt cx="11430000" cy="876300"/>
          </a:xfrm>
        </p:grpSpPr>
        <p:sp>
          <p:nvSpPr>
            <p:cNvPr id="9" name="Rectangle 9"/>
            <p:cNvSpPr/>
            <p:nvPr/>
          </p:nvSpPr>
          <p:spPr>
            <a:xfrm>
              <a:off x="381000" y="2476500"/>
              <a:ext cx="11430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2663190"/>
              <a:ext cx="53613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强实时 / 强算法调优（性能内核、复杂并发）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035618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核心判断依赖人的领域深度 → 当分析助手用（画调用链、找嫌疑点），别指望端到端交付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3467100"/>
            <a:ext cx="11430000" cy="876300"/>
            <a:chOff x="381000" y="3467100"/>
            <a:chExt cx="11430000" cy="876300"/>
          </a:xfrm>
        </p:grpSpPr>
        <p:sp>
          <p:nvSpPr>
            <p:cNvPr id="13" name="Rectangle 13"/>
            <p:cNvSpPr/>
            <p:nvPr/>
          </p:nvSpPr>
          <p:spPr>
            <a:xfrm>
              <a:off x="381000" y="3467100"/>
              <a:ext cx="11430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0456" y="3653790"/>
              <a:ext cx="4559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需求方给不出验收标准的纯探索性项目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4026218"/>
              <a:ext cx="7617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六步法的地基是「可验收」 → 先用 AI 快速做原型帮需求方看见想要什么，收敛后再上流程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4457700"/>
            <a:ext cx="11430000" cy="876300"/>
            <a:chOff x="381000" y="4457700"/>
            <a:chExt cx="11430000" cy="876300"/>
          </a:xfrm>
        </p:grpSpPr>
        <p:sp>
          <p:nvSpPr>
            <p:cNvPr id="17" name="Rectangle 17"/>
            <p:cNvSpPr/>
            <p:nvPr/>
          </p:nvSpPr>
          <p:spPr>
            <a:xfrm>
              <a:off x="381000" y="4457700"/>
              <a:ext cx="11430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0456" y="46443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涉密等级超出公司允许边界的代码 / 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5016818"/>
              <a:ext cx="5256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红线问题，不是效率问题 → 直接不用（安全合规见手册第 14 章）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5562600"/>
            <a:ext cx="11430000" cy="591312"/>
            <a:chOff x="381000" y="5562600"/>
            <a:chExt cx="11430000" cy="591312"/>
          </a:xfrm>
        </p:grpSpPr>
        <p:sp>
          <p:nvSpPr>
            <p:cNvPr id="21" name="Rectangle 21"/>
            <p:cNvSpPr/>
            <p:nvPr/>
          </p:nvSpPr>
          <p:spPr>
            <a:xfrm>
              <a:off x="381000" y="5562600"/>
              <a:ext cx="114300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47831" y="5684520"/>
              <a:ext cx="98963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一句话标准：能不能建立「可验证的收口」——不能，先补验证部件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74142" y="6286500"/>
            <a:ext cx="11443716" cy="327851"/>
            <a:chOff x="374142" y="6286500"/>
            <a:chExt cx="11443716" cy="327851"/>
          </a:xfrm>
        </p:grpSpPr>
        <p:sp>
          <p:nvSpPr>
            <p:cNvPr id="24" name="Line 24"/>
            <p:cNvSpPr/>
            <p:nvPr/>
          </p:nvSpPr>
          <p:spPr>
            <a:xfrm>
              <a:off x="381000" y="6286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4142" y="63503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第五幕 · 治理与算账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95323" y="63503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37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381000" y="800100"/>
            <a:ext cx="11420475" cy="419100"/>
            <a:chOff x="381000" y="800100"/>
            <a:chExt cx="11420475" cy="419100"/>
          </a:xfrm>
        </p:grpSpPr>
        <p:sp>
          <p:nvSpPr>
            <p:cNvPr id="2" name="Rectangle 2"/>
            <p:cNvSpPr/>
            <p:nvPr/>
          </p:nvSpPr>
          <p:spPr>
            <a:xfrm>
              <a:off x="3810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68705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31457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47938" y="930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前三天与六步法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4815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6325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技巧与进阶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1725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69430" y="930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15300" y="800100"/>
              <a:ext cx="1752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30400" y="930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治理与算账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48875" y="800100"/>
              <a:ext cx="1752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27493" y="930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78971" y="3228975"/>
            <a:ext cx="3070079" cy="373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9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2950" y="2434590"/>
            <a:ext cx="10079279" cy="2023872"/>
            <a:chOff x="742950" y="2434590"/>
            <a:chExt cx="10079279" cy="2023872"/>
          </a:xfrm>
        </p:grpSpPr>
        <p:sp>
          <p:nvSpPr>
            <p:cNvPr id="16" name="Rectangle 16"/>
            <p:cNvSpPr/>
            <p:nvPr/>
          </p:nvSpPr>
          <p:spPr>
            <a:xfrm>
              <a:off x="762000" y="24574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5756" y="2434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第六幕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3055620"/>
              <a:ext cx="385457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从明天开始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808" y="3989070"/>
              <a:ext cx="100724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散场只会记住三件事——我们替你选好了，再给五件第一周就能做的小事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第六幕 · 行动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38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5628818" cy="819150"/>
            <a:chOff x="381000" y="537210"/>
            <a:chExt cx="5628818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53811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散场请带走这三句话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7750" y="1758315"/>
            <a:ext cx="5271516" cy="894969"/>
            <a:chOff x="1047750" y="1758315"/>
            <a:chExt cx="5271516" cy="894969"/>
          </a:xfrm>
        </p:grpSpPr>
        <p:sp>
          <p:nvSpPr>
            <p:cNvPr id="5" name="Ellipse 5"/>
            <p:cNvSpPr/>
            <p:nvPr/>
          </p:nvSpPr>
          <p:spPr>
            <a:xfrm>
              <a:off x="1047750" y="180975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10081" y="2032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73986" y="17583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只有模型是一样的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1606" y="23012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智能体观：另外六块部件决定你的提效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7750" y="3091815"/>
            <a:ext cx="10105202" cy="894969"/>
            <a:chOff x="1047750" y="3091815"/>
            <a:chExt cx="10105202" cy="894969"/>
          </a:xfrm>
        </p:grpSpPr>
        <p:sp>
          <p:nvSpPr>
            <p:cNvPr id="10" name="Ellipse 10"/>
            <p:cNvSpPr/>
            <p:nvPr/>
          </p:nvSpPr>
          <p:spPr>
            <a:xfrm>
              <a:off x="1047750" y="314325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0081" y="33661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73986" y="3091815"/>
              <a:ext cx="89789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提供马力，门禁提供刹车，人掌方向盘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1606" y="3634740"/>
              <a:ext cx="62014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人机分工：决策权在人，执行权放给 AI，验证机制兜底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7750" y="4425315"/>
            <a:ext cx="8312582" cy="894969"/>
            <a:chOff x="1047750" y="4425315"/>
            <a:chExt cx="8312582" cy="894969"/>
          </a:xfrm>
        </p:grpSpPr>
        <p:sp>
          <p:nvSpPr>
            <p:cNvPr id="15" name="Ellipse 15"/>
            <p:cNvSpPr/>
            <p:nvPr/>
          </p:nvSpPr>
          <p:spPr>
            <a:xfrm>
              <a:off x="1047750" y="447675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0081" y="4699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3986" y="44253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姿势可复制，不是天赋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1606" y="4968240"/>
              <a:ext cx="717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商机平台实验：不熟悉环境的开发者 + 正确姿势 = 零手写 0→1 交付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952500" y="565785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1" name="Line 21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第六幕 · 行动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39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37210"/>
            <a:ext cx="6222492" cy="819150"/>
            <a:chOff x="381000" y="537210"/>
            <a:chExt cx="6222492" cy="819150"/>
          </a:xfrm>
        </p:grpSpPr>
        <p:sp>
          <p:nvSpPr>
            <p:cNvPr id="2" name="Rectangle 2"/>
            <p:cNvSpPr/>
            <p:nvPr/>
          </p:nvSpPr>
          <p:spPr>
            <a:xfrm>
              <a:off x="381000" y="590550"/>
              <a:ext cx="762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650" y="537210"/>
              <a:ext cx="59748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第一周就能做的五件事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512570"/>
            <a:ext cx="5572155" cy="701231"/>
            <a:chOff x="495300" y="1512570"/>
            <a:chExt cx="5572155" cy="701231"/>
          </a:xfrm>
        </p:grpSpPr>
        <p:sp>
          <p:nvSpPr>
            <p:cNvPr id="5" name="Freeform 5"/>
            <p:cNvSpPr/>
            <p:nvPr/>
          </p:nvSpPr>
          <p:spPr>
            <a:xfrm>
              <a:off x="495300" y="16002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272329" y="122311"/>
                  </a:moveTo>
                  <a:lnTo>
                    <a:pt x="242021" y="92002"/>
                  </a:lnTo>
                  <a:lnTo>
                    <a:pt x="139303" y="194720"/>
                  </a:lnTo>
                  <a:lnTo>
                    <a:pt x="100879" y="156296"/>
                  </a:lnTo>
                  <a:lnTo>
                    <a:pt x="70571" y="186604"/>
                  </a:lnTo>
                  <a:lnTo>
                    <a:pt x="139303" y="255336"/>
                  </a:lnTo>
                  <a:lnTo>
                    <a:pt x="272329" y="1223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4608" y="1512570"/>
              <a:ext cx="50128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每人：跑 </a:t>
              </a:r>
              <a:r>
                <a:rPr lang="en-US" sz="2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/init</a:t>
              </a: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生成 CLAUDE.md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1949768"/>
              <a:ext cx="4401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补齐技术栈 / 规范 / 红线三节——给 AI 一本项目手册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5300" y="2407920"/>
            <a:ext cx="6011570" cy="701231"/>
            <a:chOff x="495300" y="2407920"/>
            <a:chExt cx="6011570" cy="701231"/>
          </a:xfrm>
        </p:grpSpPr>
        <p:sp>
          <p:nvSpPr>
            <p:cNvPr id="9" name="Freeform 9"/>
            <p:cNvSpPr/>
            <p:nvPr/>
          </p:nvSpPr>
          <p:spPr>
            <a:xfrm>
              <a:off x="495300" y="2495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272329" y="122311"/>
                  </a:moveTo>
                  <a:lnTo>
                    <a:pt x="242021" y="92002"/>
                  </a:lnTo>
                  <a:lnTo>
                    <a:pt x="139303" y="194720"/>
                  </a:lnTo>
                  <a:lnTo>
                    <a:pt x="100879" y="156296"/>
                  </a:lnTo>
                  <a:lnTo>
                    <a:pt x="70571" y="186604"/>
                  </a:lnTo>
                  <a:lnTo>
                    <a:pt x="139303" y="255336"/>
                  </a:lnTo>
                  <a:lnTo>
                    <a:pt x="272329" y="1223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608" y="2407920"/>
              <a:ext cx="54522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每人：用计划模式完成一个真实任务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2845118"/>
              <a:ext cx="4639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Shift+Tab 切换——体验「你批准前它一个文件都不会改」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3219450"/>
            <a:ext cx="11430000" cy="876300"/>
            <a:chOff x="381000" y="3219450"/>
            <a:chExt cx="11430000" cy="876300"/>
          </a:xfrm>
        </p:grpSpPr>
        <p:sp>
          <p:nvSpPr>
            <p:cNvPr id="13" name="Rectangle 13"/>
            <p:cNvSpPr/>
            <p:nvPr/>
          </p:nvSpPr>
          <p:spPr>
            <a:xfrm>
              <a:off x="381000" y="3219450"/>
              <a:ext cx="11430000" cy="8763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12289" y="3478140"/>
              <a:ext cx="304482" cy="272328"/>
              <a:chOff x="512289" y="3478140"/>
              <a:chExt cx="304482" cy="27232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12289" y="3478140"/>
                <a:ext cx="152619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152619" h="244620">
                    <a:moveTo>
                      <a:pt x="0" y="214312"/>
                    </a:moveTo>
                    <a:lnTo>
                      <a:pt x="92002" y="122311"/>
                    </a:lnTo>
                    <a:lnTo>
                      <a:pt x="0" y="30308"/>
                    </a:lnTo>
                    <a:lnTo>
                      <a:pt x="30308" y="0"/>
                    </a:lnTo>
                    <a:lnTo>
                      <a:pt x="152619" y="122311"/>
                    </a:lnTo>
                    <a:lnTo>
                      <a:pt x="30308" y="244620"/>
                    </a:lnTo>
                    <a:lnTo>
                      <a:pt x="0" y="2143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45320" y="3707606"/>
                <a:ext cx="17145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42862">
                    <a:moveTo>
                      <a:pt x="0" y="42862"/>
                    </a:moveTo>
                    <a:lnTo>
                      <a:pt x="171451" y="42862"/>
                    </a:lnTo>
                    <a:lnTo>
                      <a:pt x="171451" y="0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54608" y="3341370"/>
              <a:ext cx="79456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团队：建第一个共享命令——就从 </a:t>
              </a:r>
              <a:r>
                <a:rPr lang="en-US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/daily-report</a:t>
              </a: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开始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942" y="37785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零风险 · 当天见效 · 每天 15 分钟 → 1 分钟——单这一项就越过回本线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5300" y="4312920"/>
            <a:ext cx="7166324" cy="701231"/>
            <a:chOff x="495300" y="4312920"/>
            <a:chExt cx="7166324" cy="701231"/>
          </a:xfrm>
        </p:grpSpPr>
        <p:sp>
          <p:nvSpPr>
            <p:cNvPr id="20" name="Freeform 20"/>
            <p:cNvSpPr/>
            <p:nvPr/>
          </p:nvSpPr>
          <p:spPr>
            <a:xfrm>
              <a:off x="495300" y="4400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272329" y="122311"/>
                  </a:moveTo>
                  <a:lnTo>
                    <a:pt x="242021" y="92002"/>
                  </a:lnTo>
                  <a:lnTo>
                    <a:pt x="139303" y="194720"/>
                  </a:lnTo>
                  <a:lnTo>
                    <a:pt x="100879" y="156296"/>
                  </a:lnTo>
                  <a:lnTo>
                    <a:pt x="70571" y="186604"/>
                  </a:lnTo>
                  <a:lnTo>
                    <a:pt x="139303" y="255336"/>
                  </a:lnTo>
                  <a:lnTo>
                    <a:pt x="272329" y="1223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4608" y="4312920"/>
              <a:ext cx="5113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团队：定出「不可自动执行清单」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942" y="4750118"/>
              <a:ext cx="6601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抄手册 14.3 改：git push / 生产操作 / 对外发布 / 自动审批——人按最后一个按钮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5208270"/>
            <a:ext cx="7029298" cy="701231"/>
            <a:chOff x="495300" y="5208270"/>
            <a:chExt cx="7029298" cy="701231"/>
          </a:xfrm>
        </p:grpSpPr>
        <p:sp>
          <p:nvSpPr>
            <p:cNvPr id="24" name="Freeform 24"/>
            <p:cNvSpPr/>
            <p:nvPr/>
          </p:nvSpPr>
          <p:spPr>
            <a:xfrm>
              <a:off x="495300" y="52959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272329" y="122311"/>
                  </a:moveTo>
                  <a:lnTo>
                    <a:pt x="242021" y="92002"/>
                  </a:lnTo>
                  <a:lnTo>
                    <a:pt x="139303" y="194720"/>
                  </a:lnTo>
                  <a:lnTo>
                    <a:pt x="100879" y="156296"/>
                  </a:lnTo>
                  <a:lnTo>
                    <a:pt x="70571" y="186604"/>
                  </a:lnTo>
                  <a:lnTo>
                    <a:pt x="139303" y="255336"/>
                  </a:lnTo>
                  <a:lnTo>
                    <a:pt x="272329" y="1223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4608" y="5208270"/>
              <a:ext cx="64699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有意试点的团队：选定试点项目和种子队员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5645468"/>
              <a:ext cx="3712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先测 2~4 周基线数据——别用感觉，用基线对比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28" name="Line 28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第六幕 · 行动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-1238250" y="-1714500"/>
            <a:ext cx="4953000" cy="4953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244090"/>
            <a:ext cx="8233410" cy="2564130"/>
            <a:chOff x="762000" y="2244090"/>
            <a:chExt cx="8233410" cy="2564130"/>
          </a:xfrm>
        </p:grpSpPr>
        <p:sp>
          <p:nvSpPr>
            <p:cNvPr id="3" name="Rectangle 3"/>
            <p:cNvSpPr/>
            <p:nvPr/>
          </p:nvSpPr>
          <p:spPr>
            <a:xfrm>
              <a:off x="762000" y="226695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95756" y="2244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最后一句话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96590" y="2846070"/>
              <a:ext cx="579882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7200"/>
                </a:lnSpc>
              </a:pPr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模型是厂商给的，智能体是自己养的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07964" y="4865370"/>
            <a:ext cx="7776073" cy="469392"/>
            <a:chOff x="2207964" y="4865370"/>
            <a:chExt cx="7776073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2207964" y="4865370"/>
              <a:ext cx="77760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从明天的第一个 /init 开始，把你那个智能体养起来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43250" y="5501640"/>
            <a:ext cx="6898081" cy="352044"/>
            <a:chOff x="3143250" y="5501640"/>
            <a:chExt cx="6898081" cy="352044"/>
          </a:xfrm>
        </p:grpSpPr>
        <p:grpSp>
          <p:nvGrpSpPr>
            <p:cNvPr id="12" name="Group 12"/>
            <p:cNvGrpSpPr/>
            <p:nvPr/>
          </p:nvGrpSpPr>
          <p:grpSpPr>
            <a:xfrm>
              <a:off x="3143250" y="5503069"/>
              <a:ext cx="249754" cy="233362"/>
              <a:chOff x="3143250" y="5503069"/>
              <a:chExt cx="249754" cy="23336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226594" y="5503069"/>
                <a:ext cx="50006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233362">
                    <a:moveTo>
                      <a:pt x="0" y="0"/>
                    </a:moveTo>
                    <a:lnTo>
                      <a:pt x="50006" y="0"/>
                    </a:lnTo>
                    <a:lnTo>
                      <a:pt x="50006" y="233362"/>
                    </a:lnTo>
                    <a:lnTo>
                      <a:pt x="0" y="233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143250" y="5536406"/>
                <a:ext cx="50006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200025">
                    <a:moveTo>
                      <a:pt x="0" y="0"/>
                    </a:moveTo>
                    <a:lnTo>
                      <a:pt x="50006" y="0"/>
                    </a:lnTo>
                    <a:lnTo>
                      <a:pt x="50006" y="200025"/>
                    </a:lnTo>
                    <a:lnTo>
                      <a:pt x="0" y="200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298986" y="5536406"/>
                <a:ext cx="9401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4018" h="200025">
                    <a:moveTo>
                      <a:pt x="47072" y="0"/>
                    </a:moveTo>
                    <a:lnTo>
                      <a:pt x="0" y="11736"/>
                    </a:lnTo>
                    <a:lnTo>
                      <a:pt x="46946" y="200025"/>
                    </a:lnTo>
                    <a:lnTo>
                      <a:pt x="94018" y="188289"/>
                    </a:lnTo>
                    <a:lnTo>
                      <a:pt x="470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3553206" y="5501640"/>
              <a:ext cx="6488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今天讲的是 30%——剩下 70% 在《图文版》手册里，会后发放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4142" y="6229350"/>
            <a:ext cx="11443716" cy="346901"/>
            <a:chOff x="374142" y="6229350"/>
            <a:chExt cx="11443716" cy="346901"/>
          </a:xfrm>
        </p:grpSpPr>
        <p:sp>
          <p:nvSpPr>
            <p:cNvPr id="15" name="Line 15"/>
            <p:cNvSpPr/>
            <p:nvPr/>
          </p:nvSpPr>
          <p:spPr>
            <a:xfrm>
              <a:off x="381000" y="6229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4142" y="6312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第六幕 · 行动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95323" y="63122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41 / 41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ree Design">
  <a:themeElements>
    <a:clrScheme name="Free Design">
      <a:dk1>
        <a:srgbClr val="1D2430"/>
      </a:dk1>
      <a:lt1>
        <a:srgbClr val="FFFFFF"/>
      </a:lt1>
      <a:dk2>
        <a:srgbClr val="5A6472"/>
      </a:dk2>
      <a:lt2>
        <a:srgbClr val="F4F6F8"/>
      </a:lt2>
      <a:accent1>
        <a:srgbClr val="16315B"/>
      </a:accent1>
      <a:accent2>
        <a:srgbClr val="E8621A"/>
      </a:accent2>
      <a:accent3>
        <a:srgbClr val="4A7BB5"/>
      </a:accent3>
      <a:accent4>
        <a:srgbClr val="CBD3DC"/>
      </a:accent4>
      <a:accent5>
        <a:srgbClr val="FBFCFD"/>
      </a:accent5>
      <a:accent6>
        <a:srgbClr val="E3E7EC"/>
      </a:accent6>
      <a:hlink>
        <a:srgbClr val="E8621A"/>
      </a:hlink>
      <a:folHlink>
        <a:srgbClr val="4A7BB5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1D2430"/>
      </a:dk1>
      <a:lt1>
        <a:srgbClr val="FFFFFF"/>
      </a:lt1>
      <a:dk2>
        <a:srgbClr val="5A6472"/>
      </a:dk2>
      <a:lt2>
        <a:srgbClr val="F4F6F8"/>
      </a:lt2>
      <a:accent1>
        <a:srgbClr val="16315B"/>
      </a:accent1>
      <a:accent2>
        <a:srgbClr val="E8621A"/>
      </a:accent2>
      <a:accent3>
        <a:srgbClr val="4A7BB5"/>
      </a:accent3>
      <a:accent4>
        <a:srgbClr val="CBD3DC"/>
      </a:accent4>
      <a:accent5>
        <a:srgbClr val="FBFCFD"/>
      </a:accent5>
      <a:accent6>
        <a:srgbClr val="E3E7EC"/>
      </a:accent6>
      <a:hlink>
        <a:srgbClr val="E8621A"/>
      </a:hlink>
      <a:folHlink>
        <a:srgbClr val="4A7BB5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11729</Words>
  <Application>Microsoft Office PowerPoint</Application>
  <PresentationFormat>宽屏</PresentationFormat>
  <Paragraphs>727</Paragraphs>
  <Slides>41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4" baseType="lpstr">
      <vt:lpstr>Arial</vt:lpstr>
      <vt:lpstr>Consolas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Leon Yan(晏玉龙)</cp:lastModifiedBy>
  <cp:revision>2</cp:revision>
  <dcterms:created xsi:type="dcterms:W3CDTF">2026-07-22T03:57:33Z</dcterms:created>
  <dcterms:modified xsi:type="dcterms:W3CDTF">2026-07-22T03:59:22Z</dcterms:modified>
  <cp:category/>
  <cp:contentStatus/>
  <dc:language/>
</cp:coreProperties>
</file>