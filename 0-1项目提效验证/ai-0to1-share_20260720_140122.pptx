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  <Relationship Id="rId28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各位同事好。今天用四十五分钟,汇报一个我们自己做的实验:让 AI 全程完成一个企业级的从零到一全栈项目,看看到底行不行、提效提在哪。先把结论写在封面上——AI 提供马力,门禁提供刹车,人掌方向盘。能成,而且成败的关键不在模型多聪明,在纪律。接下来我用证据把这句话讲透。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的路线分五段。先讲实验设定,让大家知道这个实验的条件有多苛刻,结论才有分量;然后结论先行,给出四条纪律;第三段看过程与成果,有截图有数字;第四段是主菜,十大教训加三个高光案例,每个案例都是真实翻过的车;最后讲怎么复用——七篇路书,以及给套件团队的四条实战反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先看实验设定,三个约束是刻意苛刻的:我对公司的开发环境不算特别熟,对这个项目本身了解也少,而且全程不写一行手工代码——所有代码都由 AI 执行,我只做决策和把关。手里的全部家当就三样:公司研发的三件套 skill、一份三十页原型四十二个功能点的 PRD、还有 Claude Code。要验证的问题也有三个:提效是不是真的、普通开发者能不能照着做成、公司这套研发思路可不可行。三个答案都是成立,后面逐一给证据。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这一页是全场最重要的一页。结论:能成。但决定成败的是四条纪律。第一,把企业框架当黑盒——企业框架跟开源世界不一样,AI 的开源直觉经常是错的,必须以 skill 和门禁为准。第二,把门禁当真相——检查命令说通过才叫通过,AI 说"应该没问题"从来不算数。第三,把设计文档和决策纪要当唯一基准,这是多个 AI 并行干活不互相打架的根。第四,人只在真正的岔路口拍板,其余时间放手让 AI 跑。后面所有案例,都是这四条的注脚。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看全景。整个项目走了七个阶段:搭框架骨架、需求分析评审、给项目配 AI 规则、前端完整呈现、交付后的验证纠偏、数据库从零到一、最后是接口开发与联调。请注意每个节点下面那行小字——每个阶段都有明确的交付物和验收方式,不是"感觉做完了",而是门禁说过了才算过。这条蛇形路线走完,零到一就没有断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口说无凭,看截图。上面这张是前后端框架骨架完成的现场:编译通过、服务能起、自检通过。下面这张是三十页产品原型在前端全量还原之后的效果,当时开了多路后台智能体并行打磨,AI 还顺手把框架一个缓存问题修了。这些截图都来自完整的实战记录文档,会后可以去翻,每一步都有图。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再看后半程。左边,数据库十八张表的建表语句、种子数据、全套实体一次生成完毕。右边这张更关键——第一个模块前后端联调打穿的现场,用的是真实的单点登录账号,黄框圈出来的就是真实的联调请求。而且我们直接查了数据库核对落库的行。从"页面能跑"到"数据是真的",全链路没有断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把成果压缩成六个数字。四十二个功能点全量评审,动用了十二个各司其职的智能体,还纠出一个大错——登录方案差点按自建账号密码写,调研后发现框架默认就是企业单点登录。三份 AI 配置文件,六个角色评审后修复。三十页前端全量实现。十八张表落库。十二步竖切配方——第二个模块照配方复制,一次编译通过。二十个模块的假数据按三层机制有序退场。右上角还有一个总量:整个项目盘点下来,AI 手写了大约六万五千行代码、近两万行文档,代码和文档的比例约三比一——这就是四十二个功能点背后的真实体量。每个数字背后都有门禁背书。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提效不是玄学,落在五个环节。搭框架:过去照手册一步步踩坑,现在一句话开场,skill 自动完成,问题 AI 自己修。需求评审:过去拉会评几天,现在多角色并行,总耗时等于最慢那一份。批量生成:并行干、用决策纪要锁住口径。批量模块:第一个慢慢打穿变成配方,后面的只写差异,成本断崖式下降。排障:不再改一版试一版,用取证手段一次钉死根因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诚实是这份汇报的立场,所以也讲成本,三笔账。第一笔最大:AI 自作主张翻车后的返工,前期姿势不对的时候,这笔账占了早期开销的一半——这正是这套方法论要消掉的。第二笔是多角色智能体的并行开销,控制办法是只喂最小上下文,并且知道什么时候停止评审。第三笔是黑盒取证的一次性投入,反编译、写复现脚本——查一次比错三版便宜,而且结论会沉淀成长期资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十大教训,先看立规矩的前五条。一,黑盒纪律,配置只改白名单、框架约定靠取证。二,门禁即真相——有意思的是,有一段时间 skill 坏了没加载,门禁照样把合规守住了。三,设计文档驱动,排期从设计文档出,不许 AI 拍脑袋。四,多角色评审,右边截图就是评审现场——关键在"独立",多个角色互相看不见,各自发现再交叉核对,多方命中的就是高可信问题。五,决策纪要是唯一基准,同一个事实只在一处定义。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抓执行的后五条。六,凡断言必取证——技术方案查框架真实能力,接口契约抄页面实际发出的数据,连任务定义丢了都从会话记录里抠回来,这条一会儿案例 B 展开。七,真岔路停下问人,该人拍的板 AI 不猜。八,配方化加地基先行,第一个模块慢慢打穿,人人要踩的坑提前铺平。九,两百不算数,落库的行才算数——这条案例 A 和 C 展开,是全场最硬核的部分。十,坑升格为资产,每个坑修完固化进记忆和红线,这是 AI 协作里回报率最高的投入。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进入案例。高保真页面交付之后,数据看板和吐槽墙全空了。更麻烦的是,大模型坚持说一切正常,甚至自己生成了一个独立页面来自证。这时候必须人工干预,要证据。第一步不是猜,是证伪:把图表组件单独抽出来渲染,喂真数据——组件完全正常。那嫌疑就被赶到了上游:数据根本没到组件。这里有条铁律,没锁死根因之前,一行业务代码都不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怎么锁死根因?写了一个二十行的脚本,把真实的库和真实的假数据都引进来,三种配置一次跑完。当前配置,全空——真因找到了:防腐层的 mock 分支对已经转换过的数据又转了一次,字段全部落到默认值。第二种改法,也不行,被另一层裁掉。第三种,数据全对——正解。一次复现,同时证明了真因、证伪了两条歧路、指出了唯一正解,比改一版试一版不知道高效多少。而且修复改在了正确的层:把假数据下沉到请求层,后端就绪后一个开关就能切回真实接口——好的修复,恰好落在未来正确架构的位置上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案例 B 讲建库。企业框架的约定,审计列叫什么、主键什么类型、逻辑删除怎么写——不猜,直接反编译框架包的字节码拿事实。三个发现:审计字段里当前用户是长整型,这一条连锁锁定了全表主键设计和前端序列化方案;逻辑删除字段叫 deleted,值是 Y 和 N,跟开源惯例完全不同;业务侧禁止自己定义配置类,一定义就跟框架冲突。还顺带揪出一个语义冲突,评论的软删要留占位,跟框架隐藏整行的语义打架,拆了独立字段。十八张表因此一次写对。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个案例有个后记,值得单独一页。文档说这套配置含乐观锁,但反编译字节码只看到分页拦截器——文档说有,字节码没有。当时的处理很克制:不假装已验证,诚实地标为"运行时自证点"。后来跑起来验证,证实拦截器确实没装,业务侧补上,并发用例钉死。一个疑点从发现、存疑到闭环,全程没有一句"应该没问题"。诚实标注,比虚假的"已验证"值钱得多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案例 C 是最容易被忽略的盲区。恢复上架要把下架人清空,代码也确实写了置空——单元测试断言通过,接口返回两百,页面显示正常,三层全绿。但直接查数据库,库里残留着旧的下架人。根因是持久层框架默认策略会静默跳过空字段。这类 bug 的结构特征很吓人:测试金字塔的每一层都是绿的,只有"真实操作加数据库核行"这一层是红的。修复用三件套:字段标上强制更新策略、真库集成测试钉死、固化进记忆——下次建表时就不会再犯。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由这个案例,立下了制度:每个模块五关验收——离线测试、真库集成、前端门禁、浏览器实测,最后一关是直查数据库核行,核审计字段是不是真实用户、置空的列是不是真的空了。五关全过才算完。这一页下面还有一句全场值得记住的话:越好看的页面越假,越空的页面越真——假数据有几十条精心编造的记录,真数据只有联调写进去的两三行。这个感受悖论要主动跟所有人说破,进度盘点表本身就是交付物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讲完案例,说复用。整套打法已经写成七篇路书,按实战时间线排:开箱姿势、方法论总纲、需求评审、项目配置、验证纠偏、数据落地、联调切真。每篇都是可照抄的操作手册,右边标了适用时机——新人从第一篇照着做,拿到需求读第三篇,联调阶段翻第七篇。另有一篇总览作导读。会后连同这份 PPT 一起发给大家。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这个实验还有个副产品:给套件团队的四条实战反馈。一,骨架阶段本地单点登录跑不通,skill 在这一步有跳步,建议加强约束;二,插件注册表被批量脚本写坏过一次,所有 skill 集体失踪,而且注册表只在启动时读取,建议修复并在文档写明必须完全重启;三,starter 文档说含乐观锁、字节码里没有,建议文档与产物对齐;四,脚手架有演示页残留和模板缺陷,建议模板层修正。实验在用工具,也在反哺工具。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最后一页,一句话收尾。这个实验证明的不是 AI 能替代开发,而是:一般开发者,加上公司的 skill,加上正确的姿势,等于一条人掌方向盘的从零到一的高速公路。每一条红线都有截图为证,每一个结论都有门禁背书。七篇路书已经就位——下一个从零到一的项目,就用这套打法开工。谢谢大家。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i-0to1-shar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i-0to1-shar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cff03f9220de306.png"/>
  <Relationship Id="rId3" Type="http://schemas.openxmlformats.org/officeDocument/2006/relationships/image" Target="../media/image_a031f890921f709d.jp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2289f0dd4668881.png"/>
  <Relationship Id="rId3" Type="http://schemas.openxmlformats.org/officeDocument/2006/relationships/image" Target="../media/image_941e50068f9b890a.jp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64fb8f9417973f3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dbb4ce7ae15bcdd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572500" y="0"/>
            <a:ext cx="3619500" cy="6858000"/>
            <a:chOff x="8572500" y="0"/>
            <a:chExt cx="3619500" cy="6858000"/>
          </a:xfrm>
        </p:grpSpPr>
        <p:sp>
          <p:nvSpPr>
            <p:cNvPr id="2" name="Rectangle 2"/>
            <p:cNvSpPr/>
            <p:nvPr/>
          </p:nvSpPr>
          <p:spPr>
            <a:xfrm>
              <a:off x="9144000" y="0"/>
              <a:ext cx="3048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8572500" y="1143000"/>
              <a:ext cx="2286000" cy="1428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620250" y="3524250"/>
              <a:ext cx="2095500" cy="2095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0" y="6096000"/>
              <a:ext cx="30480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90550" y="1238250"/>
            <a:ext cx="7219950" cy="3555873"/>
            <a:chOff x="590550" y="1238250"/>
            <a:chExt cx="7219950" cy="3555873"/>
          </a:xfrm>
        </p:grpSpPr>
        <p:sp>
          <p:nvSpPr>
            <p:cNvPr id="7" name="Rectangle 7"/>
            <p:cNvSpPr/>
            <p:nvPr/>
          </p:nvSpPr>
          <p:spPr>
            <a:xfrm>
              <a:off x="609600" y="1238250"/>
              <a:ext cx="1143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0550" y="1704975"/>
              <a:ext cx="386897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提供马力,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2486025"/>
              <a:ext cx="420442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门禁提供刹车,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550" y="3267075"/>
              <a:ext cx="3218498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人掌方向盘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415290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8932" y="4383405"/>
              <a:ext cx="65480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一次 0→1 全栈项目的 AI 提效验证实验 · 结果汇报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5219700"/>
            <a:ext cx="4494962" cy="495300"/>
            <a:chOff x="609600" y="5219700"/>
            <a:chExt cx="4494962" cy="495300"/>
          </a:xfrm>
        </p:grpSpPr>
        <p:sp>
          <p:nvSpPr>
            <p:cNvPr id="14" name="Rectangle 14"/>
            <p:cNvSpPr/>
            <p:nvPr/>
          </p:nvSpPr>
          <p:spPr>
            <a:xfrm>
              <a:off x="609600" y="5219700"/>
              <a:ext cx="1905000" cy="495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4124" y="5358765"/>
              <a:ext cx="11759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结论:能成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72156" y="5358765"/>
              <a:ext cx="23324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成败在纪律,不在模型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1980" y="5991225"/>
            <a:ext cx="2540622" cy="623126"/>
            <a:chOff x="601980" y="5991225"/>
            <a:chExt cx="2540622" cy="623126"/>
          </a:xfrm>
        </p:grpSpPr>
        <p:sp>
          <p:nvSpPr>
            <p:cNvPr id="18" name="TextBox 18"/>
            <p:cNvSpPr txBox="1"/>
            <p:nvPr/>
          </p:nvSpPr>
          <p:spPr>
            <a:xfrm>
              <a:off x="601980" y="5991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作者:晏玉龙 · 导师:叶俊波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2742" y="6350318"/>
              <a:ext cx="2539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内部技术分享 · 45 分钟 ·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590550" y="942975"/>
            <a:ext cx="2200770" cy="4765402"/>
            <a:chOff x="590550" y="942975"/>
            <a:chExt cx="2200770" cy="4765402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942975"/>
              <a:ext cx="220077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45 分钟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755458"/>
              <a:ext cx="136777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路线图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2400300"/>
              <a:ext cx="1143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654321" y="5378721"/>
              <a:ext cx="329656" cy="329656"/>
              <a:chOff x="654321" y="5378721"/>
              <a:chExt cx="329656" cy="32965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654321" y="5378721"/>
                <a:ext cx="329656" cy="329656"/>
              </a:xfrm>
              <a:custGeom>
                <a:avLst/>
                <a:gdLst/>
                <a:ahLst/>
                <a:cxnLst/>
                <a:rect l="l" t="t" r="r" b="b"/>
                <a:pathLst>
                  <a:path w="329656" h="329656">
                    <a:moveTo>
                      <a:pt x="135579" y="30664"/>
                    </a:moveTo>
                    <a:cubicBezTo>
                      <a:pt x="143018" y="0"/>
                      <a:pt x="186639" y="0"/>
                      <a:pt x="194078" y="30664"/>
                    </a:cubicBezTo>
                    <a:cubicBezTo>
                      <a:pt x="196342" y="40008"/>
                      <a:pt x="202932" y="47708"/>
                      <a:pt x="211814" y="51388"/>
                    </a:cubicBezTo>
                    <a:cubicBezTo>
                      <a:pt x="220695" y="55067"/>
                      <a:pt x="230800" y="54284"/>
                      <a:pt x="239009" y="49279"/>
                    </a:cubicBezTo>
                    <a:cubicBezTo>
                      <a:pt x="265953" y="32864"/>
                      <a:pt x="296810" y="63703"/>
                      <a:pt x="280395" y="90665"/>
                    </a:cubicBezTo>
                    <a:cubicBezTo>
                      <a:pt x="275397" y="98870"/>
                      <a:pt x="274616" y="108967"/>
                      <a:pt x="278291" y="117843"/>
                    </a:cubicBezTo>
                    <a:cubicBezTo>
                      <a:pt x="281966" y="126719"/>
                      <a:pt x="289657" y="133309"/>
                      <a:pt x="298992" y="135579"/>
                    </a:cubicBezTo>
                    <a:cubicBezTo>
                      <a:pt x="329656" y="143018"/>
                      <a:pt x="329656" y="186639"/>
                      <a:pt x="298992" y="194078"/>
                    </a:cubicBezTo>
                    <a:cubicBezTo>
                      <a:pt x="289649" y="196342"/>
                      <a:pt x="281949" y="202932"/>
                      <a:pt x="278269" y="211814"/>
                    </a:cubicBezTo>
                    <a:cubicBezTo>
                      <a:pt x="274589" y="220695"/>
                      <a:pt x="275373" y="230800"/>
                      <a:pt x="280377" y="239009"/>
                    </a:cubicBezTo>
                    <a:cubicBezTo>
                      <a:pt x="296792" y="265953"/>
                      <a:pt x="265953" y="296810"/>
                      <a:pt x="238991" y="280395"/>
                    </a:cubicBezTo>
                    <a:cubicBezTo>
                      <a:pt x="230787" y="275397"/>
                      <a:pt x="220689" y="274616"/>
                      <a:pt x="211813" y="278291"/>
                    </a:cubicBezTo>
                    <a:cubicBezTo>
                      <a:pt x="202937" y="281966"/>
                      <a:pt x="196348" y="289657"/>
                      <a:pt x="194078" y="298992"/>
                    </a:cubicBezTo>
                    <a:cubicBezTo>
                      <a:pt x="186639" y="329656"/>
                      <a:pt x="143018" y="329656"/>
                      <a:pt x="135579" y="298992"/>
                    </a:cubicBezTo>
                    <a:cubicBezTo>
                      <a:pt x="133315" y="289649"/>
                      <a:pt x="126725" y="281949"/>
                      <a:pt x="117843" y="278269"/>
                    </a:cubicBezTo>
                    <a:cubicBezTo>
                      <a:pt x="108961" y="274589"/>
                      <a:pt x="98856" y="275373"/>
                      <a:pt x="90648" y="280377"/>
                    </a:cubicBezTo>
                    <a:cubicBezTo>
                      <a:pt x="63703" y="296792"/>
                      <a:pt x="32847" y="265953"/>
                      <a:pt x="49262" y="238991"/>
                    </a:cubicBezTo>
                    <a:cubicBezTo>
                      <a:pt x="54259" y="230787"/>
                      <a:pt x="55041" y="220689"/>
                      <a:pt x="51365" y="211813"/>
                    </a:cubicBezTo>
                    <a:cubicBezTo>
                      <a:pt x="47690" y="202937"/>
                      <a:pt x="39999" y="196348"/>
                      <a:pt x="30664" y="194078"/>
                    </a:cubicBezTo>
                    <a:cubicBezTo>
                      <a:pt x="0" y="186639"/>
                      <a:pt x="0" y="143018"/>
                      <a:pt x="30664" y="135579"/>
                    </a:cubicBezTo>
                    <a:cubicBezTo>
                      <a:pt x="40008" y="133315"/>
                      <a:pt x="47708" y="126725"/>
                      <a:pt x="51388" y="117843"/>
                    </a:cubicBezTo>
                    <a:cubicBezTo>
                      <a:pt x="55067" y="108961"/>
                      <a:pt x="54284" y="98856"/>
                      <a:pt x="49279" y="90648"/>
                    </a:cubicBezTo>
                    <a:cubicBezTo>
                      <a:pt x="32864" y="63703"/>
                      <a:pt x="63703" y="32847"/>
                      <a:pt x="90665" y="49262"/>
                    </a:cubicBezTo>
                    <a:cubicBezTo>
                      <a:pt x="108128" y="59879"/>
                      <a:pt x="130759" y="50484"/>
                      <a:pt x="135579" y="30664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66762" y="5491162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52387"/>
                    </a:moveTo>
                    <a:cubicBezTo>
                      <a:pt x="0" y="81320"/>
                      <a:pt x="23455" y="104775"/>
                      <a:pt x="52387" y="104775"/>
                    </a:cubicBezTo>
                    <a:cubicBezTo>
                      <a:pt x="81320" y="104775"/>
                      <a:pt x="104775" y="81320"/>
                      <a:pt x="104775" y="52387"/>
                    </a:cubicBezTo>
                    <a:cubicBezTo>
                      <a:pt x="104775" y="23455"/>
                      <a:pt x="81320" y="0"/>
                      <a:pt x="52387" y="0"/>
                    </a:cubicBezTo>
                    <a:cubicBezTo>
                      <a:pt x="23455" y="0"/>
                      <a:pt x="0" y="23455"/>
                      <a:pt x="0" y="52387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</p:grpSp>
      <p:grpSp>
        <p:nvGrpSpPr>
          <p:cNvPr id="13" name="Group 13"/>
          <p:cNvGrpSpPr/>
          <p:nvPr/>
        </p:nvGrpSpPr>
        <p:grpSpPr>
          <a:xfrm>
            <a:off x="4022598" y="1030605"/>
            <a:ext cx="7559802" cy="731520"/>
            <a:chOff x="4022598" y="1030605"/>
            <a:chExt cx="7559802" cy="731520"/>
          </a:xfrm>
        </p:grpSpPr>
        <p:sp>
          <p:nvSpPr>
            <p:cNvPr id="9" name="TextBox 9"/>
            <p:cNvSpPr txBox="1"/>
            <p:nvPr/>
          </p:nvSpPr>
          <p:spPr>
            <a:xfrm>
              <a:off x="4022598" y="1050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37582" y="10306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实验设定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40630" y="1438275"/>
              <a:ext cx="40740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一名"普通开发者"的苛刻开局与三个验证目标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038600" y="175260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022598" y="2040255"/>
            <a:ext cx="7559802" cy="731520"/>
            <a:chOff x="4022598" y="2040255"/>
            <a:chExt cx="7559802" cy="731520"/>
          </a:xfrm>
        </p:grpSpPr>
        <p:sp>
          <p:nvSpPr>
            <p:cNvPr id="14" name="TextBox 14"/>
            <p:cNvSpPr txBox="1"/>
            <p:nvPr/>
          </p:nvSpPr>
          <p:spPr>
            <a:xfrm>
              <a:off x="4022598" y="20602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37582" y="20402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结论先行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40630" y="244792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能成 + 决定成败的四条纪律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038600" y="276225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022598" y="3049905"/>
            <a:ext cx="7559802" cy="731520"/>
            <a:chOff x="4022598" y="3049905"/>
            <a:chExt cx="7559802" cy="731520"/>
          </a:xfrm>
        </p:grpSpPr>
        <p:sp>
          <p:nvSpPr>
            <p:cNvPr id="19" name="TextBox 19"/>
            <p:cNvSpPr txBox="1"/>
            <p:nvPr/>
          </p:nvSpPr>
          <p:spPr>
            <a:xfrm>
              <a:off x="4022598" y="30699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37582" y="30499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过程与成果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57575"/>
              <a:ext cx="47504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七阶段流水线 · 里程碑截图 · 量化清单 · 提效与成本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038600" y="377190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4022598" y="4059555"/>
            <a:ext cx="7559802" cy="731520"/>
            <a:chOff x="4022598" y="4059555"/>
            <a:chExt cx="7559802" cy="731520"/>
          </a:xfrm>
        </p:grpSpPr>
        <p:sp>
          <p:nvSpPr>
            <p:cNvPr id="24" name="TextBox 24"/>
            <p:cNvSpPr txBox="1"/>
            <p:nvPr/>
          </p:nvSpPr>
          <p:spPr>
            <a:xfrm>
              <a:off x="4022598" y="40795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37582" y="40595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教训与案例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40630" y="4467225"/>
              <a:ext cx="4164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十大教训 + 三个高光案例(排障 / 取证 / 核库)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038600" y="478155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4022598" y="5069205"/>
            <a:ext cx="7559802" cy="731520"/>
            <a:chOff x="4022598" y="5069205"/>
            <a:chExt cx="7559802" cy="731520"/>
          </a:xfrm>
        </p:grpSpPr>
        <p:sp>
          <p:nvSpPr>
            <p:cNvPr id="29" name="TextBox 29"/>
            <p:cNvSpPr txBox="1"/>
            <p:nvPr/>
          </p:nvSpPr>
          <p:spPr>
            <a:xfrm>
              <a:off x="4022598" y="50892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37582" y="50692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复用与反馈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40630" y="5476875"/>
              <a:ext cx="388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七篇路书导读 + 给套件团队的四条实战反馈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038600" y="5791200"/>
              <a:ext cx="7543800" cy="9525"/>
            </a:xfrm>
            <a:custGeom>
              <a:avLst/>
              <a:gdLst/>
              <a:ahLst/>
              <a:cxnLst/>
              <a:rect l="l" t="t" r="r" b="b"/>
              <a:pathLst>
                <a:path w="7543800" h="9525">
                  <a:moveTo>
                    <a:pt x="0" y="0"/>
                  </a:moveTo>
                  <a:lnTo>
                    <a:pt x="7543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04266" y="6477952"/>
            <a:ext cx="10983468" cy="205359"/>
            <a:chOff x="604266" y="6477952"/>
            <a:chExt cx="109834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604266" y="64779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议程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421580" y="64779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78907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实验设定:一名"普通开发者"的苛刻开局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01980" y="1552575"/>
            <a:ext cx="10980420" cy="1362075"/>
            <a:chOff x="601980" y="1552575"/>
            <a:chExt cx="10980420" cy="1362075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552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刻意苛刻的约束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866900"/>
              <a:ext cx="35052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9056" y="20916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对开发环境不熟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342" y="24831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不特别熟悉公司前后端框架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343400" y="1866900"/>
              <a:ext cx="35052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62856" y="20916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对项目了解少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65142" y="2483168"/>
              <a:ext cx="2221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只有一份 PRD,业务靠梳理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77200" y="1866900"/>
              <a:ext cx="35052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6656" y="20916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不写一行手工代码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942" y="2483168"/>
              <a:ext cx="2702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全程 AI 执行,人只做决策与把关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1980" y="3305175"/>
            <a:ext cx="8349615" cy="598170"/>
            <a:chOff x="601980" y="3305175"/>
            <a:chExt cx="8349615" cy="598170"/>
          </a:xfrm>
        </p:grpSpPr>
        <p:sp>
          <p:nvSpPr>
            <p:cNvPr id="17" name="TextBox 17"/>
            <p:cNvSpPr txBox="1"/>
            <p:nvPr/>
          </p:nvSpPr>
          <p:spPr>
            <a:xfrm>
              <a:off x="601980" y="33051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全部输入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59280" y="3305175"/>
              <a:ext cx="709231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Quectel-code 三件套(code-master / vue-coding / java-coding)+ 手册与组件库30 页原型 + 42 功能点 PRD · Claude Code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4130040"/>
            <a:ext cx="10972800" cy="680085"/>
            <a:chOff x="609600" y="4130040"/>
            <a:chExt cx="10972800" cy="680085"/>
          </a:xfrm>
        </p:grpSpPr>
        <p:grpSp>
          <p:nvGrpSpPr>
            <p:cNvPr id="23" name="Group 23"/>
            <p:cNvGrpSpPr/>
            <p:nvPr/>
          </p:nvGrpSpPr>
          <p:grpSpPr>
            <a:xfrm>
              <a:off x="652462" y="4233862"/>
              <a:ext cx="257175" cy="257175"/>
              <a:chOff x="652462" y="4233862"/>
              <a:chExt cx="257175" cy="25717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66762" y="43481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09612" y="42910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2462" y="42338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133856" y="4130040"/>
              <a:ext cx="50454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验证一:AI 大模型提效是否真实、提在哪里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5380" y="4486275"/>
              <a:ext cx="2862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结论:真实,且能量化到具体环节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248900" y="4191000"/>
              <a:ext cx="1333500" cy="381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558186" y="4286250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4800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09600" y="4968240"/>
            <a:ext cx="10972800" cy="680085"/>
            <a:chOff x="609600" y="4968240"/>
            <a:chExt cx="10972800" cy="680085"/>
          </a:xfrm>
        </p:grpSpPr>
        <p:grpSp>
          <p:nvGrpSpPr>
            <p:cNvPr id="33" name="Group 33"/>
            <p:cNvGrpSpPr/>
            <p:nvPr/>
          </p:nvGrpSpPr>
          <p:grpSpPr>
            <a:xfrm>
              <a:off x="652462" y="5072062"/>
              <a:ext cx="257175" cy="257175"/>
              <a:chOff x="652462" y="5072062"/>
              <a:chExt cx="257175" cy="2571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66762" y="51863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09612" y="51292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2462" y="50720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133856" y="4968240"/>
              <a:ext cx="69515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验证二:一般开发者能否凭公司 skill + 需求完成 0→1 全栈项目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35380" y="5324475"/>
              <a:ext cx="2367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结论:能——前提是姿势正确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248900" y="5029200"/>
              <a:ext cx="1333500" cy="381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558186" y="5124450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09600" y="5638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652462" y="5806440"/>
            <a:ext cx="10929938" cy="649605"/>
            <a:chOff x="652462" y="5806440"/>
            <a:chExt cx="10929938" cy="649605"/>
          </a:xfrm>
        </p:grpSpPr>
        <p:grpSp>
          <p:nvGrpSpPr>
            <p:cNvPr id="43" name="Group 43"/>
            <p:cNvGrpSpPr/>
            <p:nvPr/>
          </p:nvGrpSpPr>
          <p:grpSpPr>
            <a:xfrm>
              <a:off x="652462" y="5910262"/>
              <a:ext cx="257175" cy="257175"/>
              <a:chOff x="652462" y="5910262"/>
              <a:chExt cx="257175" cy="2571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66762" y="60245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9612" y="59674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2462" y="59102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133856" y="5806440"/>
              <a:ext cx="66207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验证三:"skill + 门禁 + 设计文档驱动"的研发思路是否可行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35380" y="6162675"/>
              <a:ext cx="3993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结论:可行,并实战暴露了若干 skill 待加强点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248900" y="5867400"/>
              <a:ext cx="1333500" cy="381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558186" y="5962650"/>
              <a:ext cx="7149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 成立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78907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结论先行:能成——决定成败的是四条纪律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428750"/>
            <a:ext cx="10972800" cy="552450"/>
            <a:chOff x="609600" y="1428750"/>
            <a:chExt cx="10972800" cy="55245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552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954881" y="1583531"/>
              <a:ext cx="242888" cy="242888"/>
              <a:chOff x="954881" y="1583531"/>
              <a:chExt cx="242888" cy="24288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54881" y="15835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35844" y="1677988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812200" y="1589722"/>
              <a:ext cx="85676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全程用 AI 做企业 0→1 全栈项目:能成——决定成败的不是模型多聪明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2247900"/>
            <a:ext cx="5353050" cy="1638300"/>
            <a:chOff x="609600" y="2247900"/>
            <a:chExt cx="5353050" cy="1638300"/>
          </a:xfrm>
        </p:grpSpPr>
        <p:sp>
          <p:nvSpPr>
            <p:cNvPr id="12" name="Rectangle 12"/>
            <p:cNvSpPr/>
            <p:nvPr/>
          </p:nvSpPr>
          <p:spPr>
            <a:xfrm>
              <a:off x="609600" y="2247900"/>
              <a:ext cx="5353050" cy="1638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7250" y="239077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1366311" y="2533650"/>
              <a:ext cx="239177" cy="228599"/>
            </a:xfrm>
            <a:custGeom>
              <a:avLst/>
              <a:gdLst/>
              <a:ahLst/>
              <a:cxnLst/>
              <a:rect l="l" t="t" r="r" b="b"/>
              <a:pathLst>
                <a:path w="239177" h="228599">
                  <a:moveTo>
                    <a:pt x="119589" y="0"/>
                  </a:moveTo>
                  <a:cubicBezTo>
                    <a:pt x="149254" y="26245"/>
                    <a:pt x="187971" y="39910"/>
                    <a:pt x="227538" y="38100"/>
                  </a:cubicBezTo>
                  <a:cubicBezTo>
                    <a:pt x="239177" y="77692"/>
                    <a:pt x="234262" y="120312"/>
                    <a:pt x="213916" y="156216"/>
                  </a:cubicBezTo>
                  <a:cubicBezTo>
                    <a:pt x="193571" y="192120"/>
                    <a:pt x="159534" y="218238"/>
                    <a:pt x="119589" y="228599"/>
                  </a:cubicBezTo>
                  <a:cubicBezTo>
                    <a:pt x="79643" y="218238"/>
                    <a:pt x="45606" y="192120"/>
                    <a:pt x="25261" y="156216"/>
                  </a:cubicBezTo>
                  <a:cubicBezTo>
                    <a:pt x="4915" y="120312"/>
                    <a:pt x="0" y="77692"/>
                    <a:pt x="11639" y="38100"/>
                  </a:cubicBezTo>
                  <a:cubicBezTo>
                    <a:pt x="51206" y="39910"/>
                    <a:pt x="89924" y="26245"/>
                    <a:pt x="119589" y="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80794" y="2532698"/>
              <a:ext cx="22248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把企业框架当黑盒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5880" y="3038475"/>
              <a:ext cx="2386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 skill / 门禁为准,禁止 AI 用开源直觉自由发挥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29350" y="2247900"/>
            <a:ext cx="5353050" cy="1638300"/>
            <a:chOff x="6229350" y="2247900"/>
            <a:chExt cx="5353050" cy="1638300"/>
          </a:xfrm>
        </p:grpSpPr>
        <p:sp>
          <p:nvSpPr>
            <p:cNvPr id="18" name="Rectangle 18"/>
            <p:cNvSpPr/>
            <p:nvPr/>
          </p:nvSpPr>
          <p:spPr>
            <a:xfrm>
              <a:off x="6229350" y="2247900"/>
              <a:ext cx="5353050" cy="1638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77000" y="239077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991350" y="2533650"/>
              <a:ext cx="228599" cy="228599"/>
              <a:chOff x="6991350" y="2533650"/>
              <a:chExt cx="228599" cy="22859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991350" y="25336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067550" y="26225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7400544" y="25326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把门禁当真相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45630" y="3038475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self-check / typecheck / 编译 / JDBC 核库说了算,</a:t>
              </a:r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说"应该没问题"不算数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4152900"/>
            <a:ext cx="5353050" cy="1638300"/>
            <a:chOff x="609600" y="4152900"/>
            <a:chExt cx="5353050" cy="1638300"/>
          </a:xfrm>
        </p:grpSpPr>
        <p:sp>
          <p:nvSpPr>
            <p:cNvPr id="26" name="Rectangle 26"/>
            <p:cNvSpPr/>
            <p:nvPr/>
          </p:nvSpPr>
          <p:spPr>
            <a:xfrm>
              <a:off x="609600" y="4152900"/>
              <a:ext cx="5353050" cy="1638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7250" y="429577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1371600" y="4456332"/>
              <a:ext cx="238124" cy="185518"/>
              <a:chOff x="1371600" y="4456332"/>
              <a:chExt cx="238124" cy="18551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371600" y="4621432"/>
                <a:ext cx="228599" cy="20418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418">
                    <a:moveTo>
                      <a:pt x="0" y="20418"/>
                    </a:moveTo>
                    <a:cubicBezTo>
                      <a:pt x="35364" y="0"/>
                      <a:pt x="78935" y="0"/>
                      <a:pt x="114300" y="20418"/>
                    </a:cubicBezTo>
                    <a:cubicBezTo>
                      <a:pt x="149664" y="0"/>
                      <a:pt x="193235" y="0"/>
                      <a:pt x="228599" y="20418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71600" y="4456332"/>
                <a:ext cx="228599" cy="20418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418">
                    <a:moveTo>
                      <a:pt x="0" y="20418"/>
                    </a:moveTo>
                    <a:cubicBezTo>
                      <a:pt x="35364" y="0"/>
                      <a:pt x="78935" y="0"/>
                      <a:pt x="114300" y="20418"/>
                    </a:cubicBezTo>
                    <a:cubicBezTo>
                      <a:pt x="149664" y="0"/>
                      <a:pt x="193235" y="0"/>
                      <a:pt x="228599" y="20418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71600" y="4476750"/>
                <a:ext cx="95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100">
                    <a:moveTo>
                      <a:pt x="0" y="0"/>
                    </a:moveTo>
                    <a:lnTo>
                      <a:pt x="0" y="165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485900" y="4476750"/>
                <a:ext cx="95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100">
                    <a:moveTo>
                      <a:pt x="0" y="0"/>
                    </a:moveTo>
                    <a:lnTo>
                      <a:pt x="0" y="165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600199" y="4476750"/>
                <a:ext cx="95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5100">
                    <a:moveTo>
                      <a:pt x="0" y="0"/>
                    </a:moveTo>
                    <a:lnTo>
                      <a:pt x="0" y="165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780794" y="4437698"/>
              <a:ext cx="27761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把基准文件当唯一依据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5880" y="4943475"/>
              <a:ext cx="2891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设计文档与决策纪要是唯一基准——并行产出不漂移的根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29350" y="4152900"/>
            <a:ext cx="5353050" cy="1638300"/>
            <a:chOff x="6229350" y="4152900"/>
            <a:chExt cx="5353050" cy="1638300"/>
          </a:xfrm>
        </p:grpSpPr>
        <p:sp>
          <p:nvSpPr>
            <p:cNvPr id="37" name="Rectangle 37"/>
            <p:cNvSpPr/>
            <p:nvPr/>
          </p:nvSpPr>
          <p:spPr>
            <a:xfrm>
              <a:off x="6229350" y="4152900"/>
              <a:ext cx="5353050" cy="16383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77000" y="429577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991350" y="4438650"/>
              <a:ext cx="228599" cy="228600"/>
              <a:chOff x="6991350" y="4438650"/>
              <a:chExt cx="228599" cy="228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16750" y="44386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91350" y="45910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156449" y="444030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181849" y="459295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400544" y="4437698"/>
              <a:ext cx="1949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人在真岔路拍板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45630" y="4943475"/>
              <a:ext cx="3348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改产物、触红线、PRD 矛盾时停下问人,其余放手让 AI 跑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6076950"/>
            <a:ext cx="10972800" cy="481584"/>
            <a:chOff x="609600" y="6076950"/>
            <a:chExt cx="10972800" cy="481584"/>
          </a:xfrm>
        </p:grpSpPr>
        <p:sp>
          <p:nvSpPr>
            <p:cNvPr id="47" name="Line 47"/>
            <p:cNvSpPr/>
            <p:nvPr/>
          </p:nvSpPr>
          <p:spPr>
            <a:xfrm>
              <a:off x="609600" y="6076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71743" y="6206490"/>
              <a:ext cx="58485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提供马力,skill 门禁提供刹车与护栏,人掌方向盘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67553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全链路:七个阶段,阶段阶段有验收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1215687" y="719137"/>
              <a:ext cx="314325" cy="314325"/>
              <a:chOff x="11215687" y="719137"/>
              <a:chExt cx="314325" cy="31432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963612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460162" y="719137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34925" y="69850"/>
                    </a:move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  <a:cubicBezTo>
                      <a:pt x="0" y="54213"/>
                      <a:pt x="15636" y="69850"/>
                      <a:pt x="34925" y="69850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37925" y="754062"/>
                <a:ext cx="69850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244475">
                    <a:moveTo>
                      <a:pt x="69850" y="0"/>
                    </a:moveTo>
                    <a:cubicBezTo>
                      <a:pt x="50561" y="0"/>
                      <a:pt x="34925" y="15636"/>
                      <a:pt x="34925" y="34925"/>
                    </a:cubicBezTo>
                    <a:lnTo>
                      <a:pt x="34925" y="209550"/>
                    </a:lnTo>
                    <a:cubicBezTo>
                      <a:pt x="34925" y="228838"/>
                      <a:pt x="19289" y="244475"/>
                      <a:pt x="0" y="244475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8" name="Line 8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524000" y="2476500"/>
            <a:ext cx="9572625" cy="2000250"/>
            <a:chOff x="1524000" y="2476500"/>
            <a:chExt cx="9572625" cy="2000250"/>
          </a:xfrm>
        </p:grpSpPr>
        <p:sp>
          <p:nvSpPr>
            <p:cNvPr id="10" name="Freeform 10"/>
            <p:cNvSpPr/>
            <p:nvPr/>
          </p:nvSpPr>
          <p:spPr>
            <a:xfrm>
              <a:off x="1524000" y="2476500"/>
              <a:ext cx="9572625" cy="2000250"/>
            </a:xfrm>
            <a:custGeom>
              <a:avLst/>
              <a:gdLst/>
              <a:ahLst/>
              <a:cxnLst/>
              <a:rect l="l" t="t" r="r" b="b"/>
              <a:pathLst>
                <a:path w="9572625" h="2000250">
                  <a:moveTo>
                    <a:pt x="0" y="0"/>
                  </a:moveTo>
                  <a:lnTo>
                    <a:pt x="8572500" y="0"/>
                  </a:lnTo>
                  <a:cubicBezTo>
                    <a:pt x="9124854" y="0"/>
                    <a:pt x="9572625" y="447771"/>
                    <a:pt x="9572625" y="1000125"/>
                  </a:cubicBezTo>
                  <a:cubicBezTo>
                    <a:pt x="9572625" y="1552479"/>
                    <a:pt x="9124854" y="2000250"/>
                    <a:pt x="8572500" y="2000250"/>
                  </a:cubicBezTo>
                  <a:lnTo>
                    <a:pt x="571500" y="2000250"/>
                  </a:lnTo>
                </a:path>
              </a:pathLst>
            </a:custGeom>
            <a:noFill/>
            <a:ln w="228600" cap="rnd">
              <a:solidFill>
                <a:schemeClr val="accent5"/>
              </a:solidFill>
              <a:round/>
            </a:ln>
          </p:spPr>
        </p:sp>
        <p:sp>
          <p:nvSpPr>
            <p:cNvPr id="11" name="Freeform 11"/>
            <p:cNvSpPr/>
            <p:nvPr/>
          </p:nvSpPr>
          <p:spPr>
            <a:xfrm>
              <a:off x="1524000" y="2476500"/>
              <a:ext cx="9572625" cy="2000250"/>
            </a:xfrm>
            <a:custGeom>
              <a:avLst/>
              <a:gdLst/>
              <a:ahLst/>
              <a:cxnLst/>
              <a:rect l="l" t="t" r="r" b="b"/>
              <a:pathLst>
                <a:path w="9572625" h="2000250">
                  <a:moveTo>
                    <a:pt x="0" y="0"/>
                  </a:moveTo>
                  <a:lnTo>
                    <a:pt x="8572500" y="0"/>
                  </a:lnTo>
                  <a:cubicBezTo>
                    <a:pt x="9124854" y="0"/>
                    <a:pt x="9572625" y="447771"/>
                    <a:pt x="9572625" y="1000125"/>
                  </a:cubicBezTo>
                  <a:cubicBezTo>
                    <a:pt x="9572625" y="1552479"/>
                    <a:pt x="9124854" y="2000250"/>
                    <a:pt x="8572500" y="2000250"/>
                  </a:cubicBezTo>
                  <a:lnTo>
                    <a:pt x="571500" y="2000250"/>
                  </a:lnTo>
                </a:path>
              </a:pathLst>
            </a:custGeom>
            <a:noFill/>
            <a:ln w="19050" cap="rnd">
              <a:solidFill>
                <a:schemeClr val="accent3">
                  <a:alpha val="50000"/>
                </a:schemeClr>
              </a:solidFill>
              <a:round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52500" y="1485900"/>
            <a:ext cx="2286000" cy="1238250"/>
            <a:chOff x="952500" y="1485900"/>
            <a:chExt cx="2286000" cy="1238250"/>
          </a:xfrm>
        </p:grpSpPr>
        <p:sp>
          <p:nvSpPr>
            <p:cNvPr id="13" name="Ellipse 13"/>
            <p:cNvSpPr/>
            <p:nvPr/>
          </p:nvSpPr>
          <p:spPr>
            <a:xfrm>
              <a:off x="1847850" y="22288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22980" y="23841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2500" y="14859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52500" y="1485900"/>
              <a:ext cx="22860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85747" y="1627346"/>
              <a:ext cx="1419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环境与框架骨架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19432" y="1934528"/>
              <a:ext cx="21521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前后端可编译可启动 | self-check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333750" y="1485900"/>
            <a:ext cx="2286000" cy="1238250"/>
            <a:chOff x="3333750" y="1485900"/>
            <a:chExt cx="2286000" cy="1238250"/>
          </a:xfrm>
        </p:grpSpPr>
        <p:sp>
          <p:nvSpPr>
            <p:cNvPr id="20" name="Ellipse 20"/>
            <p:cNvSpPr/>
            <p:nvPr/>
          </p:nvSpPr>
          <p:spPr>
            <a:xfrm>
              <a:off x="4229100" y="22288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04230" y="23841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333750" y="14859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333750" y="1485900"/>
              <a:ext cx="22860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67356" y="1627346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需求分析评审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45434" y="1934528"/>
              <a:ext cx="18626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决策纪要+PRD 终稿 | 人拍板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0" y="1485900"/>
            <a:ext cx="2286000" cy="1238250"/>
            <a:chOff x="5715000" y="1485900"/>
            <a:chExt cx="2286000" cy="1238250"/>
          </a:xfrm>
        </p:grpSpPr>
        <p:sp>
          <p:nvSpPr>
            <p:cNvPr id="27" name="Ellipse 27"/>
            <p:cNvSpPr/>
            <p:nvPr/>
          </p:nvSpPr>
          <p:spPr>
            <a:xfrm>
              <a:off x="6610350" y="22288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85480" y="23841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0" y="14859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0" y="1485900"/>
              <a:ext cx="22860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98615" y="1627346"/>
              <a:ext cx="13187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项目化配置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79790" y="1926431"/>
              <a:ext cx="19564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配置三件套 | 断言对源码核验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96250" y="1485900"/>
            <a:ext cx="2286000" cy="1238250"/>
            <a:chOff x="8096250" y="1485900"/>
            <a:chExt cx="2286000" cy="1238250"/>
          </a:xfrm>
        </p:grpSpPr>
        <p:sp>
          <p:nvSpPr>
            <p:cNvPr id="34" name="Ellipse 34"/>
            <p:cNvSpPr/>
            <p:nvPr/>
          </p:nvSpPr>
          <p:spPr>
            <a:xfrm>
              <a:off x="8991600" y="22288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66730" y="23841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96250" y="14859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096250" y="1485900"/>
              <a:ext cx="22860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29856" y="1627346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前端完整呈现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37391" y="1934528"/>
              <a:ext cx="2003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30 页高保真 | self-check+走查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27340" y="4229100"/>
            <a:ext cx="2423820" cy="1238250"/>
            <a:chOff x="8027340" y="4229100"/>
            <a:chExt cx="2423820" cy="1238250"/>
          </a:xfrm>
        </p:grpSpPr>
        <p:sp>
          <p:nvSpPr>
            <p:cNvPr id="41" name="Ellipse 41"/>
            <p:cNvSpPr/>
            <p:nvPr/>
          </p:nvSpPr>
          <p:spPr>
            <a:xfrm>
              <a:off x="8991600" y="422910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66730" y="4384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096250" y="47625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096250" y="4762500"/>
              <a:ext cx="2286000" cy="47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30574" y="4903946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验证纠偏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27340" y="520303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排障+还原度评审 | 最小复现+对基线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0" y="4229100"/>
            <a:ext cx="2286000" cy="1238250"/>
            <a:chOff x="5715000" y="4229100"/>
            <a:chExt cx="2286000" cy="1238250"/>
          </a:xfrm>
        </p:grpSpPr>
        <p:sp>
          <p:nvSpPr>
            <p:cNvPr id="48" name="Ellipse 48"/>
            <p:cNvSpPr/>
            <p:nvPr/>
          </p:nvSpPr>
          <p:spPr>
            <a:xfrm>
              <a:off x="6610350" y="422910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85480" y="4384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0" y="47625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715000" y="4762500"/>
              <a:ext cx="2286000" cy="47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53983" y="4903946"/>
              <a:ext cx="10080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数据库 0→1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96813" y="5211128"/>
              <a:ext cx="1922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契约收口+18 表 DDL | 编译绿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333750" y="4229100"/>
            <a:ext cx="2286000" cy="1238250"/>
            <a:chOff x="3333750" y="4229100"/>
            <a:chExt cx="2286000" cy="1238250"/>
          </a:xfrm>
        </p:grpSpPr>
        <p:sp>
          <p:nvSpPr>
            <p:cNvPr id="55" name="Ellipse 55"/>
            <p:cNvSpPr/>
            <p:nvPr/>
          </p:nvSpPr>
          <p:spPr>
            <a:xfrm>
              <a:off x="4229100" y="422910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404230" y="438435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333750" y="4762500"/>
              <a:ext cx="2286000" cy="7048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3333750" y="4762500"/>
              <a:ext cx="22860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766997" y="4903946"/>
              <a:ext cx="1419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接口开发与联调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404306" y="5203031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竖切配方+mock 退场 | 五关验收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9600" y="5981700"/>
            <a:ext cx="10972800" cy="468439"/>
            <a:chOff x="609600" y="5981700"/>
            <a:chExt cx="10972800" cy="468439"/>
          </a:xfrm>
        </p:grpSpPr>
        <p:sp>
          <p:nvSpPr>
            <p:cNvPr id="62" name="Line 62"/>
            <p:cNvSpPr/>
            <p:nvPr/>
          </p:nvSpPr>
          <p:spPr>
            <a:xfrm>
              <a:off x="609600" y="5981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200912" y="6127432"/>
              <a:ext cx="97901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骨架 → 需求 → 配置 → 前端 → 纠偏 → 数据库 → 联调:每阶段都有明确交付物与门禁验收,全链路无断档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72006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里程碑证据:框架起来了,页面出来了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98932" y="1573122"/>
            <a:ext cx="2014918" cy="4087904"/>
            <a:chOff x="598932" y="1573122"/>
            <a:chExt cx="2014918" cy="4087904"/>
          </a:xfrm>
        </p:grpSpPr>
        <p:grpSp>
          <p:nvGrpSpPr>
            <p:cNvPr id="8" name="Group 8"/>
            <p:cNvGrpSpPr/>
            <p:nvPr/>
          </p:nvGrpSpPr>
          <p:grpSpPr>
            <a:xfrm>
              <a:off x="688975" y="1573122"/>
              <a:ext cx="222250" cy="284253"/>
              <a:chOff x="688975" y="1573122"/>
              <a:chExt cx="222250" cy="28425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88975" y="1573122"/>
                <a:ext cx="222250" cy="203382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03382">
                    <a:moveTo>
                      <a:pt x="0" y="30253"/>
                    </a:moveTo>
                    <a:cubicBezTo>
                      <a:pt x="30865" y="0"/>
                      <a:pt x="80261" y="0"/>
                      <a:pt x="111125" y="30253"/>
                    </a:cubicBezTo>
                    <a:cubicBezTo>
                      <a:pt x="141990" y="60507"/>
                      <a:pt x="191386" y="60507"/>
                      <a:pt x="222250" y="30253"/>
                    </a:cubicBezTo>
                    <a:lnTo>
                      <a:pt x="222250" y="173129"/>
                    </a:lnTo>
                    <a:cubicBezTo>
                      <a:pt x="191386" y="203382"/>
                      <a:pt x="141990" y="203382"/>
                      <a:pt x="111125" y="173129"/>
                    </a:cubicBezTo>
                    <a:cubicBezTo>
                      <a:pt x="80261" y="142875"/>
                      <a:pt x="30865" y="142875"/>
                      <a:pt x="0" y="173129"/>
                    </a:cubicBezTo>
                    <a:lnTo>
                      <a:pt x="0" y="30253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8975" y="174625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111125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598932" y="2135505"/>
              <a:ext cx="16687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真跑出来的,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8932" y="2516505"/>
              <a:ext cx="19815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不是 PPT 故事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971800"/>
              <a:ext cx="8572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2742" y="3378518"/>
              <a:ext cx="201110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右侧为实战过程截图,完整未裁切;更多截图见飞书《0-1项目验证》记录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657225" y="5397500"/>
              <a:ext cx="285751" cy="263526"/>
              <a:chOff x="657225" y="5397500"/>
              <a:chExt cx="285751" cy="2635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57225" y="5397500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73100" y="5397500"/>
                <a:ext cx="25400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90500">
                    <a:moveTo>
                      <a:pt x="0" y="0"/>
                    </a:moveTo>
                    <a:lnTo>
                      <a:pt x="0" y="158750"/>
                    </a:lnTo>
                    <a:cubicBezTo>
                      <a:pt x="0" y="176285"/>
                      <a:pt x="14215" y="190500"/>
                      <a:pt x="31750" y="190500"/>
                    </a:cubicBezTo>
                    <a:lnTo>
                      <a:pt x="222250" y="190500"/>
                    </a:lnTo>
                    <a:cubicBezTo>
                      <a:pt x="239786" y="190500"/>
                      <a:pt x="254001" y="176285"/>
                      <a:pt x="254001" y="158750"/>
                    </a:cubicBez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0100" y="5588001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52475" y="565150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36600" y="5461000"/>
                <a:ext cx="127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63500">
                    <a:moveTo>
                      <a:pt x="0" y="63500"/>
                    </a:moveTo>
                    <a:lnTo>
                      <a:pt x="47625" y="15875"/>
                    </a:lnTo>
                    <a:lnTo>
                      <a:pt x="79375" y="47625"/>
                    </a:ln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</p:grpSp>
      <p:grpSp>
        <p:nvGrpSpPr>
          <p:cNvPr id="23" name="Group 23"/>
          <p:cNvGrpSpPr/>
          <p:nvPr/>
        </p:nvGrpSpPr>
        <p:grpSpPr>
          <a:xfrm>
            <a:off x="3479292" y="1466850"/>
            <a:ext cx="6383598" cy="2423351"/>
            <a:chOff x="3479292" y="1466850"/>
            <a:chExt cx="6383598" cy="2423351"/>
          </a:xfrm>
        </p:grpSpPr>
        <p:sp>
          <p:nvSpPr>
            <p:cNvPr id="20" name="Rectangle 20"/>
            <p:cNvSpPr/>
            <p:nvPr/>
          </p:nvSpPr>
          <p:spPr>
            <a:xfrm>
              <a:off x="3486150" y="1466850"/>
              <a:ext cx="5314950" cy="20383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22859" y="1485900"/>
              <a:ext cx="5241531" cy="200025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3479292" y="3626168"/>
              <a:ext cx="6383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里程碑 ①:前后端框架骨架完成——mvn compile 过、服务能起、self-check 通过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486150" y="3981450"/>
            <a:ext cx="7651623" cy="2552700"/>
            <a:chOff x="3486150" y="3981450"/>
            <a:chExt cx="7651623" cy="2552700"/>
          </a:xfrm>
        </p:grpSpPr>
        <p:sp>
          <p:nvSpPr>
            <p:cNvPr id="24" name="Rectangle 24"/>
            <p:cNvSpPr/>
            <p:nvPr/>
          </p:nvSpPr>
          <p:spPr>
            <a:xfrm>
              <a:off x="3486150" y="3981450"/>
              <a:ext cx="5238750" cy="25527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05200" y="4004362"/>
              <a:ext cx="5200650" cy="2506876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8946642" y="4331018"/>
              <a:ext cx="2191131" cy="1407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里程碑 ②:</a:t>
              </a:r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30 页产品原型前端全量还原多路后台 agent 并行打磨;</a:t>
              </a:r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AI 还顺手修了框架缓存问题,非无痕窗口也能正常打开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76458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里程碑证据:库建起来了,真数据流动了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466850"/>
            <a:ext cx="5372100" cy="4328351"/>
            <a:chOff x="609600" y="1466850"/>
            <a:chExt cx="5372100" cy="4328351"/>
          </a:xfrm>
        </p:grpSpPr>
        <p:sp>
          <p:nvSpPr>
            <p:cNvPr id="6" name="Rectangle 6"/>
            <p:cNvSpPr/>
            <p:nvPr/>
          </p:nvSpPr>
          <p:spPr>
            <a:xfrm>
              <a:off x="609600" y="1466850"/>
              <a:ext cx="5372100" cy="35052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1493069"/>
              <a:ext cx="5334000" cy="3452761"/>
            </a:xfrm>
            <a:prstGeom prst="rect">
              <a:avLst/>
            </a:prstGeom>
          </p:spPr>
        </p:pic>
        <p:grpSp>
          <p:nvGrpSpPr>
            <p:cNvPr id="11" name="Group 11"/>
            <p:cNvGrpSpPr/>
            <p:nvPr/>
          </p:nvGrpSpPr>
          <p:grpSpPr>
            <a:xfrm>
              <a:off x="657225" y="5236369"/>
              <a:ext cx="190500" cy="214312"/>
              <a:chOff x="657225" y="5236369"/>
              <a:chExt cx="190500" cy="21431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57225" y="5236369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6"/>
                      <a:pt x="42645" y="71438"/>
                      <a:pt x="95250" y="71438"/>
                    </a:cubicBezTo>
                    <a:cubicBezTo>
                      <a:pt x="147855" y="71438"/>
                      <a:pt x="190500" y="55446"/>
                      <a:pt x="190500" y="35719"/>
                    </a:cubicBezTo>
                    <a:cubicBezTo>
                      <a:pt x="190500" y="15992"/>
                      <a:pt x="147855" y="0"/>
                      <a:pt x="95250" y="0"/>
                    </a:cubicBezTo>
                    <a:cubicBezTo>
                      <a:pt x="42645" y="0"/>
                      <a:pt x="0" y="15992"/>
                      <a:pt x="0" y="35719"/>
                    </a:cubicBez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57225" y="5272088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57225" y="5343525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021842" y="5264468"/>
              <a:ext cx="254260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里程碑 ③:18 表 DDL、种子数据、MyBatis-Plus 实体全套生成完毕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10300" y="1466850"/>
            <a:ext cx="5372100" cy="4328351"/>
            <a:chOff x="6210300" y="1466850"/>
            <a:chExt cx="5372100" cy="4328351"/>
          </a:xfrm>
        </p:grpSpPr>
        <p:sp>
          <p:nvSpPr>
            <p:cNvPr id="14" name="Rectangle 14"/>
            <p:cNvSpPr/>
            <p:nvPr/>
          </p:nvSpPr>
          <p:spPr>
            <a:xfrm>
              <a:off x="6210300" y="1466850"/>
              <a:ext cx="5372100" cy="35052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9350" y="1485900"/>
              <a:ext cx="5334000" cy="3467100"/>
            </a:xfrm>
            <a:prstGeom prst="rect">
              <a:avLst/>
            </a:prstGeom>
          </p:spPr>
        </p:pic>
        <p:sp>
          <p:nvSpPr>
            <p:cNvPr id="16" name="Rectangle 16"/>
            <p:cNvSpPr/>
            <p:nvPr/>
          </p:nvSpPr>
          <p:spPr>
            <a:xfrm>
              <a:off x="6667500" y="1905000"/>
              <a:ext cx="2857500" cy="11430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14154" y="198501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← 联调请求区域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269831" y="5237491"/>
              <a:ext cx="166688" cy="213191"/>
              <a:chOff x="6269831" y="5237491"/>
              <a:chExt cx="166688" cy="21319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269831" y="5237491"/>
                <a:ext cx="166688" cy="152536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2536">
                    <a:moveTo>
                      <a:pt x="0" y="22690"/>
                    </a:moveTo>
                    <a:cubicBezTo>
                      <a:pt x="23148" y="0"/>
                      <a:pt x="60195" y="0"/>
                      <a:pt x="83344" y="22690"/>
                    </a:cubicBezTo>
                    <a:cubicBezTo>
                      <a:pt x="106492" y="45380"/>
                      <a:pt x="143539" y="45380"/>
                      <a:pt x="166688" y="22690"/>
                    </a:cubicBezTo>
                    <a:lnTo>
                      <a:pt x="166688" y="129846"/>
                    </a:lnTo>
                    <a:cubicBezTo>
                      <a:pt x="143539" y="152536"/>
                      <a:pt x="106492" y="152536"/>
                      <a:pt x="83344" y="129846"/>
                    </a:cubicBezTo>
                    <a:cubicBezTo>
                      <a:pt x="60195" y="107156"/>
                      <a:pt x="23148" y="107156"/>
                      <a:pt x="0" y="129846"/>
                    </a:cubicBezTo>
                    <a:lnTo>
                      <a:pt x="0" y="2269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269831" y="5367338"/>
                <a:ext cx="95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3344">
                    <a:moveTo>
                      <a:pt x="0" y="83344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622542" y="5264468"/>
              <a:ext cx="286835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里程碑 ④:首模块联调打穿——真实 SSO账号登录,JDBC 核库确认落库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6076950"/>
            <a:ext cx="10972800" cy="481584"/>
            <a:chOff x="609600" y="6076950"/>
            <a:chExt cx="10972800" cy="481584"/>
          </a:xfrm>
        </p:grpSpPr>
        <p:sp>
          <p:nvSpPr>
            <p:cNvPr id="23" name="Line 23"/>
            <p:cNvSpPr/>
            <p:nvPr/>
          </p:nvSpPr>
          <p:spPr>
            <a:xfrm>
              <a:off x="609600" y="6076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04373" y="6206490"/>
              <a:ext cx="51832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从"页面能跑"到"数据是真的"——全链路无断档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38389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成果清单:数字说话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1215687" y="736600"/>
              <a:ext cx="314325" cy="288924"/>
              <a:chOff x="11215687" y="736600"/>
              <a:chExt cx="314325" cy="2889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876300"/>
                <a:ext cx="10477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39700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122237"/>
                    </a:lnTo>
                    <a:cubicBezTo>
                      <a:pt x="104775" y="131882"/>
                      <a:pt x="96957" y="139700"/>
                      <a:pt x="87312" y="139700"/>
                    </a:cubicBezTo>
                    <a:lnTo>
                      <a:pt x="17462" y="139700"/>
                    </a:lnTo>
                    <a:cubicBezTo>
                      <a:pt x="7818" y="139700"/>
                      <a:pt x="0" y="131882"/>
                      <a:pt x="0" y="122237"/>
                    </a:cubicBezTo>
                    <a:lnTo>
                      <a:pt x="0" y="17462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425237" y="806450"/>
                <a:ext cx="10477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09550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192087"/>
                    </a:lnTo>
                    <a:cubicBezTo>
                      <a:pt x="104775" y="201731"/>
                      <a:pt x="96957" y="209550"/>
                      <a:pt x="87312" y="209550"/>
                    </a:cubicBezTo>
                    <a:lnTo>
                      <a:pt x="17462" y="209550"/>
                    </a:lnTo>
                    <a:cubicBezTo>
                      <a:pt x="7818" y="209550"/>
                      <a:pt x="0" y="201731"/>
                      <a:pt x="0" y="192087"/>
                    </a:cubicBezTo>
                    <a:lnTo>
                      <a:pt x="0" y="17462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20462" y="736600"/>
                <a:ext cx="104775" cy="279399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279399">
                    <a:moveTo>
                      <a:pt x="0" y="17462"/>
                    </a:moveTo>
                    <a:cubicBezTo>
                      <a:pt x="0" y="7818"/>
                      <a:pt x="7818" y="0"/>
                      <a:pt x="17462" y="0"/>
                    </a:cubicBezTo>
                    <a:lnTo>
                      <a:pt x="87312" y="0"/>
                    </a:lnTo>
                    <a:cubicBezTo>
                      <a:pt x="96957" y="0"/>
                      <a:pt x="104775" y="7818"/>
                      <a:pt x="104775" y="17462"/>
                    </a:cubicBezTo>
                    <a:lnTo>
                      <a:pt x="104775" y="261937"/>
                    </a:lnTo>
                    <a:cubicBezTo>
                      <a:pt x="104775" y="271581"/>
                      <a:pt x="96957" y="279399"/>
                      <a:pt x="87312" y="279399"/>
                    </a:cubicBezTo>
                    <a:lnTo>
                      <a:pt x="17462" y="279399"/>
                    </a:lnTo>
                    <a:cubicBezTo>
                      <a:pt x="7818" y="279399"/>
                      <a:pt x="0" y="271581"/>
                      <a:pt x="0" y="261937"/>
                    </a:cubicBezTo>
                    <a:lnTo>
                      <a:pt x="0" y="17462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233150" y="1015999"/>
                <a:ext cx="244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9525">
                    <a:moveTo>
                      <a:pt x="0" y="0"/>
                    </a:moveTo>
                    <a:lnTo>
                      <a:pt x="244475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7244334" y="847725"/>
              <a:ext cx="3717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AI 手写 ≈ 6.5 万行代码 + 1.9 万行文档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90550" y="1722120"/>
            <a:ext cx="4129659" cy="1228059"/>
            <a:chOff x="590550" y="1722120"/>
            <a:chExt cx="4129659" cy="1228059"/>
          </a:xfrm>
        </p:grpSpPr>
        <p:sp>
          <p:nvSpPr>
            <p:cNvPr id="12" name="TextBox 12"/>
            <p:cNvSpPr txBox="1"/>
            <p:nvPr/>
          </p:nvSpPr>
          <p:spPr>
            <a:xfrm>
              <a:off x="590550" y="17221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05356" y="18249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功能点全量评审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8023" y="2205514"/>
              <a:ext cx="3012186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 评审 + 6 产出 + 1 校验 + 1 调研 agent;关键纠错:登录差点按自建账密写,调研证实框架默认即企业 SSO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10300" y="1722120"/>
            <a:ext cx="3803269" cy="1228059"/>
            <a:chOff x="6210300" y="1722120"/>
            <a:chExt cx="3803269" cy="1228059"/>
          </a:xfrm>
        </p:grpSpPr>
        <p:sp>
          <p:nvSpPr>
            <p:cNvPr id="16" name="TextBox 16"/>
            <p:cNvSpPr txBox="1"/>
            <p:nvPr/>
          </p:nvSpPr>
          <p:spPr>
            <a:xfrm>
              <a:off x="6210300" y="172212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39356" y="18249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配置三件套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2023" y="2205514"/>
              <a:ext cx="2971546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CLAUDE / AGENTS / MEMORY;6 角色评审揪出漏列模块、三处硬耦合写成两处、两个"假绿"门禁,全部修复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90550" y="3181350"/>
            <a:ext cx="10991850" cy="1521429"/>
            <a:chOff x="590550" y="3181350"/>
            <a:chExt cx="10991850" cy="1521429"/>
          </a:xfrm>
        </p:grpSpPr>
        <p:sp>
          <p:nvSpPr>
            <p:cNvPr id="20" name="Line 20"/>
            <p:cNvSpPr/>
            <p:nvPr/>
          </p:nvSpPr>
          <p:spPr>
            <a:xfrm>
              <a:off x="609600" y="3181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0550" y="34747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5356" y="35775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页前端全量实现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8023" y="3958114"/>
              <a:ext cx="2313178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mock 修复涉及 19 个 api 文件;还原度评审揪出 2 个整页缺失、多处枚举/字段契约冲突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10300" y="3474720"/>
            <a:ext cx="4426306" cy="1228059"/>
            <a:chOff x="6210300" y="3474720"/>
            <a:chExt cx="4426306" cy="1228059"/>
          </a:xfrm>
        </p:grpSpPr>
        <p:sp>
          <p:nvSpPr>
            <p:cNvPr id="25" name="TextBox 25"/>
            <p:cNvSpPr txBox="1"/>
            <p:nvPr/>
          </p:nvSpPr>
          <p:spPr>
            <a:xfrm>
              <a:off x="6210300" y="34747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25106" y="3577590"/>
              <a:ext cx="3311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张表 DDL + 种子 + 全套实体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27773" y="3958114"/>
              <a:ext cx="1955546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契约收口约 25 个文件,</a:t>
              </a:r>
              <a:r>
                <a:rPr lang="en-US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5+3 路 subagent 并行改、主控中心化合并跑门禁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" y="4895850"/>
            <a:ext cx="10991850" cy="1521429"/>
            <a:chOff x="590550" y="4895850"/>
            <a:chExt cx="10991850" cy="1521429"/>
          </a:xfrm>
        </p:grpSpPr>
        <p:sp>
          <p:nvSpPr>
            <p:cNvPr id="29" name="Line 29"/>
            <p:cNvSpPr/>
            <p:nvPr/>
          </p:nvSpPr>
          <p:spPr>
            <a:xfrm>
              <a:off x="609600" y="4895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0550" y="51892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05356" y="5292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步竖切配方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08023" y="5672614"/>
              <a:ext cx="2825242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requirement 真实 SSO 打穿沉淀而成;</a:t>
              </a:r>
              <a:r>
                <a:rPr lang="en-US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opportunity 照配方复制,一次编译通过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10300" y="5189220"/>
            <a:ext cx="3942715" cy="1228059"/>
            <a:chOff x="6210300" y="5189220"/>
            <a:chExt cx="3942715" cy="1228059"/>
          </a:xfrm>
        </p:grpSpPr>
        <p:sp>
          <p:nvSpPr>
            <p:cNvPr id="34" name="TextBox 34"/>
            <p:cNvSpPr txBox="1"/>
            <p:nvPr/>
          </p:nvSpPr>
          <p:spPr>
            <a:xfrm>
              <a:off x="6210300" y="51892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25106" y="52920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个模块 mock 有序退场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27773" y="5672614"/>
              <a:ext cx="2825242" cy="744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接口白名单 / 数据保留 / 页面碎片清剿三层退场机制;坑全部固化进记忆,后续项目不复踩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60652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提效在哪里:五个环节的真对照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1215687" y="719137"/>
              <a:ext cx="314324" cy="314324"/>
              <a:chOff x="11215687" y="719137"/>
              <a:chExt cx="314324" cy="3143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7191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355387" y="858837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97472" y="806450"/>
                <a:ext cx="45228" cy="45228"/>
              </a:xfrm>
              <a:custGeom>
                <a:avLst/>
                <a:gdLst/>
                <a:ahLst/>
                <a:cxnLst/>
                <a:rect l="l" t="t" r="r" b="b"/>
                <a:pathLst>
                  <a:path w="45228" h="45228">
                    <a:moveTo>
                      <a:pt x="0" y="45228"/>
                    </a:moveTo>
                    <a:lnTo>
                      <a:pt x="45228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285537" y="788987"/>
                <a:ext cx="87312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87312">
                    <a:moveTo>
                      <a:pt x="0" y="87312"/>
                    </a:moveTo>
                    <a:cubicBezTo>
                      <a:pt x="0" y="39091"/>
                      <a:pt x="39091" y="0"/>
                      <a:pt x="87312" y="0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9" name="Line 9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422142" y="1473518"/>
            <a:ext cx="4839835" cy="264033"/>
            <a:chOff x="3422142" y="1473518"/>
            <a:chExt cx="4839835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3422142" y="14735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传统方式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13142" y="1473518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方式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1218" y="1828800"/>
            <a:ext cx="10981182" cy="762000"/>
            <a:chOff x="601218" y="1828800"/>
            <a:chExt cx="10981182" cy="762000"/>
          </a:xfrm>
        </p:grpSpPr>
        <p:sp>
          <p:nvSpPr>
            <p:cNvPr id="14" name="TextBox 14"/>
            <p:cNvSpPr txBox="1"/>
            <p:nvPr/>
          </p:nvSpPr>
          <p:spPr>
            <a:xfrm>
              <a:off x="601218" y="2012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框架骨架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286000" y="1828800"/>
              <a:ext cx="38100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69642" y="2006918"/>
              <a:ext cx="130816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照手册逐步操作,版本坑一个个踩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324600" y="1828800"/>
              <a:ext cx="5257800" cy="762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08242" y="2006918"/>
              <a:ext cx="24825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一句话开场,skill 调度自动完成,编译/启动问题 AI 自修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1218" y="2819400"/>
            <a:ext cx="10981182" cy="762000"/>
            <a:chOff x="601218" y="2819400"/>
            <a:chExt cx="10981182" cy="762000"/>
          </a:xfrm>
        </p:grpSpPr>
        <p:sp>
          <p:nvSpPr>
            <p:cNvPr id="20" name="TextBox 20"/>
            <p:cNvSpPr txBox="1"/>
            <p:nvPr/>
          </p:nvSpPr>
          <p:spPr>
            <a:xfrm>
              <a:off x="601218" y="3003232"/>
              <a:ext cx="9901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PRD 评审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286000" y="2819400"/>
              <a:ext cx="38100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69642" y="2997518"/>
              <a:ext cx="130816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拉会多岗位评审,往往数天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324600" y="2819400"/>
              <a:ext cx="5257800" cy="762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08242" y="2997518"/>
              <a:ext cx="310838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多角色 agent 并行独立评审 + 交叉核对,墙钟时间 = 最慢的一份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1218" y="3810000"/>
            <a:ext cx="10981182" cy="762000"/>
            <a:chOff x="601218" y="3810000"/>
            <a:chExt cx="10981182" cy="762000"/>
          </a:xfrm>
        </p:grpSpPr>
        <p:sp>
          <p:nvSpPr>
            <p:cNvPr id="26" name="TextBox 26"/>
            <p:cNvSpPr txBox="1"/>
            <p:nvPr/>
          </p:nvSpPr>
          <p:spPr>
            <a:xfrm>
              <a:off x="601218" y="39938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批量生成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286000" y="3810000"/>
              <a:ext cx="38100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469642" y="398811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文档/代码逐份手写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24600" y="3810000"/>
              <a:ext cx="5257800" cy="762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08242" y="3988118"/>
              <a:ext cx="265404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并行 subagent + 决策纪要锁口径,产出后一致性校验兜底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1218" y="4800600"/>
            <a:ext cx="10981182" cy="762000"/>
            <a:chOff x="601218" y="4800600"/>
            <a:chExt cx="10981182" cy="762000"/>
          </a:xfrm>
        </p:grpSpPr>
        <p:sp>
          <p:nvSpPr>
            <p:cNvPr id="32" name="TextBox 32"/>
            <p:cNvSpPr txBox="1"/>
            <p:nvPr/>
          </p:nvSpPr>
          <p:spPr>
            <a:xfrm>
              <a:off x="601218" y="4984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批量模块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286000" y="4800600"/>
              <a:ext cx="38100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469642" y="49787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每个模块从头做一遍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324600" y="4800600"/>
              <a:ext cx="5257800" cy="762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08242" y="4978718"/>
              <a:ext cx="273977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首模块打穿成配方,后续只写 delta,边际成本断崖式下降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1218" y="5791200"/>
            <a:ext cx="10981182" cy="762000"/>
            <a:chOff x="601218" y="5791200"/>
            <a:chExt cx="10981182" cy="762000"/>
          </a:xfrm>
        </p:grpSpPr>
        <p:sp>
          <p:nvSpPr>
            <p:cNvPr id="38" name="TextBox 38"/>
            <p:cNvSpPr txBox="1"/>
            <p:nvPr/>
          </p:nvSpPr>
          <p:spPr>
            <a:xfrm>
              <a:off x="601218" y="59750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排障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286000" y="5791200"/>
              <a:ext cx="3810000" cy="762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469642" y="5969318"/>
              <a:ext cx="10424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凭经验猜,改一版试一版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24600" y="5791200"/>
              <a:ext cx="5257800" cy="762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08242" y="5969318"/>
              <a:ext cx="273119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最小复现 / 反编译 / 实发代码取证,一次钉死根因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421580" y="66875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63101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成本花在哪:三笔账,笔笔有解法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1215687" y="719137"/>
              <a:ext cx="314324" cy="314324"/>
              <a:chOff x="11215687" y="719137"/>
              <a:chExt cx="314324" cy="3143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7191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320462" y="806015"/>
                <a:ext cx="104775" cy="140568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40568">
                    <a:moveTo>
                      <a:pt x="101282" y="17897"/>
                    </a:moveTo>
                    <a:cubicBezTo>
                      <a:pt x="94836" y="6715"/>
                      <a:pt x="82749" y="0"/>
                      <a:pt x="69850" y="434"/>
                    </a:cubicBezTo>
                    <a:lnTo>
                      <a:pt x="34925" y="434"/>
                    </a:lnTo>
                    <a:cubicBezTo>
                      <a:pt x="15636" y="434"/>
                      <a:pt x="0" y="16071"/>
                      <a:pt x="0" y="35359"/>
                    </a:cubicBezTo>
                    <a:cubicBezTo>
                      <a:pt x="0" y="54648"/>
                      <a:pt x="15636" y="70284"/>
                      <a:pt x="34925" y="70284"/>
                    </a:cubicBezTo>
                    <a:lnTo>
                      <a:pt x="69850" y="70284"/>
                    </a:lnTo>
                    <a:cubicBezTo>
                      <a:pt x="89138" y="70284"/>
                      <a:pt x="104775" y="85921"/>
                      <a:pt x="104775" y="105209"/>
                    </a:cubicBezTo>
                    <a:cubicBezTo>
                      <a:pt x="104775" y="124498"/>
                      <a:pt x="89138" y="140134"/>
                      <a:pt x="69850" y="140134"/>
                    </a:cubicBezTo>
                    <a:lnTo>
                      <a:pt x="34925" y="140134"/>
                    </a:lnTo>
                    <a:cubicBezTo>
                      <a:pt x="22026" y="140568"/>
                      <a:pt x="9938" y="133853"/>
                      <a:pt x="3492" y="122672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72850" y="788987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8" name="Line 8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0456" y="1482090"/>
            <a:ext cx="4888840" cy="352044"/>
            <a:chOff x="600456" y="1482090"/>
            <a:chExt cx="4888840" cy="352044"/>
          </a:xfrm>
        </p:grpSpPr>
        <p:sp>
          <p:nvSpPr>
            <p:cNvPr id="10" name="TextBox 10"/>
            <p:cNvSpPr txBox="1"/>
            <p:nvPr/>
          </p:nvSpPr>
          <p:spPr>
            <a:xfrm>
              <a:off x="600456" y="1482090"/>
              <a:ext cx="4888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不只讲提效也讲成本——诚实是这份汇报的立场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943100"/>
            <a:ext cx="3476625" cy="4114800"/>
            <a:chOff x="609600" y="1943100"/>
            <a:chExt cx="3476625" cy="4114800"/>
          </a:xfrm>
        </p:grpSpPr>
        <p:sp>
          <p:nvSpPr>
            <p:cNvPr id="12" name="Rectangle 12"/>
            <p:cNvSpPr/>
            <p:nvPr/>
          </p:nvSpPr>
          <p:spPr>
            <a:xfrm>
              <a:off x="609600" y="1943100"/>
              <a:ext cx="3476625" cy="4114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1943100"/>
              <a:ext cx="3476625" cy="57150"/>
            </a:xfrm>
            <a:prstGeom prst="rect">
              <a:avLst/>
            </a:prstGeom>
            <a:solidFill>
              <a:srgbClr val="C6493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0298" y="219360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C6493D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6394" y="2856548"/>
              <a:ext cx="23933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自作主张的返工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8680" y="3343275"/>
              <a:ext cx="19392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前期姿势不对时最贵——约占早期开销的一半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76300" y="40767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8680" y="43148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解法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8680" y="4657725"/>
              <a:ext cx="19202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开局立对纪律;本系列方法论,就是为消掉这笔账而写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52925" y="1943100"/>
            <a:ext cx="3476625" cy="4114800"/>
            <a:chOff x="4352925" y="1943100"/>
            <a:chExt cx="3476625" cy="4114800"/>
          </a:xfrm>
        </p:grpSpPr>
        <p:sp>
          <p:nvSpPr>
            <p:cNvPr id="21" name="Rectangle 21"/>
            <p:cNvSpPr/>
            <p:nvPr/>
          </p:nvSpPr>
          <p:spPr>
            <a:xfrm>
              <a:off x="4352925" y="1943100"/>
              <a:ext cx="3476625" cy="4114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52925" y="1943100"/>
              <a:ext cx="3476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03623" y="219360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9719" y="2856548"/>
              <a:ext cx="28726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多角色 agent 并行开销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12005" y="3343275"/>
              <a:ext cx="18440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每个评审/产出 agent都是独立上下文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619625" y="40767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2005" y="43148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解法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12005" y="4657725"/>
              <a:ext cx="1834515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只喂最小必要上下文;知道何时停止评审——边际递减就停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96250" y="1943100"/>
            <a:ext cx="3476625" cy="4114800"/>
            <a:chOff x="8096250" y="1943100"/>
            <a:chExt cx="3476625" cy="4114800"/>
          </a:xfrm>
        </p:grpSpPr>
        <p:sp>
          <p:nvSpPr>
            <p:cNvPr id="30" name="Rectangle 30"/>
            <p:cNvSpPr/>
            <p:nvPr/>
          </p:nvSpPr>
          <p:spPr>
            <a:xfrm>
              <a:off x="8096250" y="1943100"/>
              <a:ext cx="3476625" cy="4114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96250" y="1943100"/>
              <a:ext cx="3476625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46948" y="219360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53044" y="2856548"/>
              <a:ext cx="27761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黑盒取证的一次性投入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3343275"/>
              <a:ext cx="156781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反编译 starter、写最小复现脚本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362950" y="4076700"/>
              <a:ext cx="2933700" cy="9525"/>
            </a:xfrm>
            <a:custGeom>
              <a:avLst/>
              <a:gdLst/>
              <a:ahLst/>
              <a:cxnLst/>
              <a:rect l="l" t="t" r="r" b="b"/>
              <a:pathLst>
                <a:path w="2933700" h="9525">
                  <a:moveTo>
                    <a:pt x="0" y="0"/>
                  </a:moveTo>
                  <a:lnTo>
                    <a:pt x="29337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55330" y="43148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解法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55330" y="4657725"/>
              <a:ext cx="1834515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查一次比错三版便宜;且结论沉淀为记忆,是长期资产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43287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十大教训(上):立规矩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1215687" y="719137"/>
              <a:ext cx="314324" cy="314325"/>
              <a:chOff x="11215687" y="719137"/>
              <a:chExt cx="314324" cy="31432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719137"/>
                <a:ext cx="31432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57162">
                    <a:moveTo>
                      <a:pt x="0" y="157162"/>
                    </a:moveTo>
                    <a:lnTo>
                      <a:pt x="17462" y="157162"/>
                    </a:lnTo>
                    <a:moveTo>
                      <a:pt x="157162" y="0"/>
                    </a:moveTo>
                    <a:lnTo>
                      <a:pt x="157162" y="17462"/>
                    </a:lnTo>
                    <a:moveTo>
                      <a:pt x="296862" y="157162"/>
                    </a:moveTo>
                    <a:lnTo>
                      <a:pt x="314324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8" y="57626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278133" y="788987"/>
                <a:ext cx="189432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2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2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8"/>
                      <a:pt x="114005" y="244475"/>
                      <a:pt x="94716" y="244475"/>
                    </a:cubicBezTo>
                    <a:cubicBezTo>
                      <a:pt x="75428" y="244475"/>
                      <a:pt x="59791" y="228838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32686" y="963612"/>
                <a:ext cx="8032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7" h="9525">
                    <a:moveTo>
                      <a:pt x="0" y="0"/>
                    </a:moveTo>
                    <a:lnTo>
                      <a:pt x="80327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8" name="Line 8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95884" y="1575435"/>
            <a:ext cx="6643116" cy="777240"/>
            <a:chOff x="595884" y="1575435"/>
            <a:chExt cx="6643116" cy="777240"/>
          </a:xfrm>
        </p:grpSpPr>
        <p:sp>
          <p:nvSpPr>
            <p:cNvPr id="10" name="TextBox 10"/>
            <p:cNvSpPr txBox="1"/>
            <p:nvPr/>
          </p:nvSpPr>
          <p:spPr>
            <a:xfrm>
              <a:off x="595884" y="15754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97560" y="1635919"/>
              <a:ext cx="224229" cy="214312"/>
            </a:xfrm>
            <a:custGeom>
              <a:avLst/>
              <a:gdLst/>
              <a:ahLst/>
              <a:cxnLst/>
              <a:rect l="l" t="t" r="r" b="b"/>
              <a:pathLst>
                <a:path w="224229" h="214312">
                  <a:moveTo>
                    <a:pt x="112115" y="0"/>
                  </a:moveTo>
                  <a:cubicBezTo>
                    <a:pt x="139926" y="24605"/>
                    <a:pt x="176223" y="37416"/>
                    <a:pt x="213318" y="35719"/>
                  </a:cubicBezTo>
                  <a:cubicBezTo>
                    <a:pt x="224229" y="72837"/>
                    <a:pt x="219621" y="112793"/>
                    <a:pt x="200547" y="146453"/>
                  </a:cubicBezTo>
                  <a:cubicBezTo>
                    <a:pt x="181473" y="180113"/>
                    <a:pt x="149564" y="204599"/>
                    <a:pt x="112115" y="214312"/>
                  </a:cubicBezTo>
                  <a:cubicBezTo>
                    <a:pt x="74665" y="204599"/>
                    <a:pt x="42756" y="180113"/>
                    <a:pt x="23682" y="146453"/>
                  </a:cubicBezTo>
                  <a:cubicBezTo>
                    <a:pt x="4608" y="112793"/>
                    <a:pt x="0" y="72837"/>
                    <a:pt x="10911" y="35719"/>
                  </a:cubicBezTo>
                  <a:cubicBezTo>
                    <a:pt x="48006" y="37416"/>
                    <a:pt x="84304" y="24605"/>
                    <a:pt x="112115" y="0"/>
                  </a:cubicBez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95806" y="16344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黑盒纪律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8092" y="2006918"/>
              <a:ext cx="5293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开源直觉在企业框架里经常是错的——env 只改白名单、约定靠取证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234315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95884" y="2566035"/>
            <a:ext cx="6643116" cy="777240"/>
            <a:chOff x="595884" y="2566035"/>
            <a:chExt cx="6643116" cy="777240"/>
          </a:xfrm>
        </p:grpSpPr>
        <p:sp>
          <p:nvSpPr>
            <p:cNvPr id="16" name="TextBox 16"/>
            <p:cNvSpPr txBox="1"/>
            <p:nvPr/>
          </p:nvSpPr>
          <p:spPr>
            <a:xfrm>
              <a:off x="595884" y="25660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102519" y="2626519"/>
              <a:ext cx="214312" cy="214312"/>
              <a:chOff x="1102519" y="2626519"/>
              <a:chExt cx="214312" cy="21431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102519" y="26265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173956" y="2709862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495806" y="2625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门禁即真相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98092" y="2997518"/>
              <a:ext cx="4829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skill 不在场,门禁也能守住合规;"绿而无效"的假门禁零容忍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33375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95884" y="3556635"/>
            <a:ext cx="6643116" cy="777240"/>
            <a:chOff x="595884" y="3556635"/>
            <a:chExt cx="6643116" cy="777240"/>
          </a:xfrm>
        </p:grpSpPr>
        <p:sp>
          <p:nvSpPr>
            <p:cNvPr id="24" name="TextBox 24"/>
            <p:cNvSpPr txBox="1"/>
            <p:nvPr/>
          </p:nvSpPr>
          <p:spPr>
            <a:xfrm>
              <a:off x="595884" y="35566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102519" y="3633696"/>
              <a:ext cx="223837" cy="173923"/>
              <a:chOff x="1102519" y="3633696"/>
              <a:chExt cx="223837" cy="1739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102519" y="3788477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102519" y="3633696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102519" y="365283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209675" y="365283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16831" y="3652838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495806" y="36156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设计文档驱动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98092" y="3988118"/>
              <a:ext cx="43720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排期出自 skill 的设计文档进度表,不许 AI 拍脑袋手排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09600" y="432435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95884" y="4547235"/>
            <a:ext cx="6643116" cy="777240"/>
            <a:chOff x="595884" y="4547235"/>
            <a:chExt cx="6643116" cy="777240"/>
          </a:xfrm>
        </p:grpSpPr>
        <p:sp>
          <p:nvSpPr>
            <p:cNvPr id="35" name="TextBox 35"/>
            <p:cNvSpPr txBox="1"/>
            <p:nvPr/>
          </p:nvSpPr>
          <p:spPr>
            <a:xfrm>
              <a:off x="595884" y="45472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102519" y="4607719"/>
              <a:ext cx="214313" cy="214313"/>
              <a:chOff x="1102519" y="4607719"/>
              <a:chExt cx="214313" cy="21431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126331" y="46077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102519" y="475059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57300" y="460926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281113" y="475238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495806" y="4606290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多角色评审 + 交叉核对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98092" y="4978718"/>
              <a:ext cx="5156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独立才有价值;多方命中=高可信,主控当整合官(右图:评审现场)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09600" y="531495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95884" y="5537835"/>
            <a:ext cx="4468882" cy="695516"/>
            <a:chOff x="595884" y="5537835"/>
            <a:chExt cx="4468882" cy="695516"/>
          </a:xfrm>
        </p:grpSpPr>
        <p:sp>
          <p:nvSpPr>
            <p:cNvPr id="45" name="TextBox 45"/>
            <p:cNvSpPr txBox="1"/>
            <p:nvPr/>
          </p:nvSpPr>
          <p:spPr>
            <a:xfrm>
              <a:off x="595884" y="55378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108472" y="5616178"/>
              <a:ext cx="196453" cy="172641"/>
              <a:chOff x="1108472" y="5616178"/>
              <a:chExt cx="196453" cy="172641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08472" y="5616178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08472" y="5687616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08472" y="5759053"/>
                <a:ext cx="476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9766">
                    <a:moveTo>
                      <a:pt x="0" y="11906"/>
                    </a:moveTo>
                    <a:lnTo>
                      <a:pt x="17859" y="29766"/>
                    </a:ln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97769" y="5634038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197769" y="5705475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197769" y="5776912"/>
                <a:ext cx="1071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9525">
                    <a:moveTo>
                      <a:pt x="0" y="0"/>
                    </a:moveTo>
                    <a:lnTo>
                      <a:pt x="107156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495806" y="55968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决策纪要 = 唯一基准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498092" y="5969318"/>
              <a:ext cx="3566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并行产出不漂移的根;同一事实只在一处定义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13904" y="1466850"/>
            <a:ext cx="3968496" cy="4696206"/>
            <a:chOff x="7613904" y="1466850"/>
            <a:chExt cx="3968496" cy="4696206"/>
          </a:xfrm>
        </p:grpSpPr>
        <p:sp>
          <p:nvSpPr>
            <p:cNvPr id="56" name="Rectangle 56"/>
            <p:cNvSpPr/>
            <p:nvPr/>
          </p:nvSpPr>
          <p:spPr>
            <a:xfrm>
              <a:off x="7620000" y="1466850"/>
              <a:ext cx="3962400" cy="43053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pic>
          <p:nvPicPr>
            <p:cNvPr id="57" name="Image 5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39050" y="1727427"/>
              <a:ext cx="3924300" cy="3784146"/>
            </a:xfrm>
            <a:prstGeom prst="rect">
              <a:avLst/>
            </a:prstGeom>
          </p:spPr>
        </p:pic>
        <p:sp>
          <p:nvSpPr>
            <p:cNvPr id="58" name="TextBox 58"/>
            <p:cNvSpPr txBox="1"/>
            <p:nvPr/>
          </p:nvSpPr>
          <p:spPr>
            <a:xfrm>
              <a:off x="7613904" y="5928360"/>
              <a:ext cx="2742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实战截图:多角色 agent 并行评审现场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43287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十大教训(下):抓执行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1215687" y="719137"/>
              <a:ext cx="314324" cy="314325"/>
              <a:chOff x="11215687" y="719137"/>
              <a:chExt cx="314324" cy="31432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719137"/>
                <a:ext cx="31432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57162">
                    <a:moveTo>
                      <a:pt x="0" y="157162"/>
                    </a:moveTo>
                    <a:lnTo>
                      <a:pt x="17462" y="157162"/>
                    </a:lnTo>
                    <a:moveTo>
                      <a:pt x="157162" y="0"/>
                    </a:moveTo>
                    <a:lnTo>
                      <a:pt x="157162" y="17462"/>
                    </a:lnTo>
                    <a:moveTo>
                      <a:pt x="296862" y="157162"/>
                    </a:moveTo>
                    <a:lnTo>
                      <a:pt x="314324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8" y="57626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278133" y="788987"/>
                <a:ext cx="189432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2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2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8"/>
                      <a:pt x="114005" y="244475"/>
                      <a:pt x="94716" y="244475"/>
                    </a:cubicBezTo>
                    <a:cubicBezTo>
                      <a:pt x="75428" y="244475"/>
                      <a:pt x="59791" y="228838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32686" y="963612"/>
                <a:ext cx="8032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7" h="9525">
                    <a:moveTo>
                      <a:pt x="0" y="0"/>
                    </a:moveTo>
                    <a:lnTo>
                      <a:pt x="80327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8" name="Line 8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1466850"/>
            <a:ext cx="10972800" cy="962025"/>
            <a:chOff x="609600" y="1466850"/>
            <a:chExt cx="10972800" cy="962025"/>
          </a:xfrm>
        </p:grpSpPr>
        <p:sp>
          <p:nvSpPr>
            <p:cNvPr id="10" name="Rectangle 10"/>
            <p:cNvSpPr/>
            <p:nvPr/>
          </p:nvSpPr>
          <p:spPr>
            <a:xfrm>
              <a:off x="609600" y="1466850"/>
              <a:ext cx="76200" cy="876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0684" y="16135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464469" y="1674019"/>
              <a:ext cx="214313" cy="214313"/>
              <a:chOff x="1464469" y="1674019"/>
              <a:chExt cx="214313" cy="21431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464469" y="1674019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607344" y="1816894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500188" y="1733550"/>
                <a:ext cx="2381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7625">
                    <a:moveTo>
                      <a:pt x="23812" y="0"/>
                    </a:moveTo>
                    <a:lnTo>
                      <a:pt x="0" y="23812"/>
                    </a:lnTo>
                    <a:lnTo>
                      <a:pt x="23812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571625" y="1733550"/>
                <a:ext cx="2381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47625">
                    <a:moveTo>
                      <a:pt x="0" y="0"/>
                    </a:moveTo>
                    <a:lnTo>
                      <a:pt x="23812" y="23812"/>
                    </a:lnTo>
                    <a:lnTo>
                      <a:pt x="0" y="476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857756" y="1672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凡断言必取证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733800" y="1638300"/>
              <a:ext cx="14287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68186" y="1719739"/>
              <a:ext cx="1159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案例 B 展开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60042" y="2083118"/>
              <a:ext cx="7483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技术方案查框架真实能力、契约抄页面实发 payload、任务定义从会话记录里抠——不靠"觉得"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241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09600" y="2642235"/>
            <a:ext cx="10972800" cy="815340"/>
            <a:chOff x="609600" y="2642235"/>
            <a:chExt cx="10972800" cy="815340"/>
          </a:xfrm>
        </p:grpSpPr>
        <p:sp>
          <p:nvSpPr>
            <p:cNvPr id="23" name="TextBox 23"/>
            <p:cNvSpPr txBox="1"/>
            <p:nvPr/>
          </p:nvSpPr>
          <p:spPr>
            <a:xfrm>
              <a:off x="900684" y="26422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464469" y="2702719"/>
              <a:ext cx="214313" cy="214313"/>
              <a:chOff x="1464469" y="2702719"/>
              <a:chExt cx="214313" cy="214313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488281" y="2702719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464469" y="2845594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95250" y="0"/>
                    </a:lnTo>
                    <a:cubicBezTo>
                      <a:pt x="121553" y="0"/>
                      <a:pt x="142875" y="21322"/>
                      <a:pt x="142875" y="47625"/>
                    </a:cubicBezTo>
                    <a:lnTo>
                      <a:pt x="142875" y="71438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619250" y="2704267"/>
                <a:ext cx="35812" cy="92273"/>
              </a:xfrm>
              <a:custGeom>
                <a:avLst/>
                <a:gdLst/>
                <a:ahLst/>
                <a:cxnLst/>
                <a:rect l="l" t="t" r="r" b="b"/>
                <a:pathLst>
                  <a:path w="35812" h="92273">
                    <a:moveTo>
                      <a:pt x="0" y="0"/>
                    </a:moveTo>
                    <a:cubicBezTo>
                      <a:pt x="21073" y="5396"/>
                      <a:pt x="35812" y="24384"/>
                      <a:pt x="35812" y="46137"/>
                    </a:cubicBezTo>
                    <a:cubicBezTo>
                      <a:pt x="35812" y="67890"/>
                      <a:pt x="21073" y="86878"/>
                      <a:pt x="0" y="92273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643063" y="2847380"/>
                <a:ext cx="35719" cy="69652"/>
              </a:xfrm>
              <a:custGeom>
                <a:avLst/>
                <a:gdLst/>
                <a:ahLst/>
                <a:cxnLst/>
                <a:rect l="l" t="t" r="r" b="b"/>
                <a:pathLst>
                  <a:path w="35719" h="69652">
                    <a:moveTo>
                      <a:pt x="35719" y="69652"/>
                    </a:moveTo>
                    <a:lnTo>
                      <a:pt x="35719" y="45839"/>
                    </a:lnTo>
                    <a:cubicBezTo>
                      <a:pt x="35594" y="24224"/>
                      <a:pt x="20929" y="5403"/>
                      <a:pt x="0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857756" y="27012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真岔路停下问人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60042" y="3111818"/>
              <a:ext cx="8165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改产物 / 触红线 / PRD 自相矛盾——交人拍板;有惯例默认值的自己定并说明,不把该定的都推给人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09600" y="3448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09600" y="3670935"/>
            <a:ext cx="10972800" cy="815340"/>
            <a:chOff x="609600" y="3670935"/>
            <a:chExt cx="10972800" cy="815340"/>
          </a:xfrm>
        </p:grpSpPr>
        <p:sp>
          <p:nvSpPr>
            <p:cNvPr id="33" name="TextBox 33"/>
            <p:cNvSpPr txBox="1"/>
            <p:nvPr/>
          </p:nvSpPr>
          <p:spPr>
            <a:xfrm>
              <a:off x="900684" y="36709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1464469" y="3731419"/>
              <a:ext cx="214312" cy="214312"/>
              <a:chOff x="1464469" y="3731419"/>
              <a:chExt cx="214312" cy="21431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464469" y="3898106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631156" y="37314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547812" y="3755231"/>
                <a:ext cx="476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66688">
                    <a:moveTo>
                      <a:pt x="47625" y="0"/>
                    </a:moveTo>
                    <a:cubicBezTo>
                      <a:pt x="34474" y="0"/>
                      <a:pt x="23812" y="10661"/>
                      <a:pt x="23812" y="23812"/>
                    </a:cubicBezTo>
                    <a:lnTo>
                      <a:pt x="23812" y="142875"/>
                    </a:lnTo>
                    <a:cubicBezTo>
                      <a:pt x="23812" y="156026"/>
                      <a:pt x="13151" y="166688"/>
                      <a:pt x="0" y="166688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857756" y="3729990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配方化 + 地基先行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60042" y="4140518"/>
              <a:ext cx="6977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首模块慢慢打穿、固化成配方,后续只写 delta;人人要踩一遍的坑抽成 Phase 0 做一次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09600" y="4476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609600" y="4552950"/>
            <a:ext cx="10972800" cy="962025"/>
            <a:chOff x="609600" y="4552950"/>
            <a:chExt cx="10972800" cy="962025"/>
          </a:xfrm>
        </p:grpSpPr>
        <p:sp>
          <p:nvSpPr>
            <p:cNvPr id="42" name="Rectangle 42"/>
            <p:cNvSpPr/>
            <p:nvPr/>
          </p:nvSpPr>
          <p:spPr>
            <a:xfrm>
              <a:off x="609600" y="4552950"/>
              <a:ext cx="76200" cy="876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00684" y="46996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476375" y="4760119"/>
              <a:ext cx="190500" cy="214312"/>
              <a:chOff x="1476375" y="4760119"/>
              <a:chExt cx="190500" cy="21431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476375" y="4760119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6"/>
                      <a:pt x="42645" y="71438"/>
                      <a:pt x="95250" y="71438"/>
                    </a:cubicBezTo>
                    <a:cubicBezTo>
                      <a:pt x="147855" y="71438"/>
                      <a:pt x="190500" y="55446"/>
                      <a:pt x="190500" y="35719"/>
                    </a:cubicBezTo>
                    <a:cubicBezTo>
                      <a:pt x="190500" y="15992"/>
                      <a:pt x="147855" y="0"/>
                      <a:pt x="95250" y="0"/>
                    </a:cubicBezTo>
                    <a:cubicBezTo>
                      <a:pt x="42645" y="0"/>
                      <a:pt x="0" y="15992"/>
                      <a:pt x="0" y="35719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476375" y="4795838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476375" y="4867275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857756" y="4758690"/>
              <a:ext cx="31986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200 不算数,落库的行才算数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0" y="4724400"/>
              <a:ext cx="1619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401141" y="4805839"/>
              <a:ext cx="14849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案例 A / C 展开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860042" y="5169218"/>
              <a:ext cx="4737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单测全绿、库仍可能是错的——JDBC 核库与门禁绿同权重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609600" y="5505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824484" y="5728335"/>
            <a:ext cx="7587691" cy="733616"/>
            <a:chOff x="824484" y="5728335"/>
            <a:chExt cx="7587691" cy="733616"/>
          </a:xfrm>
        </p:grpSpPr>
        <p:sp>
          <p:nvSpPr>
            <p:cNvPr id="54" name="TextBox 54"/>
            <p:cNvSpPr txBox="1"/>
            <p:nvPr/>
          </p:nvSpPr>
          <p:spPr>
            <a:xfrm>
              <a:off x="824484" y="572833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E3E9E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1488281" y="5789941"/>
              <a:ext cx="166688" cy="213191"/>
              <a:chOff x="1488281" y="5789941"/>
              <a:chExt cx="166688" cy="213191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1488281" y="5789941"/>
                <a:ext cx="166688" cy="152536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2536">
                    <a:moveTo>
                      <a:pt x="0" y="22690"/>
                    </a:moveTo>
                    <a:cubicBezTo>
                      <a:pt x="23148" y="0"/>
                      <a:pt x="60195" y="0"/>
                      <a:pt x="83344" y="22690"/>
                    </a:cubicBezTo>
                    <a:cubicBezTo>
                      <a:pt x="106492" y="45380"/>
                      <a:pt x="143539" y="45380"/>
                      <a:pt x="166688" y="22690"/>
                    </a:cubicBezTo>
                    <a:lnTo>
                      <a:pt x="166688" y="129846"/>
                    </a:lnTo>
                    <a:cubicBezTo>
                      <a:pt x="143539" y="152536"/>
                      <a:pt x="106492" y="152536"/>
                      <a:pt x="83344" y="129846"/>
                    </a:cubicBezTo>
                    <a:cubicBezTo>
                      <a:pt x="60195" y="107156"/>
                      <a:pt x="23148" y="107156"/>
                      <a:pt x="0" y="129846"/>
                    </a:cubicBezTo>
                    <a:lnTo>
                      <a:pt x="0" y="2269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488281" y="5919788"/>
                <a:ext cx="95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3344">
                    <a:moveTo>
                      <a:pt x="0" y="83344"/>
                    </a:moveTo>
                    <a:lnTo>
                      <a:pt x="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857756" y="57873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坑升格为资产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860042" y="6197918"/>
              <a:ext cx="655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每个坑修复后固化进记忆 / 红线 / 门禁——这是 AI 协作里 ROI 最高的一笔投入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13728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231898" y="669608"/>
              <a:ext cx="517470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高保真交付后,页面全空了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1215687" y="754062"/>
              <a:ext cx="314325" cy="261938"/>
              <a:chOff x="11215687" y="754062"/>
              <a:chExt cx="314325" cy="26193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320462" y="7540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69850"/>
                    </a:moveTo>
                    <a:lnTo>
                      <a:pt x="0" y="52387"/>
                    </a:lnTo>
                    <a:cubicBezTo>
                      <a:pt x="0" y="23455"/>
                      <a:pt x="23455" y="0"/>
                      <a:pt x="52387" y="0"/>
                    </a:cubicBezTo>
                    <a:cubicBezTo>
                      <a:pt x="81320" y="0"/>
                      <a:pt x="104775" y="23455"/>
                      <a:pt x="104775" y="52387"/>
                    </a:cubicBezTo>
                    <a:lnTo>
                      <a:pt x="104775" y="6985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285537" y="823912"/>
                <a:ext cx="174625" cy="192087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92087">
                    <a:moveTo>
                      <a:pt x="17462" y="0"/>
                    </a:moveTo>
                    <a:lnTo>
                      <a:pt x="157162" y="0"/>
                    </a:lnTo>
                    <a:cubicBezTo>
                      <a:pt x="167563" y="15587"/>
                      <a:pt x="173593" y="33678"/>
                      <a:pt x="174625" y="52387"/>
                    </a:cubicBezTo>
                    <a:lnTo>
                      <a:pt x="174625" y="104775"/>
                    </a:lnTo>
                    <a:cubicBezTo>
                      <a:pt x="174625" y="152996"/>
                      <a:pt x="135534" y="192087"/>
                      <a:pt x="87312" y="192087"/>
                    </a:cubicBezTo>
                    <a:cubicBezTo>
                      <a:pt x="39091" y="192087"/>
                      <a:pt x="0" y="152996"/>
                      <a:pt x="0" y="104775"/>
                    </a:cubicBezTo>
                    <a:lnTo>
                      <a:pt x="0" y="52387"/>
                    </a:lnTo>
                    <a:cubicBezTo>
                      <a:pt x="1032" y="33678"/>
                      <a:pt x="7062" y="15587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15687" y="893762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460162" y="893762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372850" y="911225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10477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33150" y="963612"/>
                <a:ext cx="58499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4925">
                    <a:moveTo>
                      <a:pt x="0" y="34925"/>
                    </a:moveTo>
                    <a:lnTo>
                      <a:pt x="58499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454050" y="963612"/>
                <a:ext cx="58499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4925">
                    <a:moveTo>
                      <a:pt x="58499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233150" y="788987"/>
                <a:ext cx="65484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65484" h="41910">
                    <a:moveTo>
                      <a:pt x="0" y="0"/>
                    </a:moveTo>
                    <a:lnTo>
                      <a:pt x="65484" y="4191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447065" y="788987"/>
                <a:ext cx="65484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65484" h="41910">
                    <a:moveTo>
                      <a:pt x="65484" y="0"/>
                    </a:moveTo>
                    <a:lnTo>
                      <a:pt x="0" y="4191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</p:grpSp>
        <p:sp>
          <p:nvSpPr>
            <p:cNvPr id="14" name="Line 1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1218" y="1498282"/>
            <a:ext cx="11040173" cy="322707"/>
            <a:chOff x="601218" y="1498282"/>
            <a:chExt cx="11040173" cy="322707"/>
          </a:xfrm>
        </p:grpSpPr>
        <p:sp>
          <p:nvSpPr>
            <p:cNvPr id="16" name="TextBox 16"/>
            <p:cNvSpPr txBox="1"/>
            <p:nvPr/>
          </p:nvSpPr>
          <p:spPr>
            <a:xfrm>
              <a:off x="601218" y="1498282"/>
              <a:ext cx="110401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现象:数据看板 / 吐槽墙全空——大模型却坚持"一切正常",甚至生成独立页面自证。</a:t>
              </a:r>
              <a:r>
                <a:rPr lang="zh-CN" sz="1650" b="1" dirty="0">
                  <a:solidFill>
                    <a:srgbClr val="C6493D"/>
                  </a:solidFill>
                  <a:latin typeface="+mn-lt"/>
                  <a:ea typeface="+mn-ea"/>
                  <a:cs typeface="+mn-cs"/>
                </a:rPr>
                <a:t>此时必须人工干预,要证据。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95400" y="2133600"/>
            <a:ext cx="9601200" cy="3191256"/>
            <a:chOff x="1295400" y="2133600"/>
            <a:chExt cx="9601200" cy="3191256"/>
          </a:xfrm>
        </p:grpSpPr>
        <p:sp>
          <p:nvSpPr>
            <p:cNvPr id="18" name="Rectangle 18"/>
            <p:cNvSpPr/>
            <p:nvPr/>
          </p:nvSpPr>
          <p:spPr>
            <a:xfrm>
              <a:off x="1295400" y="2133600"/>
              <a:ext cx="9601200" cy="28765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4450" y="2161601"/>
              <a:ext cx="9563100" cy="2820548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4696587" y="5090160"/>
              <a:ext cx="27988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实战截图:mock 数据未正常显示的现场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5505450"/>
            <a:ext cx="10972800" cy="800100"/>
            <a:chOff x="609600" y="5505450"/>
            <a:chExt cx="10972800" cy="800100"/>
          </a:xfrm>
        </p:grpSpPr>
        <p:sp>
          <p:nvSpPr>
            <p:cNvPr id="22" name="Rectangle 22"/>
            <p:cNvSpPr/>
            <p:nvPr/>
          </p:nvSpPr>
          <p:spPr>
            <a:xfrm>
              <a:off x="609600" y="5505450"/>
              <a:ext cx="34290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0580" y="5667375"/>
              <a:ext cx="1679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证伪最可疑对象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1723" y="5996464"/>
              <a:ext cx="25201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图表组件抽出独立渲染,喂真数据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381500" y="5505450"/>
              <a:ext cx="34290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02480" y="5667375"/>
              <a:ext cx="1467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② 组件完全正常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3623" y="59964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嫌疑被赶到数据链路上游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153400" y="5505450"/>
              <a:ext cx="3429000" cy="8001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C6493D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74380" y="5667375"/>
              <a:ext cx="619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6493D"/>
                  </a:solidFill>
                  <a:latin typeface="+mn-lt"/>
                  <a:ea typeface="+mn-ea"/>
                  <a:cs typeface="+mn-cs"/>
                </a:rPr>
                <a:t>③ 铁律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75523" y="5996464"/>
              <a:ext cx="27562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 FIXES WITHOUT ROOT CAUSE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13728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231898" y="669608"/>
              <a:ext cx="490755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 行脚本,一次钉死真因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466850"/>
            <a:ext cx="4495800" cy="2781300"/>
            <a:chOff x="609600" y="1466850"/>
            <a:chExt cx="4495800" cy="2781300"/>
          </a:xfrm>
        </p:grpSpPr>
        <p:sp>
          <p:nvSpPr>
            <p:cNvPr id="6" name="Rectangle 6"/>
            <p:cNvSpPr/>
            <p:nvPr/>
          </p:nvSpPr>
          <p:spPr>
            <a:xfrm>
              <a:off x="609600" y="1466850"/>
              <a:ext cx="4495800" cy="2781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056" y="1672590"/>
              <a:ext cx="28424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真因(藏在防腐层黑盒里)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105025"/>
              <a:ext cx="273939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AIRequestGuard 的 mock 分支,对已是 ViewModel 的数据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再跑一次 adapter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276600"/>
              <a:ext cx="4038600" cy="419100"/>
            </a:xfrm>
            <a:prstGeom prst="rect">
              <a:avLst/>
            </a:prstGeom>
            <a:solidFill>
              <a:srgbClr val="102A4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742" y="3407092"/>
              <a:ext cx="26207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snake_case 读 camelCase 对象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580" y="3914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字段全落默认值 0 / [] → 页面全空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16880" y="1571625"/>
            <a:ext cx="6065520" cy="2676525"/>
            <a:chOff x="5516880" y="1571625"/>
            <a:chExt cx="6065520" cy="2676525"/>
          </a:xfrm>
        </p:grpSpPr>
        <p:sp>
          <p:nvSpPr>
            <p:cNvPr id="13" name="TextBox 13"/>
            <p:cNvSpPr txBox="1"/>
            <p:nvPr/>
          </p:nvSpPr>
          <p:spPr>
            <a:xfrm>
              <a:off x="5516880" y="1571625"/>
              <a:ext cx="58459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 行最小复现 · import 真实库 + 真 mock,三种配置一次跑完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524500" y="1885950"/>
              <a:ext cx="60579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C6493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07761" y="2017871"/>
              <a:ext cx="30109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6493D"/>
                  </a:solidFill>
                  <a:latin typeface="+mn-lt"/>
                  <a:ea typeface="+mn-ea"/>
                  <a:cs typeface="+mn-cs"/>
                </a:rPr>
                <a:t>✗ 当前配置(mock + ViewModel)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08523" y="2300764"/>
              <a:ext cx="1925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全空——双重转换吞掉数据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524500" y="2724150"/>
              <a:ext cx="6057900" cy="685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C6493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07761" y="2856071"/>
              <a:ext cx="25020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C6493D"/>
                  </a:solidFill>
                  <a:latin typeface="+mn-lt"/>
                  <a:ea typeface="+mn-ea"/>
                  <a:cs typeface="+mn-cs"/>
                </a:rPr>
                <a:t>✗ 歧路(mock + 原始 DTO)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08523" y="3138964"/>
              <a:ext cx="30134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被另一层 pickBySchema 裁掉——也不行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524500" y="3562350"/>
              <a:ext cx="6057900" cy="6858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2E7D3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07761" y="3694271"/>
              <a:ext cx="37135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✓ 正解(real + mockRequest 返回 DTO)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8523" y="3977164"/>
              <a:ext cx="22961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数据全对——adapter 只转一次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473924" y="4644390"/>
            <a:ext cx="7244151" cy="352044"/>
            <a:chOff x="2473924" y="4644390"/>
            <a:chExt cx="7244151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2473924" y="4644390"/>
              <a:ext cx="72441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一次复现,同时:证明了真因 · 证伪了两条歧路 · 指出了唯一正解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5238750"/>
            <a:ext cx="10972800" cy="971550"/>
            <a:chOff x="609600" y="5238750"/>
            <a:chExt cx="10972800" cy="971550"/>
          </a:xfrm>
        </p:grpSpPr>
        <p:sp>
          <p:nvSpPr>
            <p:cNvPr id="26" name="Rectangle 26"/>
            <p:cNvSpPr/>
            <p:nvPr/>
          </p:nvSpPr>
          <p:spPr>
            <a:xfrm>
              <a:off x="609600" y="5238750"/>
              <a:ext cx="10972800" cy="9715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7918" y="5441632"/>
              <a:ext cx="51711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改在正确的层:把"后端未就位"下沉到 request 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8680" y="5819775"/>
              <a:ext cx="70121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后端就绪后一个开关切回真实接口——好的修复,恰好落在未来正确架构的位置上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13728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 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231898" y="669608"/>
              <a:ext cx="70002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建库约定,不猜——反编译字节码取证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1215687" y="719137"/>
              <a:ext cx="314325" cy="314325"/>
              <a:chOff x="11215687" y="719137"/>
              <a:chExt cx="314325" cy="31432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719137"/>
                <a:ext cx="24447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44475">
                    <a:moveTo>
                      <a:pt x="0" y="122237"/>
                    </a:moveTo>
                    <a:cubicBezTo>
                      <a:pt x="0" y="189747"/>
                      <a:pt x="54727" y="244475"/>
                      <a:pt x="122237" y="244475"/>
                    </a:cubicBezTo>
                    <a:cubicBezTo>
                      <a:pt x="189747" y="244475"/>
                      <a:pt x="244475" y="189747"/>
                      <a:pt x="244475" y="122237"/>
                    </a:cubicBezTo>
                    <a:cubicBezTo>
                      <a:pt x="244475" y="54727"/>
                      <a:pt x="189747" y="0"/>
                      <a:pt x="122237" y="0"/>
                    </a:cubicBezTo>
                    <a:cubicBezTo>
                      <a:pt x="54727" y="0"/>
                      <a:pt x="0" y="54727"/>
                      <a:pt x="0" y="122237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425237" y="928687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104775" y="10477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68075" y="806450"/>
                <a:ext cx="349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69850">
                    <a:moveTo>
                      <a:pt x="34925" y="0"/>
                    </a:moveTo>
                    <a:lnTo>
                      <a:pt x="0" y="34925"/>
                    </a:lnTo>
                    <a:lnTo>
                      <a:pt x="34925" y="6985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372850" y="806450"/>
                <a:ext cx="349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69850">
                    <a:moveTo>
                      <a:pt x="0" y="0"/>
                    </a:moveTo>
                    <a:lnTo>
                      <a:pt x="34925" y="34925"/>
                    </a:ln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9" name="Line 9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466850"/>
            <a:ext cx="3733800" cy="4686300"/>
            <a:chOff x="609600" y="1466850"/>
            <a:chExt cx="3733800" cy="46863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66850"/>
              <a:ext cx="3733800" cy="468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672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取证动作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57400"/>
              <a:ext cx="3276600" cy="419100"/>
            </a:xfrm>
            <a:prstGeom prst="rect">
              <a:avLst/>
            </a:prstGeom>
            <a:solidFill>
              <a:srgbClr val="102A4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3742" y="2187892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javap -c *-starter.jar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0580" y="2695575"/>
              <a:ext cx="3168015" cy="12077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审计列名、主键类型、逻辑删除写法,全部反编译 starter 字节码拿 ground truth,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不按开源惯例猜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38200" y="43815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1342" y="4616768"/>
              <a:ext cx="2585466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连带揪出语义 bug:评论"软删留占位"与框架 deleted</a:t>
              </a:r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"隐藏整行"语义冲突→ 拆独立字段 content_deleted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762500" y="1466850"/>
            <a:ext cx="7029900" cy="1447800"/>
            <a:chOff x="4762500" y="1466850"/>
            <a:chExt cx="7029900" cy="1447800"/>
          </a:xfrm>
        </p:grpSpPr>
        <p:sp>
          <p:nvSpPr>
            <p:cNvPr id="19" name="Rectangle 19"/>
            <p:cNvSpPr/>
            <p:nvPr/>
          </p:nvSpPr>
          <p:spPr>
            <a:xfrm>
              <a:off x="4762500" y="1466850"/>
              <a:ext cx="6819900" cy="1447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762500" y="1466850"/>
              <a:ext cx="68199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83099" y="1677829"/>
              <a:ext cx="50478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发现 ①:审计字段 createBy 填的是 Long 型用户 id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84242" y="2025968"/>
              <a:ext cx="66051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MetaObjectHandler 实际填 createTime / updateTime / createBy / updateBy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84242" y="2349818"/>
              <a:ext cx="6808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连锁定死:全表主键 BIGINT+雪花;前端 ID 全 string,由 Jackson Long→String 满足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85004" y="2651760"/>
              <a:ext cx="33319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一条字节码事实,锁定了整套主键与序列化设计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762500" y="3105150"/>
            <a:ext cx="6819900" cy="1352550"/>
            <a:chOff x="4762500" y="3105150"/>
            <a:chExt cx="6819900" cy="1352550"/>
          </a:xfrm>
        </p:grpSpPr>
        <p:sp>
          <p:nvSpPr>
            <p:cNvPr id="26" name="Rectangle 26"/>
            <p:cNvSpPr/>
            <p:nvPr/>
          </p:nvSpPr>
          <p:spPr>
            <a:xfrm>
              <a:off x="4762500" y="3105150"/>
              <a:ext cx="6819900" cy="13525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762500" y="3105150"/>
              <a:ext cx="68199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983099" y="3316129"/>
              <a:ext cx="467456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发现 ②:逻辑删除字段名 deleted,值 'Y' / 'N'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84242" y="3664268"/>
              <a:ext cx="5610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不是想当然的 is_deleted TINYINT——开源惯例在这套框架里就是错的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84242" y="3988118"/>
              <a:ext cx="3094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 张表的软删列因此一次写对,零返工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762500" y="4648200"/>
            <a:ext cx="7093797" cy="1352550"/>
            <a:chOff x="4762500" y="4648200"/>
            <a:chExt cx="7093797" cy="1352550"/>
          </a:xfrm>
        </p:grpSpPr>
        <p:sp>
          <p:nvSpPr>
            <p:cNvPr id="32" name="Rectangle 32"/>
            <p:cNvSpPr/>
            <p:nvPr/>
          </p:nvSpPr>
          <p:spPr>
            <a:xfrm>
              <a:off x="4762500" y="4648200"/>
              <a:ext cx="6819900" cy="13525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762500" y="4648200"/>
              <a:ext cx="68199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83099" y="4859179"/>
              <a:ext cx="68731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发现 ③:业务侧禁止定义 MyBatisPlusConfig 与 MetaObjectHandler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84242" y="5207318"/>
              <a:ext cx="5911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与框架 Bean 冲突,一定义就炸——这类禁令只有规范文档+字节码能告诉你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84242" y="5531168"/>
              <a:ext cx="265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写进项目红线,后续会话不再复踩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28547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 B · 后记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546348" y="669608"/>
              <a:ext cx="31487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一个疑点的闭环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368013" y="2106930"/>
            <a:ext cx="5455973" cy="704088"/>
            <a:chOff x="3368013" y="2106930"/>
            <a:chExt cx="5455973" cy="704088"/>
          </a:xfrm>
        </p:grpSpPr>
        <p:sp>
          <p:nvSpPr>
            <p:cNvPr id="6" name="TextBox 6"/>
            <p:cNvSpPr txBox="1"/>
            <p:nvPr/>
          </p:nvSpPr>
          <p:spPr>
            <a:xfrm>
              <a:off x="3368013" y="2106930"/>
              <a:ext cx="545597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"文档说有,字节码没有"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65958" y="3498532"/>
            <a:ext cx="10295759" cy="1058419"/>
            <a:chOff x="1265958" y="3498532"/>
            <a:chExt cx="10295759" cy="1058419"/>
          </a:xfrm>
        </p:grpSpPr>
        <p:sp>
          <p:nvSpPr>
            <p:cNvPr id="8" name="Line 8"/>
            <p:cNvSpPr/>
            <p:nvPr/>
          </p:nvSpPr>
          <p:spPr>
            <a:xfrm>
              <a:off x="1714500" y="40005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28575">
              <a:solidFill>
                <a:schemeClr val="accent5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171700" y="3886200"/>
              <a:ext cx="228600" cy="228600"/>
            </a:xfrm>
            <a:prstGeom prst="ellipse">
              <a:avLst/>
            </a:prstGeom>
            <a:solidFill>
              <a:srgbClr val="5C6B7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97178" y="34985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文档说:含乐观锁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5958" y="429291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starter 配置文档的说法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981700" y="38862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857334" y="3498532"/>
              <a:ext cx="2477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字节码:只见分页拦截器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35335" y="4292918"/>
              <a:ext cx="3321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不假装已验证——诚实标为"运行时自证点"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9791700" y="3886200"/>
              <a:ext cx="228600" cy="2286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17178" y="34985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运行时:证实没装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50283" y="4292918"/>
              <a:ext cx="33114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@Version 不生效,业务侧覆盖拦截器补上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51323" y="5504498"/>
            <a:ext cx="4889354" cy="787336"/>
            <a:chOff x="3651323" y="5504498"/>
            <a:chExt cx="4889354" cy="787336"/>
          </a:xfrm>
        </p:grpSpPr>
        <p:sp>
          <p:nvSpPr>
            <p:cNvPr id="19" name="TextBox 19"/>
            <p:cNvSpPr txBox="1"/>
            <p:nvPr/>
          </p:nvSpPr>
          <p:spPr>
            <a:xfrm>
              <a:off x="3651323" y="5504498"/>
              <a:ext cx="48893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疑点最终以运行时事实收口,并发用例钉死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68711" y="5939790"/>
              <a:ext cx="42545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诚实标注,比虚假的"已验证"值钱得多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13728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 C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231898" y="669608"/>
              <a:ext cx="71783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单测全绿、接口 200——库里却是错的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1215687" y="754062"/>
              <a:ext cx="314325" cy="261938"/>
              <a:chOff x="11215687" y="754062"/>
              <a:chExt cx="314325" cy="261938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320462" y="7540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69850"/>
                    </a:moveTo>
                    <a:lnTo>
                      <a:pt x="0" y="52387"/>
                    </a:lnTo>
                    <a:cubicBezTo>
                      <a:pt x="0" y="23455"/>
                      <a:pt x="23455" y="0"/>
                      <a:pt x="52387" y="0"/>
                    </a:cubicBezTo>
                    <a:cubicBezTo>
                      <a:pt x="81320" y="0"/>
                      <a:pt x="104775" y="23455"/>
                      <a:pt x="104775" y="52387"/>
                    </a:cubicBezTo>
                    <a:lnTo>
                      <a:pt x="104775" y="6985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285537" y="823912"/>
                <a:ext cx="174625" cy="192087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92087">
                    <a:moveTo>
                      <a:pt x="17462" y="0"/>
                    </a:moveTo>
                    <a:lnTo>
                      <a:pt x="157162" y="0"/>
                    </a:lnTo>
                    <a:cubicBezTo>
                      <a:pt x="167563" y="15587"/>
                      <a:pt x="173593" y="33678"/>
                      <a:pt x="174625" y="52387"/>
                    </a:cubicBezTo>
                    <a:lnTo>
                      <a:pt x="174625" y="104775"/>
                    </a:lnTo>
                    <a:cubicBezTo>
                      <a:pt x="174625" y="152996"/>
                      <a:pt x="135534" y="192087"/>
                      <a:pt x="87312" y="192087"/>
                    </a:cubicBezTo>
                    <a:cubicBezTo>
                      <a:pt x="39091" y="192087"/>
                      <a:pt x="0" y="152996"/>
                      <a:pt x="0" y="104775"/>
                    </a:cubicBezTo>
                    <a:lnTo>
                      <a:pt x="0" y="52387"/>
                    </a:lnTo>
                    <a:cubicBezTo>
                      <a:pt x="1032" y="33678"/>
                      <a:pt x="7062" y="15587"/>
                      <a:pt x="17462" y="0"/>
                    </a:cubicBez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15687" y="893762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460162" y="893762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372850" y="911225"/>
                <a:ext cx="952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4775">
                    <a:moveTo>
                      <a:pt x="0" y="10477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33150" y="963612"/>
                <a:ext cx="58499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4925">
                    <a:moveTo>
                      <a:pt x="0" y="34925"/>
                    </a:moveTo>
                    <a:lnTo>
                      <a:pt x="58499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454050" y="963612"/>
                <a:ext cx="58499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4925">
                    <a:moveTo>
                      <a:pt x="58499" y="34925"/>
                    </a:move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233150" y="788987"/>
                <a:ext cx="65484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65484" h="41910">
                    <a:moveTo>
                      <a:pt x="0" y="0"/>
                    </a:moveTo>
                    <a:lnTo>
                      <a:pt x="65484" y="4191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447065" y="788987"/>
                <a:ext cx="65484" cy="41910"/>
              </a:xfrm>
              <a:custGeom>
                <a:avLst/>
                <a:gdLst/>
                <a:ahLst/>
                <a:cxnLst/>
                <a:rect l="l" t="t" r="r" b="b"/>
                <a:pathLst>
                  <a:path w="65484" h="41910">
                    <a:moveTo>
                      <a:pt x="65484" y="0"/>
                    </a:moveTo>
                    <a:lnTo>
                      <a:pt x="0" y="41910"/>
                    </a:lnTo>
                  </a:path>
                </a:pathLst>
              </a:custGeom>
              <a:noFill/>
              <a:ln w="34925">
                <a:solidFill>
                  <a:srgbClr val="C6493D"/>
                </a:solidFill>
              </a:ln>
            </p:spPr>
          </p:sp>
        </p:grpSp>
        <p:sp>
          <p:nvSpPr>
            <p:cNvPr id="14" name="Line 14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1218" y="1498282"/>
            <a:ext cx="9668697" cy="322707"/>
            <a:chOff x="601218" y="1498282"/>
            <a:chExt cx="9668697" cy="322707"/>
          </a:xfrm>
        </p:grpSpPr>
        <p:sp>
          <p:nvSpPr>
            <p:cNvPr id="16" name="TextBox 16"/>
            <p:cNvSpPr txBox="1"/>
            <p:nvPr/>
          </p:nvSpPr>
          <p:spPr>
            <a:xfrm>
              <a:off x="601218" y="1498282"/>
              <a:ext cx="96686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现场:"恢复上架要把 archived_by 清回 NULL",service 也确实写了 </a:t>
              </a: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setArchivedBy(null)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——然后: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2038350"/>
            <a:ext cx="5829300" cy="4019550"/>
            <a:chOff x="609600" y="2038350"/>
            <a:chExt cx="5829300" cy="4019550"/>
          </a:xfrm>
        </p:grpSpPr>
        <p:sp>
          <p:nvSpPr>
            <p:cNvPr id="18" name="Rectangle 18"/>
            <p:cNvSpPr/>
            <p:nvPr/>
          </p:nvSpPr>
          <p:spPr>
            <a:xfrm>
              <a:off x="609600" y="2038350"/>
              <a:ext cx="5829300" cy="933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0199" y="2249329"/>
              <a:ext cx="1199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✓ 单元测试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342" y="261651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断言实体字段为 null——通过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3067050"/>
              <a:ext cx="5829300" cy="933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0199" y="3278029"/>
              <a:ext cx="1199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✓ 接口调用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1342" y="3645218"/>
              <a:ext cx="1294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返回 200——成功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4095750"/>
              <a:ext cx="5829300" cy="933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0199" y="4306729"/>
              <a:ext cx="1199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✓ 页面显示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1342" y="4673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一切正常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9600" y="5124450"/>
              <a:ext cx="5829300" cy="93345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rgbClr val="C6493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0199" y="5335429"/>
              <a:ext cx="20925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C6493D"/>
                  </a:solidFill>
                  <a:latin typeface="+mn-lt"/>
                  <a:ea typeface="+mn-ea"/>
                  <a:cs typeface="+mn-cs"/>
                </a:rPr>
                <a:t>✗ JDBC 直查数据库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342" y="5702618"/>
              <a:ext cx="312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库里残留旧下架人——只有这一层是红的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0" y="2038350"/>
            <a:ext cx="4724400" cy="4152900"/>
            <a:chOff x="6858000" y="2038350"/>
            <a:chExt cx="4724400" cy="4152900"/>
          </a:xfrm>
        </p:grpSpPr>
        <p:sp>
          <p:nvSpPr>
            <p:cNvPr id="31" name="Rectangle 31"/>
            <p:cNvSpPr/>
            <p:nvPr/>
          </p:nvSpPr>
          <p:spPr>
            <a:xfrm>
              <a:off x="6858000" y="2038350"/>
              <a:ext cx="4724400" cy="17145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8218" y="22412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根因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79361" y="2627471"/>
              <a:ext cx="2566289" cy="8502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MyBatis-Plus updateById 默认NOT_NULL 策略</a:t>
              </a:r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静默跳过 null 字段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0" y="3905250"/>
              <a:ext cx="4724400" cy="2286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2E7D3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78218" y="410813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修复三件套,一个不缺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79742" y="4521518"/>
              <a:ext cx="2533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① 该列 </a:t>
              </a: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updateStrategy=ALWAYS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79742" y="4864418"/>
              <a:ext cx="4459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真库集成测试钉死("若残留说明 ALWAYS 被移除")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79742" y="5207318"/>
              <a:ext cx="2679763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固化记忆:凡"清 NULL"语义字段,建 DO 时就标 ALWAYS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80123" y="5863114"/>
              <a:ext cx="32524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这类 bug 的结构特征:测试金字塔每层都绿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13728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案例 C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231898" y="669608"/>
              <a:ext cx="67553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由案例立制度:五关验收,关关必过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1224419" y="745331"/>
              <a:ext cx="288130" cy="253206"/>
              <a:chOff x="11224419" y="745331"/>
              <a:chExt cx="288130" cy="25320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24419" y="745331"/>
                <a:ext cx="69850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43656">
                    <a:moveTo>
                      <a:pt x="0" y="17462"/>
                    </a:moveTo>
                    <a:lnTo>
                      <a:pt x="26194" y="43656"/>
                    </a:ln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224419" y="850106"/>
                <a:ext cx="69850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43656">
                    <a:moveTo>
                      <a:pt x="0" y="17462"/>
                    </a:moveTo>
                    <a:lnTo>
                      <a:pt x="26194" y="43656"/>
                    </a:ln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24419" y="954881"/>
                <a:ext cx="69850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43656">
                    <a:moveTo>
                      <a:pt x="0" y="17462"/>
                    </a:moveTo>
                    <a:lnTo>
                      <a:pt x="26194" y="43656"/>
                    </a:ln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355387" y="771525"/>
                <a:ext cx="157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9525">
                    <a:moveTo>
                      <a:pt x="0" y="0"/>
                    </a:moveTo>
                    <a:lnTo>
                      <a:pt x="157162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355387" y="876300"/>
                <a:ext cx="157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9525">
                    <a:moveTo>
                      <a:pt x="0" y="0"/>
                    </a:moveTo>
                    <a:lnTo>
                      <a:pt x="157162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355387" y="981074"/>
                <a:ext cx="157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9525">
                    <a:moveTo>
                      <a:pt x="0" y="0"/>
                    </a:moveTo>
                    <a:lnTo>
                      <a:pt x="157162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11" name="Line 11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9600" y="1657350"/>
            <a:ext cx="1828800" cy="1508284"/>
            <a:chOff x="609600" y="1657350"/>
            <a:chExt cx="1828800" cy="1508284"/>
          </a:xfrm>
        </p:grpSpPr>
        <p:sp>
          <p:nvSpPr>
            <p:cNvPr id="13" name="Rectangle 13"/>
            <p:cNvSpPr/>
            <p:nvPr/>
          </p:nvSpPr>
          <p:spPr>
            <a:xfrm>
              <a:off x="609600" y="1657350"/>
              <a:ext cx="1828800" cy="1143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18516" y="18554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2327" y="23336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离线测试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4499" y="2945606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契约/单测全绿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895600" y="1657350"/>
            <a:ext cx="1828800" cy="1508284"/>
            <a:chOff x="2895600" y="1657350"/>
            <a:chExt cx="1828800" cy="1508284"/>
          </a:xfrm>
        </p:grpSpPr>
        <p:sp>
          <p:nvSpPr>
            <p:cNvPr id="18" name="Rectangle 18"/>
            <p:cNvSpPr/>
            <p:nvPr/>
          </p:nvSpPr>
          <p:spPr>
            <a:xfrm>
              <a:off x="2895600" y="1657350"/>
              <a:ext cx="1828800" cy="1143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04516" y="18554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78327" y="23336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真库集成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76575" y="29456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连真实数据库跑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81600" y="1657350"/>
            <a:ext cx="1828800" cy="1508284"/>
            <a:chOff x="5181600" y="1657350"/>
            <a:chExt cx="1828800" cy="1508284"/>
          </a:xfrm>
        </p:grpSpPr>
        <p:sp>
          <p:nvSpPr>
            <p:cNvPr id="23" name="Rectangle 23"/>
            <p:cNvSpPr/>
            <p:nvPr/>
          </p:nvSpPr>
          <p:spPr>
            <a:xfrm>
              <a:off x="5181600" y="1657350"/>
              <a:ext cx="1828800" cy="1143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90516" y="18554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4327" y="23336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前端门禁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34640" y="2945606"/>
              <a:ext cx="1722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self-check + typecheck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467600" y="1657350"/>
            <a:ext cx="1828800" cy="1508284"/>
            <a:chOff x="7467600" y="1657350"/>
            <a:chExt cx="1828800" cy="1508284"/>
          </a:xfrm>
        </p:grpSpPr>
        <p:sp>
          <p:nvSpPr>
            <p:cNvPr id="28" name="Rectangle 28"/>
            <p:cNvSpPr/>
            <p:nvPr/>
          </p:nvSpPr>
          <p:spPr>
            <a:xfrm>
              <a:off x="7467600" y="1657350"/>
              <a:ext cx="1828800" cy="1143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76516" y="18554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44314" y="23336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浏览器实测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03205" y="2945606"/>
              <a:ext cx="1357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真实 SSO 账号操作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53600" y="1657350"/>
            <a:ext cx="1828800" cy="1508284"/>
            <a:chOff x="9753600" y="1657350"/>
            <a:chExt cx="1828800" cy="1508284"/>
          </a:xfrm>
        </p:grpSpPr>
        <p:sp>
          <p:nvSpPr>
            <p:cNvPr id="33" name="Rectangle 33"/>
            <p:cNvSpPr/>
            <p:nvPr/>
          </p:nvSpPr>
          <p:spPr>
            <a:xfrm>
              <a:off x="9753600" y="1657350"/>
              <a:ext cx="1828800" cy="1143000"/>
            </a:xfrm>
            <a:prstGeom prst="rect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562516" y="18554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56317" y="2333625"/>
              <a:ext cx="10233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JDBC 核行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34575" y="29456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落库的行才算数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457450" y="2228850"/>
            <a:ext cx="7239000" cy="1"/>
            <a:chOff x="2457450" y="2228850"/>
            <a:chExt cx="7239000" cy="1"/>
          </a:xfrm>
        </p:grpSpPr>
        <p:sp>
          <p:nvSpPr>
            <p:cNvPr id="38" name="Line 38"/>
            <p:cNvSpPr/>
            <p:nvPr/>
          </p:nvSpPr>
          <p:spPr>
            <a:xfrm>
              <a:off x="2457450" y="2228850"/>
              <a:ext cx="381000" cy="1"/>
            </a:xfrm>
            <a:prstGeom prst="line">
              <a:avLst/>
            </a:prstGeom>
            <a:noFill/>
            <a:ln w="28575">
              <a:solidFill>
                <a:schemeClr val="accent4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>
              <a:off x="4743450" y="2228850"/>
              <a:ext cx="381000" cy="1"/>
            </a:xfrm>
            <a:prstGeom prst="line">
              <a:avLst/>
            </a:prstGeom>
            <a:noFill/>
            <a:ln w="28575">
              <a:solidFill>
                <a:schemeClr val="accent4"/>
              </a:solidFill>
              <a:tailEnd type="triangle" w="lg" len="lg"/>
            </a:ln>
          </p:spPr>
        </p:sp>
        <p:sp>
          <p:nvSpPr>
            <p:cNvPr id="40" name="Line 40"/>
            <p:cNvSpPr/>
            <p:nvPr/>
          </p:nvSpPr>
          <p:spPr>
            <a:xfrm>
              <a:off x="7029450" y="2228850"/>
              <a:ext cx="381000" cy="1"/>
            </a:xfrm>
            <a:prstGeom prst="line">
              <a:avLst/>
            </a:prstGeom>
            <a:noFill/>
            <a:ln w="28575">
              <a:solidFill>
                <a:schemeClr val="accent4"/>
              </a:solidFill>
              <a:tailEnd type="triangle" w="lg" len="lg"/>
            </a:ln>
          </p:spPr>
        </p:sp>
        <p:sp>
          <p:nvSpPr>
            <p:cNvPr id="41" name="Line 41"/>
            <p:cNvSpPr/>
            <p:nvPr/>
          </p:nvSpPr>
          <p:spPr>
            <a:xfrm>
              <a:off x="9315450" y="2228850"/>
              <a:ext cx="381000" cy="1"/>
            </a:xfrm>
            <a:prstGeom prst="line">
              <a:avLst/>
            </a:prstGeom>
            <a:noFill/>
            <a:ln w="28575">
              <a:solidFill>
                <a:schemeClr val="accent4"/>
              </a:solidFill>
              <a:tailEnd type="triangle" w="lg" len="lg"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826579" y="3648075"/>
            <a:ext cx="10538841" cy="293370"/>
            <a:chOff x="826579" y="3648075"/>
            <a:chExt cx="10538841" cy="293370"/>
          </a:xfrm>
        </p:grpSpPr>
        <p:sp>
          <p:nvSpPr>
            <p:cNvPr id="43" name="TextBox 43"/>
            <p:cNvSpPr txBox="1"/>
            <p:nvPr/>
          </p:nvSpPr>
          <p:spPr>
            <a:xfrm>
              <a:off x="826579" y="3648075"/>
              <a:ext cx="105388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第五关核什么:create_by 是否真实 UAA id · 快照字段是否来自本地档案 · 关联表行数 · 置 null 的列是否真的 NULL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4267200"/>
            <a:ext cx="10972800" cy="1750695"/>
            <a:chOff x="609600" y="4267200"/>
            <a:chExt cx="10972800" cy="1750695"/>
          </a:xfrm>
        </p:grpSpPr>
        <p:sp>
          <p:nvSpPr>
            <p:cNvPr id="45" name="Line 45"/>
            <p:cNvSpPr/>
            <p:nvPr/>
          </p:nvSpPr>
          <p:spPr>
            <a:xfrm>
              <a:off x="609600" y="4267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783748" y="4667250"/>
              <a:ext cx="662450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越好看的页面越假,越空的页面越真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29364" y="5362575"/>
              <a:ext cx="71332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已切真页面只有联调写入的两三行真数据,mock 页面却有几十条精心编造的记录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342132" y="5724525"/>
              <a:ext cx="5507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这个"数据感受悖论"要主动说破——进度盘点表本身就是交付物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593598" y="669608"/>
            <a:ext cx="10988802" cy="616077"/>
            <a:chOff x="593598" y="669608"/>
            <a:chExt cx="109888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49298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这套打法已写成七篇路书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11215687" y="743450"/>
              <a:ext cx="323850" cy="255087"/>
              <a:chOff x="11215687" y="743450"/>
              <a:chExt cx="323850" cy="25508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215687" y="970463"/>
                <a:ext cx="314324" cy="2807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28074">
                    <a:moveTo>
                      <a:pt x="0" y="28074"/>
                    </a:moveTo>
                    <a:cubicBezTo>
                      <a:pt x="48626" y="0"/>
                      <a:pt x="108536" y="0"/>
                      <a:pt x="157162" y="28074"/>
                    </a:cubicBezTo>
                    <a:cubicBezTo>
                      <a:pt x="205788" y="0"/>
                      <a:pt x="265698" y="0"/>
                      <a:pt x="314324" y="28074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215687" y="743450"/>
                <a:ext cx="314324" cy="2807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28074">
                    <a:moveTo>
                      <a:pt x="0" y="28074"/>
                    </a:moveTo>
                    <a:cubicBezTo>
                      <a:pt x="48626" y="0"/>
                      <a:pt x="108536" y="0"/>
                      <a:pt x="157162" y="28074"/>
                    </a:cubicBezTo>
                    <a:cubicBezTo>
                      <a:pt x="205788" y="0"/>
                      <a:pt x="265698" y="0"/>
                      <a:pt x="314324" y="28074"/>
                    </a:cubicBez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15687" y="771525"/>
                <a:ext cx="9525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7012">
                    <a:moveTo>
                      <a:pt x="0" y="0"/>
                    </a:moveTo>
                    <a:lnTo>
                      <a:pt x="0" y="227012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372850" y="771525"/>
                <a:ext cx="9525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7012">
                    <a:moveTo>
                      <a:pt x="0" y="0"/>
                    </a:moveTo>
                    <a:lnTo>
                      <a:pt x="0" y="227012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530012" y="771525"/>
                <a:ext cx="9525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7012">
                    <a:moveTo>
                      <a:pt x="0" y="0"/>
                    </a:moveTo>
                    <a:lnTo>
                      <a:pt x="0" y="227012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10" name="Line 10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98932" y="1564005"/>
            <a:ext cx="10989945" cy="426720"/>
            <a:chOff x="598932" y="1564005"/>
            <a:chExt cx="10989945" cy="426720"/>
          </a:xfrm>
        </p:grpSpPr>
        <p:sp>
          <p:nvSpPr>
            <p:cNvPr id="12" name="TextBox 12"/>
            <p:cNvSpPr txBox="1"/>
            <p:nvPr/>
          </p:nvSpPr>
          <p:spPr>
            <a:xfrm>
              <a:off x="598932" y="15640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6518" y="1612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开箱姿势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40761" y="1636871"/>
              <a:ext cx="30921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环境与骨架的"没有弯路版"操作指南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85701" y="165306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新人第一次用套件,照着做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1981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98932" y="2211705"/>
            <a:ext cx="10989945" cy="426720"/>
            <a:chOff x="598932" y="2211705"/>
            <a:chExt cx="10989945" cy="426720"/>
          </a:xfrm>
        </p:grpSpPr>
        <p:sp>
          <p:nvSpPr>
            <p:cNvPr id="18" name="TextBox 18"/>
            <p:cNvSpPr txBox="1"/>
            <p:nvPr/>
          </p:nvSpPr>
          <p:spPr>
            <a:xfrm>
              <a:off x="598932" y="22117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6518" y="22602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方法论总纲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0761" y="2284571"/>
              <a:ext cx="36369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黑盒纪律、门禁体系、0→1 主线与红线清单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0328" y="2300764"/>
              <a:ext cx="1658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开工前通读,树立总纲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262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598932" y="2859405"/>
            <a:ext cx="10989945" cy="426720"/>
            <a:chOff x="598932" y="2859405"/>
            <a:chExt cx="10989945" cy="426720"/>
          </a:xfrm>
        </p:grpSpPr>
        <p:sp>
          <p:nvSpPr>
            <p:cNvPr id="24" name="TextBox 24"/>
            <p:cNvSpPr txBox="1"/>
            <p:nvPr/>
          </p:nvSpPr>
          <p:spPr>
            <a:xfrm>
              <a:off x="598932" y="28594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6518" y="29079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需求评审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40761" y="2932271"/>
              <a:ext cx="39632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多角色 PRD 评审 → 决策纪要 → 产品文档基线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28489" y="2948464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拿到 PRD、开工前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3276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598932" y="3507105"/>
            <a:ext cx="10989945" cy="426720"/>
            <a:chOff x="598932" y="3507105"/>
            <a:chExt cx="10989945" cy="426720"/>
          </a:xfrm>
        </p:grpSpPr>
        <p:sp>
          <p:nvSpPr>
            <p:cNvPr id="30" name="TextBox 30"/>
            <p:cNvSpPr txBox="1"/>
            <p:nvPr/>
          </p:nvSpPr>
          <p:spPr>
            <a:xfrm>
              <a:off x="598932" y="35071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6518" y="35556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项目配置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40761" y="3579971"/>
              <a:ext cx="42762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CLAUDE / AGENTS / MEMORY 三件套打造与评审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42041" y="35961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项目初始化时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3924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598932" y="4154805"/>
            <a:ext cx="10989945" cy="426720"/>
            <a:chOff x="598932" y="4154805"/>
            <a:chExt cx="10989945" cy="426720"/>
          </a:xfrm>
        </p:grpSpPr>
        <p:sp>
          <p:nvSpPr>
            <p:cNvPr id="36" name="TextBox 36"/>
            <p:cNvSpPr txBox="1"/>
            <p:nvPr/>
          </p:nvSpPr>
          <p:spPr>
            <a:xfrm>
              <a:off x="598932" y="41548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6518" y="42033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验证纠偏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40761" y="4227671"/>
              <a:ext cx="38568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黑盒排障(最小复现)、还原度评审、环境自愈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07869" y="424386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"看起来对了"的时候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09600" y="4572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98932" y="4802505"/>
            <a:ext cx="10989945" cy="426720"/>
            <a:chOff x="598932" y="4802505"/>
            <a:chExt cx="10989945" cy="426720"/>
          </a:xfrm>
        </p:grpSpPr>
        <p:sp>
          <p:nvSpPr>
            <p:cNvPr id="42" name="TextBox 42"/>
            <p:cNvSpPr txBox="1"/>
            <p:nvPr/>
          </p:nvSpPr>
          <p:spPr>
            <a:xfrm>
              <a:off x="598932" y="48025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6518" y="4851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数据落地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40761" y="4875371"/>
              <a:ext cx="43060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契约收口扫雷 → 反编译定约定 → 建库 → 双角色评审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69728" y="48915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往数据层推进时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98932" y="5450205"/>
            <a:ext cx="10989945" cy="410718"/>
            <a:chOff x="598932" y="5450205"/>
            <a:chExt cx="10989945" cy="410718"/>
          </a:xfrm>
        </p:grpSpPr>
        <p:sp>
          <p:nvSpPr>
            <p:cNvPr id="48" name="TextBox 48"/>
            <p:cNvSpPr txBox="1"/>
            <p:nvPr/>
          </p:nvSpPr>
          <p:spPr>
            <a:xfrm>
              <a:off x="598932" y="54502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6518" y="5498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联调切真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40761" y="5523071"/>
              <a:ext cx="41626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竖切配方、横切地基、五关验收、mock 三层退场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25101" y="55392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接口开发与联调阶段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6076950"/>
            <a:ext cx="10972800" cy="455295"/>
            <a:chOff x="609600" y="6076950"/>
            <a:chExt cx="10972800" cy="455295"/>
          </a:xfrm>
        </p:grpSpPr>
        <p:sp>
          <p:nvSpPr>
            <p:cNvPr id="53" name="Line 53"/>
            <p:cNvSpPr/>
            <p:nvPr/>
          </p:nvSpPr>
          <p:spPr>
            <a:xfrm>
              <a:off x="609600" y="6076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357723" y="6238875"/>
              <a:ext cx="74765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推荐阅读顺序 = 编号顺序 = 实战时间线;另有《0-系列总览》一篇作导读与成果速览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93598" y="669608"/>
            <a:ext cx="10988802" cy="966787"/>
            <a:chOff x="593598" y="669608"/>
            <a:chExt cx="10988802" cy="96678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669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412748" y="669608"/>
              <a:ext cx="651047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给套件团队:四条来自实战的反馈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1215687" y="736600"/>
              <a:ext cx="314324" cy="296862"/>
              <a:chOff x="11215687" y="736600"/>
              <a:chExt cx="314324" cy="29686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11303000" y="823912"/>
                <a:ext cx="139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9525">
                    <a:moveTo>
                      <a:pt x="0" y="0"/>
                    </a:moveTo>
                    <a:lnTo>
                      <a:pt x="139700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1303000" y="893762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215687" y="736600"/>
                <a:ext cx="314324" cy="2968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296862">
                    <a:moveTo>
                      <a:pt x="261937" y="0"/>
                    </a:moveTo>
                    <a:cubicBezTo>
                      <a:pt x="290870" y="0"/>
                      <a:pt x="314324" y="23455"/>
                      <a:pt x="314324" y="52387"/>
                    </a:cubicBezTo>
                    <a:lnTo>
                      <a:pt x="314324" y="192087"/>
                    </a:lnTo>
                    <a:cubicBezTo>
                      <a:pt x="314324" y="221020"/>
                      <a:pt x="290870" y="244475"/>
                      <a:pt x="261937" y="244475"/>
                    </a:cubicBezTo>
                    <a:lnTo>
                      <a:pt x="174625" y="244475"/>
                    </a:lnTo>
                    <a:lnTo>
                      <a:pt x="87312" y="296862"/>
                    </a:lnTo>
                    <a:lnTo>
                      <a:pt x="87312" y="244475"/>
                    </a:lnTo>
                    <a:lnTo>
                      <a:pt x="52387" y="244475"/>
                    </a:lnTo>
                    <a:cubicBezTo>
                      <a:pt x="23455" y="244475"/>
                      <a:pt x="0" y="221020"/>
                      <a:pt x="0" y="192087"/>
                    </a:cubicBezTo>
                    <a:lnTo>
                      <a:pt x="0" y="52387"/>
                    </a:lnTo>
                    <a:cubicBezTo>
                      <a:pt x="0" y="23455"/>
                      <a:pt x="23455" y="0"/>
                      <a:pt x="52387" y="0"/>
                    </a:cubicBezTo>
                    <a:lnTo>
                      <a:pt x="261937" y="0"/>
                    </a:lnTo>
                  </a:path>
                </a:pathLst>
              </a:custGeom>
              <a:noFill/>
              <a:ln w="34925">
                <a:solidFill>
                  <a:schemeClr val="accent3"/>
                </a:solidFill>
              </a:ln>
            </p:spPr>
          </p:sp>
        </p:grpSp>
        <p:sp>
          <p:nvSpPr>
            <p:cNvPr id="8" name="Line 8"/>
            <p:cNvSpPr/>
            <p:nvPr/>
          </p:nvSpPr>
          <p:spPr>
            <a:xfrm>
              <a:off x="609600" y="1200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980" y="1343025"/>
              <a:ext cx="4387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实验的副产品,同样有价值——每条都有现场与建议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752600"/>
            <a:ext cx="5353050" cy="2209800"/>
            <a:chOff x="609600" y="1752600"/>
            <a:chExt cx="5353050" cy="2209800"/>
          </a:xfrm>
        </p:grpSpPr>
        <p:sp>
          <p:nvSpPr>
            <p:cNvPr id="11" name="Rectangle 11"/>
            <p:cNvSpPr/>
            <p:nvPr/>
          </p:nvSpPr>
          <p:spPr>
            <a:xfrm>
              <a:off x="609600" y="1752600"/>
              <a:ext cx="5353050" cy="2209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1752600"/>
              <a:ext cx="53530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9818" y="1993582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SSO 联调卡点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342" y="2368868"/>
              <a:ext cx="3845624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骨架阶段 localhost SSO 无法一次跑通:两套登录入口、回调/跨站 cookie 环节卡住,且 skill 有跳步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342" y="32451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1892" y="3245168"/>
              <a:ext cx="3203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加强该步约束与引导,明示本地调试路径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29350" y="1752600"/>
            <a:ext cx="5353050" cy="2209800"/>
            <a:chOff x="6229350" y="1752600"/>
            <a:chExt cx="5353050" cy="2209800"/>
          </a:xfrm>
        </p:grpSpPr>
        <p:sp>
          <p:nvSpPr>
            <p:cNvPr id="18" name="Rectangle 18"/>
            <p:cNvSpPr/>
            <p:nvPr/>
          </p:nvSpPr>
          <p:spPr>
            <a:xfrm>
              <a:off x="6229350" y="1752600"/>
              <a:ext cx="5353050" cy="2209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29350" y="1752600"/>
              <a:ext cx="53530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11073319" y="1976981"/>
              <a:ext cx="256151" cy="220068"/>
              <a:chOff x="11073319" y="1976981"/>
              <a:chExt cx="256151" cy="22006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1201400" y="20574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C6493D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1073319" y="197698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rgbClr val="C6493D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201400" y="21462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C6493D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449568" y="1993582"/>
              <a:ext cx="18476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插件注册表脆弱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1092" y="2368868"/>
              <a:ext cx="365702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批量注册脚本路径拼接 bug 写坏 installPath,已装 skill 集体"失踪";注册表仅进程启动时读取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51092" y="32451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41642" y="3245168"/>
              <a:ext cx="2857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修复拼接;文档写明"必须完全重启"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4229100"/>
            <a:ext cx="5353050" cy="2209800"/>
            <a:chOff x="609600" y="4229100"/>
            <a:chExt cx="5353050" cy="2209800"/>
          </a:xfrm>
        </p:grpSpPr>
        <p:sp>
          <p:nvSpPr>
            <p:cNvPr id="29" name="Rectangle 29"/>
            <p:cNvSpPr/>
            <p:nvPr/>
          </p:nvSpPr>
          <p:spPr>
            <a:xfrm>
              <a:off x="609600" y="4229100"/>
              <a:ext cx="5353050" cy="2209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9600" y="4229100"/>
              <a:ext cx="53530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9818" y="447008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starter 文档与字节码不符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342" y="4845368"/>
              <a:ext cx="3708463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文档称配置含乐观锁,实际字节码只有分页拦截器——运行时证实 @Version 不生效,业务侧自补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342" y="57216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21892" y="5721668"/>
              <a:ext cx="3221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文档与产物对齐,或明示"需业务侧启用"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29350" y="4229100"/>
            <a:ext cx="5353050" cy="2209800"/>
            <a:chOff x="6229350" y="4229100"/>
            <a:chExt cx="5353050" cy="2209800"/>
          </a:xfrm>
        </p:grpSpPr>
        <p:sp>
          <p:nvSpPr>
            <p:cNvPr id="36" name="Rectangle 36"/>
            <p:cNvSpPr/>
            <p:nvPr/>
          </p:nvSpPr>
          <p:spPr>
            <a:xfrm>
              <a:off x="6229350" y="4229100"/>
              <a:ext cx="5353050" cy="22098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29350" y="4229100"/>
              <a:ext cx="53530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49568" y="4470082"/>
              <a:ext cx="25473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脚手架残留与模板缺陷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51092" y="4845368"/>
              <a:ext cx="423995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clean-demo 后仍有演示页触发 self-check FAIL;</a:t>
              </a: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adapter 模板 total 类型在 Long→String 序列化下必坏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51092" y="57216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41642" y="5721668"/>
              <a:ext cx="2676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清理残留;模板层修正 total 收敛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4215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171450"/>
            <a:chOff x="0" y="0"/>
            <a:chExt cx="12192000" cy="1714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114300"/>
              <a:ext cx="60960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2440861" y="1929765"/>
            <a:ext cx="7310277" cy="2131314"/>
            <a:chOff x="2440861" y="1929765"/>
            <a:chExt cx="7310277" cy="2131314"/>
          </a:xfrm>
        </p:grpSpPr>
        <p:sp>
          <p:nvSpPr>
            <p:cNvPr id="5" name="TextBox 5"/>
            <p:cNvSpPr txBox="1"/>
            <p:nvPr/>
          </p:nvSpPr>
          <p:spPr>
            <a:xfrm>
              <a:off x="2440861" y="1929765"/>
              <a:ext cx="731027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一般开发者 + 公司 skill + 正确姿势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2028" y="2466975"/>
              <a:ext cx="38794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55721" y="3415665"/>
              <a:ext cx="66805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一条人掌方向盘的 0→1 高速公路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074319" y="4607719"/>
            <a:ext cx="5438737" cy="327946"/>
            <a:chOff x="4074319" y="4607719"/>
            <a:chExt cx="5438737" cy="327946"/>
          </a:xfrm>
        </p:grpSpPr>
        <p:grpSp>
          <p:nvGrpSpPr>
            <p:cNvPr id="11" name="Group 11"/>
            <p:cNvGrpSpPr/>
            <p:nvPr/>
          </p:nvGrpSpPr>
          <p:grpSpPr>
            <a:xfrm>
              <a:off x="4074319" y="4607719"/>
              <a:ext cx="214312" cy="214312"/>
              <a:chOff x="4074319" y="4607719"/>
              <a:chExt cx="214312" cy="21431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4074319" y="46077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rgbClr val="2E7D3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4145756" y="4691062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2E7D3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4487418" y="4612958"/>
              <a:ext cx="50256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每一条红线都有截图为证,每一个结论都有门禁背书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5372100"/>
            <a:ext cx="10972800" cy="666750"/>
            <a:chOff x="609600" y="5372100"/>
            <a:chExt cx="10972800" cy="666750"/>
          </a:xfrm>
        </p:grpSpPr>
        <p:sp>
          <p:nvSpPr>
            <p:cNvPr id="14" name="Rectangle 14"/>
            <p:cNvSpPr/>
            <p:nvPr/>
          </p:nvSpPr>
          <p:spPr>
            <a:xfrm>
              <a:off x="609600" y="5372100"/>
              <a:ext cx="10972800" cy="66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195887" y="5591175"/>
              <a:ext cx="233113" cy="233113"/>
              <a:chOff x="3195887" y="5591175"/>
              <a:chExt cx="233113" cy="23311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200400" y="559117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28588"/>
                    </a:moveTo>
                    <a:cubicBezTo>
                      <a:pt x="52438" y="134819"/>
                      <a:pt x="93781" y="176162"/>
                      <a:pt x="100012" y="228600"/>
                    </a:cubicBezTo>
                    <a:cubicBezTo>
                      <a:pt x="125688" y="213798"/>
                      <a:pt x="141897" y="186783"/>
                      <a:pt x="142875" y="157162"/>
                    </a:cubicBezTo>
                    <a:cubicBezTo>
                      <a:pt x="191935" y="139904"/>
                      <a:pt x="225769" y="94793"/>
                      <a:pt x="228600" y="42862"/>
                    </a:cubicBezTo>
                    <a:cubicBezTo>
                      <a:pt x="228600" y="19190"/>
                      <a:pt x="209410" y="0"/>
                      <a:pt x="185738" y="0"/>
                    </a:cubicBezTo>
                    <a:cubicBezTo>
                      <a:pt x="133807" y="2831"/>
                      <a:pt x="88696" y="36665"/>
                      <a:pt x="71438" y="85725"/>
                    </a:cubicBezTo>
                    <a:cubicBezTo>
                      <a:pt x="41817" y="86703"/>
                      <a:pt x="14802" y="102912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195887" y="5734050"/>
                <a:ext cx="90238" cy="90238"/>
              </a:xfrm>
              <a:custGeom>
                <a:avLst/>
                <a:gdLst/>
                <a:ahLst/>
                <a:cxnLst/>
                <a:rect l="l" t="t" r="r" b="b"/>
                <a:pathLst>
                  <a:path w="90238" h="90238">
                    <a:moveTo>
                      <a:pt x="47375" y="0"/>
                    </a:moveTo>
                    <a:cubicBezTo>
                      <a:pt x="16956" y="17173"/>
                      <a:pt x="0" y="51086"/>
                      <a:pt x="4513" y="85725"/>
                    </a:cubicBezTo>
                    <a:cubicBezTo>
                      <a:pt x="39152" y="90238"/>
                      <a:pt x="73065" y="73281"/>
                      <a:pt x="90238" y="42862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343275" y="5648325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723894" y="5580698"/>
              <a:ext cx="66074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七篇路书已就位——下一个 0→1 项目,可用这套打法开工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421580" y="6611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i-0to1-share">
  <a:themeElements>
    <a:clrScheme name="ai-0to1-share">
      <a:dk1>
        <a:srgbClr val="1D2430"/>
      </a:dk1>
      <a:lt1>
        <a:srgbClr val="FFFFFF"/>
      </a:lt1>
      <a:dk2>
        <a:srgbClr val="1D2430"/>
      </a:dk2>
      <a:lt2>
        <a:srgbClr val="F5F7FA"/>
      </a:lt2>
      <a:accent1>
        <a:srgbClr val="0F3B66"/>
      </a:accent1>
      <a:accent2>
        <a:srgbClr val="E8A317"/>
      </a:accent2>
      <a:accent3>
        <a:srgbClr val="4A7BB5"/>
      </a:accent3>
      <a:accent4>
        <a:srgbClr val="D9E0E8"/>
      </a:accent4>
      <a:accent5>
        <a:srgbClr val="E3E9EF"/>
      </a:accent5>
      <a:accent6>
        <a:srgbClr val="5C6B7A"/>
      </a:accent6>
      <a:hlink>
        <a:srgbClr val="E8A317"/>
      </a:hlink>
      <a:folHlink>
        <a:srgbClr val="4A7BB5"/>
      </a:folHlink>
    </a:clrScheme>
    <a:fontScheme name="ai-0to1-share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0to1-sha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-0to1-share">
  <a:themeElements>
    <a:clrScheme name="ai-0to1-share">
      <a:dk1>
        <a:srgbClr val="1D2430"/>
      </a:dk1>
      <a:lt1>
        <a:srgbClr val="FFFFFF"/>
      </a:lt1>
      <a:dk2>
        <a:srgbClr val="1D2430"/>
      </a:dk2>
      <a:lt2>
        <a:srgbClr val="F5F7FA"/>
      </a:lt2>
      <a:accent1>
        <a:srgbClr val="0F3B66"/>
      </a:accent1>
      <a:accent2>
        <a:srgbClr val="E8A317"/>
      </a:accent2>
      <a:accent3>
        <a:srgbClr val="4A7BB5"/>
      </a:accent3>
      <a:accent4>
        <a:srgbClr val="D9E0E8"/>
      </a:accent4>
      <a:accent5>
        <a:srgbClr val="E3E9EF"/>
      </a:accent5>
      <a:accent6>
        <a:srgbClr val="5C6B7A"/>
      </a:accent6>
      <a:hlink>
        <a:srgbClr val="E8A317"/>
      </a:hlink>
      <a:folHlink>
        <a:srgbClr val="4A7BB5"/>
      </a:folHlink>
    </a:clrScheme>
    <a:fontScheme name="ai-0to1-share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-0to1-sha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2026-07-20T06:01:24Z</dcterms:created>
  <dcterms:modified xsi:type="dcterms:W3CDTF">2026-07-20T06:01:24Z</dcterms:modified>
  <cp:category/>
  <cp:contentStatus/>
</cp:coreProperties>
</file>